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73" r:id="rId5"/>
    <p:sldId id="282" r:id="rId6"/>
    <p:sldId id="281" r:id="rId7"/>
    <p:sldId id="272" r:id="rId8"/>
    <p:sldId id="260" r:id="rId9"/>
    <p:sldId id="274" r:id="rId10"/>
    <p:sldId id="261" r:id="rId11"/>
    <p:sldId id="278" r:id="rId12"/>
    <p:sldId id="279" r:id="rId13"/>
    <p:sldId id="280" r:id="rId14"/>
    <p:sldId id="262" r:id="rId15"/>
  </p:sldIdLst>
  <p:sldSz cx="9144000" cy="6858000" type="screen4x3"/>
  <p:notesSz cx="9144000" cy="6858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296"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675E46"/>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1" i="0">
                <a:solidFill>
                  <a:srgbClr val="2E2B1F"/>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675E46"/>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675E46"/>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860550" y="445134"/>
            <a:ext cx="5422900" cy="756919"/>
          </a:xfrm>
          <a:prstGeom prst="rect">
            <a:avLst/>
          </a:prstGeom>
        </p:spPr>
        <p:txBody>
          <a:bodyPr wrap="square" lIns="0" tIns="0" rIns="0" bIns="0">
            <a:spAutoFit/>
          </a:bodyPr>
          <a:lstStyle>
            <a:lvl1pPr>
              <a:defRPr sz="4800" b="0" i="0">
                <a:solidFill>
                  <a:srgbClr val="675E46"/>
                </a:solidFill>
                <a:latin typeface="Times New Roman"/>
                <a:cs typeface="Times New Roman"/>
              </a:defRPr>
            </a:lvl1pPr>
          </a:lstStyle>
          <a:p>
            <a:endParaRPr/>
          </a:p>
        </p:txBody>
      </p:sp>
      <p:sp>
        <p:nvSpPr>
          <p:cNvPr id="3" name="Holder 3"/>
          <p:cNvSpPr>
            <a:spLocks noGrp="1"/>
          </p:cNvSpPr>
          <p:nvPr>
            <p:ph type="body" idx="1"/>
          </p:nvPr>
        </p:nvSpPr>
        <p:spPr>
          <a:xfrm>
            <a:off x="330517" y="1618501"/>
            <a:ext cx="7722234" cy="1687195"/>
          </a:xfrm>
          <a:prstGeom prst="rect">
            <a:avLst/>
          </a:prstGeom>
        </p:spPr>
        <p:txBody>
          <a:bodyPr wrap="square" lIns="0" tIns="0" rIns="0" bIns="0">
            <a:spAutoFit/>
          </a:bodyPr>
          <a:lstStyle>
            <a:lvl1pPr>
              <a:defRPr sz="3200" b="1" i="0">
                <a:solidFill>
                  <a:srgbClr val="2E2B1F"/>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13" name="CuadroTexto 12"/>
          <p:cNvSpPr txBox="1"/>
          <p:nvPr/>
        </p:nvSpPr>
        <p:spPr>
          <a:xfrm>
            <a:off x="1371600" y="990600"/>
            <a:ext cx="6096000" cy="2554545"/>
          </a:xfrm>
          <a:prstGeom prst="rect">
            <a:avLst/>
          </a:prstGeom>
          <a:noFill/>
        </p:spPr>
        <p:txBody>
          <a:bodyPr wrap="square" rtlCol="0">
            <a:spAutoFit/>
          </a:bodyPr>
          <a:lstStyle/>
          <a:p>
            <a:r>
              <a:rPr lang="es-CO" sz="8000" dirty="0"/>
              <a:t>MANUAL DE USUARIOS.</a:t>
            </a:r>
          </a:p>
        </p:txBody>
      </p:sp>
      <p:pic>
        <p:nvPicPr>
          <p:cNvPr id="14" name="Imagen 13">
            <a:extLst>
              <a:ext uri="{FF2B5EF4-FFF2-40B4-BE49-F238E27FC236}">
                <a16:creationId xmlns:a16="http://schemas.microsoft.com/office/drawing/2014/main" id="{4770E21A-DD47-4788-A0A8-22B5C4AA21B1}"/>
              </a:ext>
            </a:extLst>
          </p:cNvPr>
          <p:cNvPicPr>
            <a:picLocks noChangeAspect="1"/>
          </p:cNvPicPr>
          <p:nvPr/>
        </p:nvPicPr>
        <p:blipFill>
          <a:blip r:embed="rId3"/>
          <a:stretch>
            <a:fillRect/>
          </a:stretch>
        </p:blipFill>
        <p:spPr>
          <a:xfrm>
            <a:off x="4572000" y="4944237"/>
            <a:ext cx="3791237" cy="8850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in)">
                                      <p:cBhvr>
                                        <p:cTn id="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1369949" y="445134"/>
            <a:ext cx="5808345" cy="756920"/>
          </a:xfrm>
          <a:prstGeom prst="rect">
            <a:avLst/>
          </a:prstGeom>
        </p:spPr>
        <p:txBody>
          <a:bodyPr vert="horz" wrap="square" lIns="0" tIns="12700" rIns="0" bIns="0" rtlCol="0">
            <a:spAutoFit/>
          </a:bodyPr>
          <a:lstStyle/>
          <a:p>
            <a:pPr marL="12700">
              <a:lnSpc>
                <a:spcPct val="100000"/>
              </a:lnSpc>
              <a:spcBef>
                <a:spcPts val="100"/>
              </a:spcBef>
            </a:pPr>
            <a:r>
              <a:rPr spc="-850" dirty="0"/>
              <a:t>M</a:t>
            </a:r>
            <a:r>
              <a:rPr spc="65" dirty="0"/>
              <a:t>A</a:t>
            </a:r>
            <a:r>
              <a:rPr spc="-690" dirty="0"/>
              <a:t>N</a:t>
            </a:r>
            <a:r>
              <a:rPr spc="-650" dirty="0"/>
              <a:t>U</a:t>
            </a:r>
            <a:r>
              <a:rPr spc="65" dirty="0"/>
              <a:t>A</a:t>
            </a:r>
            <a:r>
              <a:rPr spc="-305" dirty="0"/>
              <a:t>L</a:t>
            </a:r>
            <a:r>
              <a:rPr spc="-210" dirty="0"/>
              <a:t> </a:t>
            </a:r>
            <a:r>
              <a:rPr spc="-675" dirty="0"/>
              <a:t>D</a:t>
            </a:r>
            <a:r>
              <a:rPr spc="50" dirty="0"/>
              <a:t>E</a:t>
            </a:r>
            <a:r>
              <a:rPr spc="-204" dirty="0"/>
              <a:t> </a:t>
            </a:r>
            <a:r>
              <a:rPr spc="-650" dirty="0"/>
              <a:t>U</a:t>
            </a:r>
            <a:r>
              <a:rPr spc="-114" dirty="0"/>
              <a:t>S</a:t>
            </a:r>
            <a:r>
              <a:rPr spc="-650" dirty="0"/>
              <a:t>U</a:t>
            </a:r>
            <a:r>
              <a:rPr spc="65" dirty="0"/>
              <a:t>A</a:t>
            </a:r>
            <a:r>
              <a:rPr spc="-265" dirty="0"/>
              <a:t>R</a:t>
            </a:r>
            <a:r>
              <a:rPr spc="-245" dirty="0"/>
              <a:t>I</a:t>
            </a:r>
            <a:r>
              <a:rPr spc="-475" dirty="0"/>
              <a:t>O</a:t>
            </a:r>
          </a:p>
        </p:txBody>
      </p:sp>
      <p:sp>
        <p:nvSpPr>
          <p:cNvPr id="7" name="object 7"/>
          <p:cNvSpPr txBox="1"/>
          <p:nvPr/>
        </p:nvSpPr>
        <p:spPr>
          <a:xfrm>
            <a:off x="762634" y="1655076"/>
            <a:ext cx="6986905" cy="3354765"/>
          </a:xfrm>
          <a:prstGeom prst="rect">
            <a:avLst/>
          </a:prstGeom>
        </p:spPr>
        <p:txBody>
          <a:bodyPr vert="horz" wrap="square" lIns="0" tIns="121920" rIns="0" bIns="0" rtlCol="0">
            <a:spAutoFit/>
          </a:bodyPr>
          <a:lstStyle/>
          <a:p>
            <a:pPr marL="127000">
              <a:lnSpc>
                <a:spcPct val="100000"/>
              </a:lnSpc>
              <a:spcBef>
                <a:spcPts val="960"/>
              </a:spcBef>
            </a:pPr>
            <a:r>
              <a:rPr sz="3600" b="1" spc="-5" dirty="0">
                <a:solidFill>
                  <a:srgbClr val="2E2B1F"/>
                </a:solidFill>
                <a:latin typeface="Calibri"/>
                <a:cs typeface="Calibri"/>
              </a:rPr>
              <a:t>Debe</a:t>
            </a:r>
            <a:r>
              <a:rPr sz="3600" b="1" spc="-15" dirty="0">
                <a:solidFill>
                  <a:srgbClr val="2E2B1F"/>
                </a:solidFill>
                <a:latin typeface="Calibri"/>
                <a:cs typeface="Calibri"/>
              </a:rPr>
              <a:t> contener:</a:t>
            </a:r>
            <a:endParaRPr sz="3600" dirty="0">
              <a:latin typeface="Calibri"/>
              <a:cs typeface="Calibri"/>
            </a:endParaRPr>
          </a:p>
          <a:p>
            <a:pPr marL="584200" indent="-571500">
              <a:lnSpc>
                <a:spcPct val="100000"/>
              </a:lnSpc>
              <a:spcBef>
                <a:spcPts val="860"/>
              </a:spcBef>
              <a:buClr>
                <a:srgbClr val="A9A47B"/>
              </a:buClr>
              <a:buFont typeface="Arial MT"/>
              <a:buChar char="•"/>
              <a:tabLst>
                <a:tab pos="583565" algn="l"/>
                <a:tab pos="584200" algn="l"/>
              </a:tabLst>
            </a:pPr>
            <a:r>
              <a:rPr sz="3600" spc="-10" dirty="0">
                <a:solidFill>
                  <a:srgbClr val="2E2B1F"/>
                </a:solidFill>
                <a:latin typeface="Calibri"/>
                <a:cs typeface="Calibri"/>
              </a:rPr>
              <a:t>Introducción.</a:t>
            </a:r>
            <a:r>
              <a:rPr sz="3600" dirty="0">
                <a:latin typeface="Calibri"/>
                <a:cs typeface="Calibri"/>
              </a:rPr>
              <a:t> </a:t>
            </a:r>
            <a:endParaRPr lang="es-CO" sz="3600" dirty="0">
              <a:latin typeface="Calibri"/>
              <a:cs typeface="Calibri"/>
            </a:endParaRPr>
          </a:p>
          <a:p>
            <a:pPr marL="584200" indent="-571500">
              <a:lnSpc>
                <a:spcPct val="100000"/>
              </a:lnSpc>
              <a:spcBef>
                <a:spcPts val="860"/>
              </a:spcBef>
              <a:buClr>
                <a:srgbClr val="A9A47B"/>
              </a:buClr>
              <a:buFont typeface="Arial MT"/>
              <a:buChar char="•"/>
              <a:tabLst>
                <a:tab pos="583565" algn="l"/>
                <a:tab pos="584200" algn="l"/>
              </a:tabLst>
            </a:pPr>
            <a:r>
              <a:rPr lang="es-CO" sz="3600" dirty="0"/>
              <a:t>Objetivos</a:t>
            </a:r>
            <a:r>
              <a:rPr sz="3600" spc="-5" dirty="0">
                <a:solidFill>
                  <a:srgbClr val="2E2B1F"/>
                </a:solidFill>
                <a:latin typeface="Calibri"/>
                <a:cs typeface="Calibri"/>
              </a:rPr>
              <a:t>.</a:t>
            </a:r>
            <a:endParaRPr sz="3600" dirty="0">
              <a:latin typeface="Calibri"/>
              <a:cs typeface="Calibri"/>
            </a:endParaRPr>
          </a:p>
          <a:p>
            <a:pPr marL="584200" indent="-571500">
              <a:lnSpc>
                <a:spcPct val="100000"/>
              </a:lnSpc>
              <a:spcBef>
                <a:spcPts val="860"/>
              </a:spcBef>
              <a:buClr>
                <a:srgbClr val="A9A47B"/>
              </a:buClr>
              <a:buFont typeface="Arial MT"/>
              <a:buChar char="•"/>
              <a:tabLst>
                <a:tab pos="583565" algn="l"/>
                <a:tab pos="584200" algn="l"/>
              </a:tabLst>
            </a:pPr>
            <a:r>
              <a:rPr lang="es-CO" sz="3600" spc="-5" dirty="0">
                <a:solidFill>
                  <a:srgbClr val="2E2B1F"/>
                </a:solidFill>
                <a:latin typeface="Calibri"/>
                <a:cs typeface="Calibri"/>
              </a:rPr>
              <a:t>Guía se uso</a:t>
            </a:r>
            <a:r>
              <a:rPr sz="3600" spc="-10" dirty="0">
                <a:solidFill>
                  <a:srgbClr val="2E2B1F"/>
                </a:solidFill>
                <a:latin typeface="Calibri"/>
                <a:cs typeface="Calibri"/>
              </a:rPr>
              <a:t>.</a:t>
            </a:r>
            <a:endParaRPr sz="3600" dirty="0">
              <a:latin typeface="Calibri"/>
              <a:cs typeface="Calibri"/>
            </a:endParaRPr>
          </a:p>
          <a:p>
            <a:pPr marL="584200" marR="946150" indent="-571500">
              <a:spcBef>
                <a:spcPts val="885"/>
              </a:spcBef>
              <a:buClr>
                <a:srgbClr val="A9A47B"/>
              </a:buClr>
              <a:buFont typeface="Arial MT"/>
              <a:buChar char="•"/>
              <a:tabLst>
                <a:tab pos="583565" algn="l"/>
                <a:tab pos="584200" algn="l"/>
              </a:tabLst>
            </a:pPr>
            <a:r>
              <a:rPr lang="es-CO" sz="3600" dirty="0"/>
              <a:t>Resultados Esperados</a:t>
            </a:r>
            <a:r>
              <a:rPr sz="3600" spc="-15" dirty="0">
                <a:solidFill>
                  <a:srgbClr val="2E2B1F"/>
                </a:solidFill>
                <a:latin typeface="Calibri"/>
                <a:cs typeface="Calibri"/>
              </a:rPr>
              <a:t>.</a:t>
            </a:r>
            <a:endParaRPr sz="3600" dirty="0">
              <a:latin typeface="Calibri"/>
              <a:cs typeface="Calibri"/>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536257" y="445134"/>
            <a:ext cx="5808345" cy="756920"/>
          </a:xfrm>
          <a:prstGeom prst="rect">
            <a:avLst/>
          </a:prstGeom>
        </p:spPr>
        <p:txBody>
          <a:bodyPr vert="horz" wrap="square" lIns="0" tIns="12700" rIns="0" bIns="0" rtlCol="0">
            <a:spAutoFit/>
          </a:bodyPr>
          <a:lstStyle/>
          <a:p>
            <a:pPr marL="12700">
              <a:lnSpc>
                <a:spcPct val="100000"/>
              </a:lnSpc>
              <a:spcBef>
                <a:spcPts val="100"/>
              </a:spcBef>
            </a:pPr>
            <a:r>
              <a:rPr spc="-850" dirty="0"/>
              <a:t>M</a:t>
            </a:r>
            <a:r>
              <a:rPr spc="65" dirty="0"/>
              <a:t>A</a:t>
            </a:r>
            <a:r>
              <a:rPr spc="-690" dirty="0"/>
              <a:t>N</a:t>
            </a:r>
            <a:r>
              <a:rPr spc="-650" dirty="0"/>
              <a:t>U</a:t>
            </a:r>
            <a:r>
              <a:rPr spc="65" dirty="0"/>
              <a:t>A</a:t>
            </a:r>
            <a:r>
              <a:rPr spc="-305" dirty="0"/>
              <a:t>L</a:t>
            </a:r>
            <a:r>
              <a:rPr spc="-210" dirty="0"/>
              <a:t> </a:t>
            </a:r>
            <a:r>
              <a:rPr spc="-675" dirty="0"/>
              <a:t>D</a:t>
            </a:r>
            <a:r>
              <a:rPr spc="50" dirty="0"/>
              <a:t>E</a:t>
            </a:r>
            <a:r>
              <a:rPr spc="-204" dirty="0"/>
              <a:t> </a:t>
            </a:r>
            <a:r>
              <a:rPr spc="-650" dirty="0"/>
              <a:t>U</a:t>
            </a:r>
            <a:r>
              <a:rPr spc="-114" dirty="0"/>
              <a:t>S</a:t>
            </a:r>
            <a:r>
              <a:rPr spc="-650" dirty="0"/>
              <a:t>U</a:t>
            </a:r>
            <a:r>
              <a:rPr spc="65" dirty="0"/>
              <a:t>A</a:t>
            </a:r>
            <a:r>
              <a:rPr spc="-265" dirty="0"/>
              <a:t>R</a:t>
            </a:r>
            <a:r>
              <a:rPr spc="-245" dirty="0"/>
              <a:t>I</a:t>
            </a:r>
            <a:r>
              <a:rPr spc="-475" dirty="0"/>
              <a:t>O</a:t>
            </a:r>
          </a:p>
        </p:txBody>
      </p:sp>
      <p:sp>
        <p:nvSpPr>
          <p:cNvPr id="7" name="object 7"/>
          <p:cNvSpPr txBox="1"/>
          <p:nvPr/>
        </p:nvSpPr>
        <p:spPr>
          <a:xfrm>
            <a:off x="569459" y="2167436"/>
            <a:ext cx="7393305" cy="2523127"/>
          </a:xfrm>
          <a:prstGeom prst="rect">
            <a:avLst/>
          </a:prstGeom>
        </p:spPr>
        <p:txBody>
          <a:bodyPr vert="horz" wrap="square" lIns="0" tIns="121285" rIns="0" bIns="0" rtlCol="0">
            <a:spAutoFit/>
          </a:bodyPr>
          <a:lstStyle/>
          <a:p>
            <a:pPr marL="241300" indent="-228600">
              <a:lnSpc>
                <a:spcPct val="100000"/>
              </a:lnSpc>
              <a:spcBef>
                <a:spcPts val="955"/>
              </a:spcBef>
              <a:buClr>
                <a:srgbClr val="A9A47B"/>
              </a:buClr>
              <a:buFont typeface="Arial MT"/>
              <a:buChar char="•"/>
              <a:tabLst>
                <a:tab pos="241300" algn="l"/>
              </a:tabLst>
            </a:pPr>
            <a:r>
              <a:rPr sz="3600" b="1" spc="-10" dirty="0">
                <a:solidFill>
                  <a:srgbClr val="2E2B1F"/>
                </a:solidFill>
                <a:latin typeface="Calibri"/>
                <a:cs typeface="Calibri"/>
              </a:rPr>
              <a:t>Introducción:</a:t>
            </a:r>
            <a:endParaRPr sz="3600" dirty="0">
              <a:latin typeface="Calibri"/>
              <a:cs typeface="Calibri"/>
            </a:endParaRPr>
          </a:p>
          <a:p>
            <a:r>
              <a:rPr lang="es-CO" sz="2400" b="1" dirty="0"/>
              <a:t>Refugio Rodante</a:t>
            </a:r>
            <a:r>
              <a:rPr lang="es-CO" sz="2400" dirty="0"/>
              <a:t> es una plataforma web que organiza y optimiza el uso de los parqueaderos de la entidad principal en Medellín mediante reservas digitales, mapas interactivos, mejorando la movilidad y reduciendo la congestión en zonas críticas de la ciudad.</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536257" y="445134"/>
            <a:ext cx="5808345" cy="756920"/>
          </a:xfrm>
          <a:prstGeom prst="rect">
            <a:avLst/>
          </a:prstGeom>
        </p:spPr>
        <p:txBody>
          <a:bodyPr vert="horz" wrap="square" lIns="0" tIns="12700" rIns="0" bIns="0" rtlCol="0">
            <a:spAutoFit/>
          </a:bodyPr>
          <a:lstStyle/>
          <a:p>
            <a:pPr marL="12700">
              <a:lnSpc>
                <a:spcPct val="100000"/>
              </a:lnSpc>
              <a:spcBef>
                <a:spcPts val="100"/>
              </a:spcBef>
            </a:pPr>
            <a:r>
              <a:rPr spc="-850" dirty="0"/>
              <a:t>M</a:t>
            </a:r>
            <a:r>
              <a:rPr spc="65" dirty="0"/>
              <a:t>A</a:t>
            </a:r>
            <a:r>
              <a:rPr spc="-690" dirty="0"/>
              <a:t>N</a:t>
            </a:r>
            <a:r>
              <a:rPr spc="-650" dirty="0"/>
              <a:t>U</a:t>
            </a:r>
            <a:r>
              <a:rPr spc="65" dirty="0"/>
              <a:t>A</a:t>
            </a:r>
            <a:r>
              <a:rPr spc="-305" dirty="0"/>
              <a:t>L</a:t>
            </a:r>
            <a:r>
              <a:rPr spc="-210" dirty="0"/>
              <a:t> </a:t>
            </a:r>
            <a:r>
              <a:rPr spc="-675" dirty="0"/>
              <a:t>D</a:t>
            </a:r>
            <a:r>
              <a:rPr spc="50" dirty="0"/>
              <a:t>E</a:t>
            </a:r>
            <a:r>
              <a:rPr spc="-204" dirty="0"/>
              <a:t> </a:t>
            </a:r>
            <a:r>
              <a:rPr spc="-650" dirty="0"/>
              <a:t>U</a:t>
            </a:r>
            <a:r>
              <a:rPr spc="-114" dirty="0"/>
              <a:t>S</a:t>
            </a:r>
            <a:r>
              <a:rPr spc="-650" dirty="0"/>
              <a:t>U</a:t>
            </a:r>
            <a:r>
              <a:rPr spc="65" dirty="0"/>
              <a:t>A</a:t>
            </a:r>
            <a:r>
              <a:rPr spc="-265" dirty="0"/>
              <a:t>R</a:t>
            </a:r>
            <a:r>
              <a:rPr spc="-245" dirty="0"/>
              <a:t>I</a:t>
            </a:r>
            <a:r>
              <a:rPr spc="-475" dirty="0"/>
              <a:t>O</a:t>
            </a:r>
          </a:p>
        </p:txBody>
      </p:sp>
      <p:sp>
        <p:nvSpPr>
          <p:cNvPr id="7" name="object 7"/>
          <p:cNvSpPr txBox="1"/>
          <p:nvPr/>
        </p:nvSpPr>
        <p:spPr>
          <a:xfrm>
            <a:off x="732790" y="1679459"/>
            <a:ext cx="7393305" cy="3261790"/>
          </a:xfrm>
          <a:prstGeom prst="rect">
            <a:avLst/>
          </a:prstGeom>
        </p:spPr>
        <p:txBody>
          <a:bodyPr vert="horz" wrap="square" lIns="0" tIns="121285" rIns="0" bIns="0" rtlCol="0">
            <a:spAutoFit/>
          </a:bodyPr>
          <a:lstStyle/>
          <a:p>
            <a:pPr marL="241300" indent="-228600">
              <a:lnSpc>
                <a:spcPct val="100000"/>
              </a:lnSpc>
              <a:spcBef>
                <a:spcPts val="955"/>
              </a:spcBef>
              <a:buClr>
                <a:srgbClr val="A9A47B"/>
              </a:buClr>
              <a:buFont typeface="Arial MT"/>
              <a:buChar char="•"/>
              <a:tabLst>
                <a:tab pos="241300" algn="l"/>
              </a:tabLst>
            </a:pPr>
            <a:r>
              <a:rPr sz="3600" b="1" spc="-10" dirty="0" err="1">
                <a:solidFill>
                  <a:srgbClr val="2E2B1F"/>
                </a:solidFill>
                <a:latin typeface="Calibri"/>
                <a:cs typeface="Calibri"/>
              </a:rPr>
              <a:t>Introducción</a:t>
            </a:r>
            <a:r>
              <a:rPr sz="3600" b="1" spc="-10" dirty="0">
                <a:solidFill>
                  <a:srgbClr val="2E2B1F"/>
                </a:solidFill>
                <a:latin typeface="Calibri"/>
                <a:cs typeface="Calibri"/>
              </a:rPr>
              <a:t>:</a:t>
            </a:r>
            <a:endParaRPr lang="es-CO" sz="3600" dirty="0"/>
          </a:p>
          <a:p>
            <a:r>
              <a:rPr lang="es-CO" sz="2400" dirty="0"/>
              <a:t>¿Cómo funciona?</a:t>
            </a:r>
          </a:p>
          <a:p>
            <a:r>
              <a:rPr lang="es-CO" sz="2400" b="1" dirty="0"/>
              <a:t>Búsqueda de parqueaderos</a:t>
            </a:r>
            <a:endParaRPr lang="es-CO" sz="2400" dirty="0"/>
          </a:p>
          <a:p>
            <a:pPr marL="571500" indent="-571500">
              <a:buFont typeface="Arial" panose="020B0604020202020204" pitchFamily="34" charset="0"/>
              <a:buChar char="•"/>
            </a:pPr>
            <a:r>
              <a:rPr lang="es-CO" sz="2400" dirty="0"/>
              <a:t>El usuario accede a la plataforma web y visualiza los parqueaderos disponibles en un mapa interactivo.</a:t>
            </a:r>
          </a:p>
          <a:p>
            <a:r>
              <a:rPr lang="es-CO" sz="2400" b="1" dirty="0"/>
              <a:t>Reserva digital</a:t>
            </a:r>
            <a:endParaRPr lang="es-CO" sz="2400" dirty="0"/>
          </a:p>
          <a:p>
            <a:pPr marL="342900" indent="-342900">
              <a:buFont typeface="Arial" panose="020B0604020202020204" pitchFamily="34" charset="0"/>
              <a:buChar char="•"/>
            </a:pPr>
            <a:r>
              <a:rPr lang="es-CO" sz="2400" dirty="0"/>
              <a:t>Selecciona el parqueadero que más le convenga y realiza una reserva en línea para asegurar el espacio.</a:t>
            </a:r>
          </a:p>
        </p:txBody>
      </p:sp>
    </p:spTree>
    <p:extLst>
      <p:ext uri="{BB962C8B-B14F-4D97-AF65-F5344CB8AC3E}">
        <p14:creationId xmlns:p14="http://schemas.microsoft.com/office/powerpoint/2010/main" val="9701482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536257" y="445134"/>
            <a:ext cx="5808345" cy="756920"/>
          </a:xfrm>
          <a:prstGeom prst="rect">
            <a:avLst/>
          </a:prstGeom>
        </p:spPr>
        <p:txBody>
          <a:bodyPr vert="horz" wrap="square" lIns="0" tIns="12700" rIns="0" bIns="0" rtlCol="0">
            <a:spAutoFit/>
          </a:bodyPr>
          <a:lstStyle/>
          <a:p>
            <a:pPr marL="12700">
              <a:lnSpc>
                <a:spcPct val="100000"/>
              </a:lnSpc>
              <a:spcBef>
                <a:spcPts val="100"/>
              </a:spcBef>
            </a:pPr>
            <a:r>
              <a:rPr spc="-850" dirty="0"/>
              <a:t>M</a:t>
            </a:r>
            <a:r>
              <a:rPr spc="65" dirty="0"/>
              <a:t>A</a:t>
            </a:r>
            <a:r>
              <a:rPr spc="-690" dirty="0"/>
              <a:t>N</a:t>
            </a:r>
            <a:r>
              <a:rPr spc="-650" dirty="0"/>
              <a:t>U</a:t>
            </a:r>
            <a:r>
              <a:rPr spc="65" dirty="0"/>
              <a:t>A</a:t>
            </a:r>
            <a:r>
              <a:rPr spc="-305" dirty="0"/>
              <a:t>L</a:t>
            </a:r>
            <a:r>
              <a:rPr spc="-210" dirty="0"/>
              <a:t> </a:t>
            </a:r>
            <a:r>
              <a:rPr spc="-675" dirty="0"/>
              <a:t>D</a:t>
            </a:r>
            <a:r>
              <a:rPr spc="50" dirty="0"/>
              <a:t>E</a:t>
            </a:r>
            <a:r>
              <a:rPr spc="-204" dirty="0"/>
              <a:t> </a:t>
            </a:r>
            <a:r>
              <a:rPr spc="-650" dirty="0"/>
              <a:t>U</a:t>
            </a:r>
            <a:r>
              <a:rPr spc="-114" dirty="0"/>
              <a:t>S</a:t>
            </a:r>
            <a:r>
              <a:rPr spc="-650" dirty="0"/>
              <a:t>U</a:t>
            </a:r>
            <a:r>
              <a:rPr spc="65" dirty="0"/>
              <a:t>A</a:t>
            </a:r>
            <a:r>
              <a:rPr spc="-265" dirty="0"/>
              <a:t>R</a:t>
            </a:r>
            <a:r>
              <a:rPr spc="-245" dirty="0"/>
              <a:t>I</a:t>
            </a:r>
            <a:r>
              <a:rPr spc="-475" dirty="0"/>
              <a:t>O</a:t>
            </a:r>
          </a:p>
        </p:txBody>
      </p:sp>
      <p:sp>
        <p:nvSpPr>
          <p:cNvPr id="7" name="object 7"/>
          <p:cNvSpPr txBox="1"/>
          <p:nvPr/>
        </p:nvSpPr>
        <p:spPr>
          <a:xfrm>
            <a:off x="732790" y="1679459"/>
            <a:ext cx="7393305" cy="4185120"/>
          </a:xfrm>
          <a:prstGeom prst="rect">
            <a:avLst/>
          </a:prstGeom>
        </p:spPr>
        <p:txBody>
          <a:bodyPr vert="horz" wrap="square" lIns="0" tIns="121285" rIns="0" bIns="0" rtlCol="0">
            <a:spAutoFit/>
          </a:bodyPr>
          <a:lstStyle/>
          <a:p>
            <a:pPr marL="241300" indent="-228600">
              <a:lnSpc>
                <a:spcPct val="100000"/>
              </a:lnSpc>
              <a:spcBef>
                <a:spcPts val="955"/>
              </a:spcBef>
              <a:buClr>
                <a:srgbClr val="A9A47B"/>
              </a:buClr>
              <a:buFont typeface="Arial MT"/>
              <a:buChar char="•"/>
              <a:tabLst>
                <a:tab pos="241300" algn="l"/>
              </a:tabLst>
            </a:pPr>
            <a:r>
              <a:rPr sz="3600" b="1" spc="-10" dirty="0" err="1">
                <a:solidFill>
                  <a:srgbClr val="2E2B1F"/>
                </a:solidFill>
                <a:latin typeface="Calibri"/>
                <a:cs typeface="Calibri"/>
              </a:rPr>
              <a:t>Introducción</a:t>
            </a:r>
            <a:r>
              <a:rPr sz="3600" b="1" spc="-10" dirty="0">
                <a:solidFill>
                  <a:srgbClr val="2E2B1F"/>
                </a:solidFill>
                <a:latin typeface="Calibri"/>
                <a:cs typeface="Calibri"/>
              </a:rPr>
              <a:t>:</a:t>
            </a:r>
            <a:endParaRPr lang="es-CO" sz="3600" dirty="0"/>
          </a:p>
          <a:p>
            <a:r>
              <a:rPr lang="es-CO" sz="2400" dirty="0"/>
              <a:t>¿Cómo funciona?</a:t>
            </a:r>
          </a:p>
          <a:p>
            <a:r>
              <a:rPr lang="es-CO" sz="2400" b="1" dirty="0"/>
              <a:t>Uso del parqueadero</a:t>
            </a:r>
            <a:endParaRPr lang="es-CO" sz="2400" dirty="0"/>
          </a:p>
          <a:p>
            <a:pPr marL="342900" indent="-342900">
              <a:buFont typeface="Arial" panose="020B0604020202020204" pitchFamily="34" charset="0"/>
              <a:buChar char="•"/>
            </a:pPr>
            <a:r>
              <a:rPr lang="es-CO" sz="2400" dirty="0"/>
              <a:t>El conductor llega al lugar reservado y utiliza el espacio de manera rápida y organizada.</a:t>
            </a:r>
          </a:p>
          <a:p>
            <a:r>
              <a:rPr lang="es-CO" sz="2400" b="1" dirty="0"/>
              <a:t>Impacto en la ciudad</a:t>
            </a:r>
            <a:endParaRPr lang="es-CO" sz="2400" dirty="0"/>
          </a:p>
          <a:p>
            <a:pPr marL="342900" indent="-342900">
              <a:buFont typeface="Arial" panose="020B0604020202020204" pitchFamily="34" charset="0"/>
              <a:buChar char="•"/>
            </a:pPr>
            <a:r>
              <a:rPr lang="es-CO" sz="2400" dirty="0"/>
              <a:t>Con este proceso se reduce el tiempo de búsqueda de parqueaderos y se contribuye a la descongestión del tráfico en zonas críticas de Medellín.</a:t>
            </a:r>
          </a:p>
          <a:p>
            <a:endParaRPr lang="es-CO" sz="3600" dirty="0"/>
          </a:p>
        </p:txBody>
      </p:sp>
    </p:spTree>
    <p:extLst>
      <p:ext uri="{BB962C8B-B14F-4D97-AF65-F5344CB8AC3E}">
        <p14:creationId xmlns:p14="http://schemas.microsoft.com/office/powerpoint/2010/main" val="233075893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536257" y="445134"/>
            <a:ext cx="5808345" cy="756920"/>
          </a:xfrm>
          <a:prstGeom prst="rect">
            <a:avLst/>
          </a:prstGeom>
        </p:spPr>
        <p:txBody>
          <a:bodyPr vert="horz" wrap="square" lIns="0" tIns="12700" rIns="0" bIns="0" rtlCol="0">
            <a:spAutoFit/>
          </a:bodyPr>
          <a:lstStyle/>
          <a:p>
            <a:pPr marL="12700">
              <a:lnSpc>
                <a:spcPct val="100000"/>
              </a:lnSpc>
              <a:spcBef>
                <a:spcPts val="100"/>
              </a:spcBef>
            </a:pPr>
            <a:r>
              <a:rPr spc="-850" dirty="0"/>
              <a:t>M</a:t>
            </a:r>
            <a:r>
              <a:rPr spc="65" dirty="0"/>
              <a:t>A</a:t>
            </a:r>
            <a:r>
              <a:rPr spc="-690" dirty="0"/>
              <a:t>N</a:t>
            </a:r>
            <a:r>
              <a:rPr spc="-650" dirty="0"/>
              <a:t>U</a:t>
            </a:r>
            <a:r>
              <a:rPr spc="65" dirty="0"/>
              <a:t>A</a:t>
            </a:r>
            <a:r>
              <a:rPr spc="-305" dirty="0"/>
              <a:t>L</a:t>
            </a:r>
            <a:r>
              <a:rPr spc="-210" dirty="0"/>
              <a:t> </a:t>
            </a:r>
            <a:r>
              <a:rPr spc="-675" dirty="0"/>
              <a:t>D</a:t>
            </a:r>
            <a:r>
              <a:rPr spc="50" dirty="0"/>
              <a:t>E</a:t>
            </a:r>
            <a:r>
              <a:rPr spc="-204" dirty="0"/>
              <a:t> </a:t>
            </a:r>
            <a:r>
              <a:rPr spc="-650" dirty="0"/>
              <a:t>U</a:t>
            </a:r>
            <a:r>
              <a:rPr spc="-114" dirty="0"/>
              <a:t>S</a:t>
            </a:r>
            <a:r>
              <a:rPr spc="-650" dirty="0"/>
              <a:t>U</a:t>
            </a:r>
            <a:r>
              <a:rPr spc="65" dirty="0"/>
              <a:t>A</a:t>
            </a:r>
            <a:r>
              <a:rPr spc="-265" dirty="0"/>
              <a:t>R</a:t>
            </a:r>
            <a:r>
              <a:rPr spc="-245" dirty="0"/>
              <a:t>I</a:t>
            </a:r>
            <a:r>
              <a:rPr spc="-475" dirty="0"/>
              <a:t>O</a:t>
            </a:r>
          </a:p>
        </p:txBody>
      </p:sp>
      <p:sp>
        <p:nvSpPr>
          <p:cNvPr id="7" name="object 7"/>
          <p:cNvSpPr txBox="1"/>
          <p:nvPr/>
        </p:nvSpPr>
        <p:spPr>
          <a:xfrm>
            <a:off x="732790" y="1679459"/>
            <a:ext cx="7393305" cy="3007875"/>
          </a:xfrm>
          <a:prstGeom prst="rect">
            <a:avLst/>
          </a:prstGeom>
        </p:spPr>
        <p:txBody>
          <a:bodyPr vert="horz" wrap="square" lIns="0" tIns="121285" rIns="0" bIns="0" rtlCol="0">
            <a:spAutoFit/>
          </a:bodyPr>
          <a:lstStyle/>
          <a:p>
            <a:pPr marL="241300" indent="-228600">
              <a:lnSpc>
                <a:spcPct val="100000"/>
              </a:lnSpc>
              <a:spcBef>
                <a:spcPts val="955"/>
              </a:spcBef>
              <a:buClr>
                <a:srgbClr val="A9A47B"/>
              </a:buClr>
              <a:buFont typeface="Arial MT"/>
              <a:buChar char="•"/>
              <a:tabLst>
                <a:tab pos="241300" algn="l"/>
              </a:tabLst>
            </a:pPr>
            <a:r>
              <a:rPr sz="3600" b="1" spc="-10" dirty="0" err="1">
                <a:solidFill>
                  <a:srgbClr val="2E2B1F"/>
                </a:solidFill>
                <a:latin typeface="Calibri"/>
                <a:cs typeface="Calibri"/>
              </a:rPr>
              <a:t>Introducción</a:t>
            </a:r>
            <a:r>
              <a:rPr sz="3600" b="1" spc="-10" dirty="0">
                <a:solidFill>
                  <a:srgbClr val="2E2B1F"/>
                </a:solidFill>
                <a:latin typeface="Calibri"/>
                <a:cs typeface="Calibri"/>
              </a:rPr>
              <a:t>:</a:t>
            </a:r>
            <a:endParaRPr lang="es-CO" sz="3600" dirty="0"/>
          </a:p>
          <a:p>
            <a:r>
              <a:rPr lang="es-CO" sz="2400" dirty="0"/>
              <a:t>¿Para qué es?</a:t>
            </a:r>
          </a:p>
          <a:p>
            <a:pPr marL="12700">
              <a:spcBef>
                <a:spcPts val="865"/>
              </a:spcBef>
            </a:pPr>
            <a:r>
              <a:rPr lang="es-CO" sz="2400" dirty="0"/>
              <a:t>Facilitar la gestión de parqueaderos de la entidad mayor en Medellín mediante reservas digitales, mapas interactivos, con el fin de mejorar la experiencia de los conductores, optimizar el uso de los espacios y contribuir a la descongestión del tráfico en zonas críticas de la ciudad.</a:t>
            </a:r>
            <a:endParaRPr sz="2400" dirty="0">
              <a:latin typeface="Calibri"/>
              <a:cs typeface="Calibri"/>
            </a:endParaRPr>
          </a:p>
        </p:txBody>
      </p:sp>
    </p:spTree>
    <p:extLst>
      <p:ext uri="{BB962C8B-B14F-4D97-AF65-F5344CB8AC3E}">
        <p14:creationId xmlns:p14="http://schemas.microsoft.com/office/powerpoint/2010/main" val="37335175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28600" y="-19334"/>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536257" y="445134"/>
            <a:ext cx="5808345" cy="756920"/>
          </a:xfrm>
          <a:prstGeom prst="rect">
            <a:avLst/>
          </a:prstGeom>
        </p:spPr>
        <p:txBody>
          <a:bodyPr vert="horz" wrap="square" lIns="0" tIns="12700" rIns="0" bIns="0" rtlCol="0">
            <a:spAutoFit/>
          </a:bodyPr>
          <a:lstStyle/>
          <a:p>
            <a:pPr marL="12700">
              <a:lnSpc>
                <a:spcPct val="100000"/>
              </a:lnSpc>
              <a:spcBef>
                <a:spcPts val="100"/>
              </a:spcBef>
            </a:pPr>
            <a:r>
              <a:rPr spc="-850" dirty="0"/>
              <a:t>M</a:t>
            </a:r>
            <a:r>
              <a:rPr spc="65" dirty="0"/>
              <a:t>A</a:t>
            </a:r>
            <a:r>
              <a:rPr spc="-690" dirty="0"/>
              <a:t>N</a:t>
            </a:r>
            <a:r>
              <a:rPr spc="-650" dirty="0"/>
              <a:t>U</a:t>
            </a:r>
            <a:r>
              <a:rPr spc="65" dirty="0"/>
              <a:t>A</a:t>
            </a:r>
            <a:r>
              <a:rPr spc="-305" dirty="0"/>
              <a:t>L</a:t>
            </a:r>
            <a:r>
              <a:rPr spc="-210" dirty="0"/>
              <a:t> </a:t>
            </a:r>
            <a:r>
              <a:rPr spc="-675" dirty="0"/>
              <a:t>D</a:t>
            </a:r>
            <a:r>
              <a:rPr spc="50" dirty="0"/>
              <a:t>E</a:t>
            </a:r>
            <a:r>
              <a:rPr spc="-204" dirty="0"/>
              <a:t> </a:t>
            </a:r>
            <a:r>
              <a:rPr spc="-650" dirty="0"/>
              <a:t>U</a:t>
            </a:r>
            <a:r>
              <a:rPr spc="-114" dirty="0"/>
              <a:t>S</a:t>
            </a:r>
            <a:r>
              <a:rPr spc="-650" dirty="0"/>
              <a:t>U</a:t>
            </a:r>
            <a:r>
              <a:rPr spc="65" dirty="0"/>
              <a:t>A</a:t>
            </a:r>
            <a:r>
              <a:rPr spc="-265" dirty="0"/>
              <a:t>R</a:t>
            </a:r>
            <a:r>
              <a:rPr spc="-245" dirty="0"/>
              <a:t>I</a:t>
            </a:r>
            <a:r>
              <a:rPr spc="-475" dirty="0"/>
              <a:t>O</a:t>
            </a:r>
          </a:p>
        </p:txBody>
      </p:sp>
      <p:sp>
        <p:nvSpPr>
          <p:cNvPr id="7" name="object 7"/>
          <p:cNvSpPr txBox="1"/>
          <p:nvPr/>
        </p:nvSpPr>
        <p:spPr>
          <a:xfrm>
            <a:off x="533982" y="1467475"/>
            <a:ext cx="7393305" cy="2153795"/>
          </a:xfrm>
          <a:prstGeom prst="rect">
            <a:avLst/>
          </a:prstGeom>
        </p:spPr>
        <p:txBody>
          <a:bodyPr vert="horz" wrap="square" lIns="0" tIns="121285" rIns="0" bIns="0" rtlCol="0">
            <a:spAutoFit/>
          </a:bodyPr>
          <a:lstStyle/>
          <a:p>
            <a:pPr marL="241300" indent="-228600">
              <a:lnSpc>
                <a:spcPct val="100000"/>
              </a:lnSpc>
              <a:spcBef>
                <a:spcPts val="955"/>
              </a:spcBef>
              <a:buClr>
                <a:srgbClr val="A9A47B"/>
              </a:buClr>
              <a:buFont typeface="Arial MT"/>
              <a:buChar char="•"/>
              <a:tabLst>
                <a:tab pos="241300" algn="l"/>
              </a:tabLst>
            </a:pPr>
            <a:r>
              <a:rPr sz="3600" b="1" spc="-10" dirty="0" err="1">
                <a:solidFill>
                  <a:srgbClr val="2E2B1F"/>
                </a:solidFill>
                <a:latin typeface="Calibri"/>
                <a:cs typeface="Calibri"/>
              </a:rPr>
              <a:t>Introducción</a:t>
            </a:r>
            <a:r>
              <a:rPr sz="3600" b="1" spc="-10" dirty="0">
                <a:solidFill>
                  <a:srgbClr val="2E2B1F"/>
                </a:solidFill>
                <a:latin typeface="Calibri"/>
                <a:cs typeface="Calibri"/>
              </a:rPr>
              <a:t>:</a:t>
            </a:r>
            <a:endParaRPr lang="es-CO" sz="3600" dirty="0"/>
          </a:p>
          <a:p>
            <a:r>
              <a:rPr lang="es-CO" sz="2400" dirty="0"/>
              <a:t>¿Quién lo puede utilizar?</a:t>
            </a:r>
          </a:p>
          <a:p>
            <a:r>
              <a:rPr lang="es-CO" sz="2400" dirty="0"/>
              <a:t>Refugio Rodante está diseñado para cualquier conductor en Medellín que necesite parquear de forma fácil, rápida y organizada.</a:t>
            </a:r>
          </a:p>
        </p:txBody>
      </p:sp>
    </p:spTree>
    <p:extLst>
      <p:ext uri="{BB962C8B-B14F-4D97-AF65-F5344CB8AC3E}">
        <p14:creationId xmlns:p14="http://schemas.microsoft.com/office/powerpoint/2010/main" val="38385565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996632" y="394334"/>
            <a:ext cx="6557009" cy="848360"/>
          </a:xfrm>
          <a:prstGeom prst="rect">
            <a:avLst/>
          </a:prstGeom>
        </p:spPr>
        <p:txBody>
          <a:bodyPr vert="horz" wrap="square" lIns="0" tIns="12700" rIns="0" bIns="0" rtlCol="0">
            <a:spAutoFit/>
          </a:bodyPr>
          <a:lstStyle/>
          <a:p>
            <a:pPr marL="12700">
              <a:lnSpc>
                <a:spcPct val="100000"/>
              </a:lnSpc>
              <a:spcBef>
                <a:spcPts val="100"/>
              </a:spcBef>
            </a:pPr>
            <a:r>
              <a:rPr sz="5400" spc="-969" dirty="0"/>
              <a:t>M</a:t>
            </a:r>
            <a:r>
              <a:rPr sz="5400" spc="75" dirty="0"/>
              <a:t>A</a:t>
            </a:r>
            <a:r>
              <a:rPr sz="5400" spc="-770" dirty="0"/>
              <a:t>N</a:t>
            </a:r>
            <a:r>
              <a:rPr sz="5400" spc="-720" dirty="0"/>
              <a:t>U</a:t>
            </a:r>
            <a:r>
              <a:rPr sz="5400" spc="75" dirty="0"/>
              <a:t>A</a:t>
            </a:r>
            <a:r>
              <a:rPr sz="5400" spc="-345" dirty="0"/>
              <a:t>L</a:t>
            </a:r>
            <a:r>
              <a:rPr sz="5400" spc="-190" dirty="0"/>
              <a:t> </a:t>
            </a:r>
            <a:r>
              <a:rPr sz="5400" spc="-745" dirty="0"/>
              <a:t>D</a:t>
            </a:r>
            <a:r>
              <a:rPr sz="5400" spc="55" dirty="0"/>
              <a:t>E</a:t>
            </a:r>
            <a:r>
              <a:rPr sz="5400" spc="-190" dirty="0"/>
              <a:t> </a:t>
            </a:r>
            <a:r>
              <a:rPr sz="5400" spc="-720" dirty="0"/>
              <a:t>U</a:t>
            </a:r>
            <a:r>
              <a:rPr sz="5400" spc="-110" dirty="0"/>
              <a:t>S</a:t>
            </a:r>
            <a:r>
              <a:rPr sz="5400" spc="-720" dirty="0"/>
              <a:t>U</a:t>
            </a:r>
            <a:r>
              <a:rPr sz="5400" spc="75" dirty="0"/>
              <a:t>A</a:t>
            </a:r>
            <a:r>
              <a:rPr sz="5400" spc="-265" dirty="0"/>
              <a:t>R</a:t>
            </a:r>
            <a:r>
              <a:rPr sz="5400" spc="-240" dirty="0"/>
              <a:t>I</a:t>
            </a:r>
            <a:r>
              <a:rPr sz="5400" spc="-530" dirty="0"/>
              <a:t>O</a:t>
            </a:r>
            <a:endParaRPr sz="5400"/>
          </a:p>
        </p:txBody>
      </p:sp>
      <p:sp>
        <p:nvSpPr>
          <p:cNvPr id="7" name="object 7"/>
          <p:cNvSpPr txBox="1"/>
          <p:nvPr/>
        </p:nvSpPr>
        <p:spPr>
          <a:xfrm>
            <a:off x="588644" y="1751012"/>
            <a:ext cx="7393940" cy="2154436"/>
          </a:xfrm>
          <a:prstGeom prst="rect">
            <a:avLst/>
          </a:prstGeom>
        </p:spPr>
        <p:txBody>
          <a:bodyPr vert="horz" wrap="square" lIns="0" tIns="121920" rIns="0" bIns="0" rtlCol="0">
            <a:spAutoFit/>
          </a:bodyPr>
          <a:lstStyle/>
          <a:p>
            <a:pPr marL="241300" indent="-229235" algn="just">
              <a:lnSpc>
                <a:spcPct val="100000"/>
              </a:lnSpc>
              <a:spcBef>
                <a:spcPts val="960"/>
              </a:spcBef>
              <a:buClr>
                <a:srgbClr val="A9A47B"/>
              </a:buClr>
              <a:buFont typeface="Arial MT"/>
              <a:buChar char="•"/>
              <a:tabLst>
                <a:tab pos="241935" algn="l"/>
              </a:tabLst>
            </a:pPr>
            <a:r>
              <a:rPr sz="3600" b="1" spc="-10" dirty="0">
                <a:solidFill>
                  <a:srgbClr val="2E2B1F"/>
                </a:solidFill>
                <a:latin typeface="Calibri"/>
                <a:cs typeface="Calibri"/>
              </a:rPr>
              <a:t>Objetivos</a:t>
            </a:r>
            <a:r>
              <a:rPr sz="3600" b="1" spc="-35" dirty="0">
                <a:solidFill>
                  <a:srgbClr val="2E2B1F"/>
                </a:solidFill>
                <a:latin typeface="Calibri"/>
                <a:cs typeface="Calibri"/>
              </a:rPr>
              <a:t> </a:t>
            </a:r>
            <a:r>
              <a:rPr sz="3600" b="1" dirty="0">
                <a:solidFill>
                  <a:srgbClr val="2E2B1F"/>
                </a:solidFill>
                <a:latin typeface="Calibri"/>
                <a:cs typeface="Calibri"/>
              </a:rPr>
              <a:t>del</a:t>
            </a:r>
            <a:r>
              <a:rPr sz="3600" b="1" spc="-50" dirty="0">
                <a:solidFill>
                  <a:srgbClr val="2E2B1F"/>
                </a:solidFill>
                <a:latin typeface="Calibri"/>
                <a:cs typeface="Calibri"/>
              </a:rPr>
              <a:t> </a:t>
            </a:r>
            <a:r>
              <a:rPr sz="3600" b="1" spc="-15" dirty="0">
                <a:solidFill>
                  <a:srgbClr val="2E2B1F"/>
                </a:solidFill>
                <a:latin typeface="Calibri"/>
                <a:cs typeface="Calibri"/>
              </a:rPr>
              <a:t>Sistema:</a:t>
            </a:r>
            <a:endParaRPr sz="3600" dirty="0">
              <a:latin typeface="Calibri"/>
              <a:cs typeface="Calibri"/>
            </a:endParaRPr>
          </a:p>
          <a:p>
            <a:r>
              <a:rPr lang="es-CO" sz="2400" dirty="0"/>
              <a:t>Objetivo general:</a:t>
            </a:r>
          </a:p>
          <a:p>
            <a:r>
              <a:rPr lang="es-CO" sz="2400" dirty="0"/>
              <a:t>Desarrollar una plataforma digital para la reserva inteligente de parqueaderos de la entidad mayor en Medellín, integrando la geolocalización</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996632" y="394334"/>
            <a:ext cx="6557009" cy="848360"/>
          </a:xfrm>
          <a:prstGeom prst="rect">
            <a:avLst/>
          </a:prstGeom>
        </p:spPr>
        <p:txBody>
          <a:bodyPr vert="horz" wrap="square" lIns="0" tIns="12700" rIns="0" bIns="0" rtlCol="0">
            <a:spAutoFit/>
          </a:bodyPr>
          <a:lstStyle/>
          <a:p>
            <a:pPr marL="12700">
              <a:lnSpc>
                <a:spcPct val="100000"/>
              </a:lnSpc>
              <a:spcBef>
                <a:spcPts val="100"/>
              </a:spcBef>
            </a:pPr>
            <a:r>
              <a:rPr sz="5400" spc="-969" dirty="0"/>
              <a:t>M</a:t>
            </a:r>
            <a:r>
              <a:rPr sz="5400" spc="75" dirty="0"/>
              <a:t>A</a:t>
            </a:r>
            <a:r>
              <a:rPr sz="5400" spc="-770" dirty="0"/>
              <a:t>N</a:t>
            </a:r>
            <a:r>
              <a:rPr sz="5400" spc="-720" dirty="0"/>
              <a:t>U</a:t>
            </a:r>
            <a:r>
              <a:rPr sz="5400" spc="75" dirty="0"/>
              <a:t>A</a:t>
            </a:r>
            <a:r>
              <a:rPr sz="5400" spc="-345" dirty="0"/>
              <a:t>L</a:t>
            </a:r>
            <a:r>
              <a:rPr sz="5400" spc="-190" dirty="0"/>
              <a:t> </a:t>
            </a:r>
            <a:r>
              <a:rPr sz="5400" spc="-745" dirty="0"/>
              <a:t>D</a:t>
            </a:r>
            <a:r>
              <a:rPr sz="5400" spc="55" dirty="0"/>
              <a:t>E</a:t>
            </a:r>
            <a:r>
              <a:rPr sz="5400" spc="-190" dirty="0"/>
              <a:t> </a:t>
            </a:r>
            <a:r>
              <a:rPr sz="5400" spc="-720" dirty="0"/>
              <a:t>U</a:t>
            </a:r>
            <a:r>
              <a:rPr sz="5400" spc="-110" dirty="0"/>
              <a:t>S</a:t>
            </a:r>
            <a:r>
              <a:rPr sz="5400" spc="-720" dirty="0"/>
              <a:t>U</a:t>
            </a:r>
            <a:r>
              <a:rPr sz="5400" spc="75" dirty="0"/>
              <a:t>A</a:t>
            </a:r>
            <a:r>
              <a:rPr sz="5400" spc="-265" dirty="0"/>
              <a:t>R</a:t>
            </a:r>
            <a:r>
              <a:rPr sz="5400" spc="-240" dirty="0"/>
              <a:t>I</a:t>
            </a:r>
            <a:r>
              <a:rPr sz="5400" spc="-530" dirty="0"/>
              <a:t>O</a:t>
            </a:r>
            <a:endParaRPr sz="5400"/>
          </a:p>
        </p:txBody>
      </p:sp>
      <p:sp>
        <p:nvSpPr>
          <p:cNvPr id="7" name="object 7"/>
          <p:cNvSpPr txBox="1"/>
          <p:nvPr/>
        </p:nvSpPr>
        <p:spPr>
          <a:xfrm>
            <a:off x="588644" y="1751012"/>
            <a:ext cx="7393940" cy="3816429"/>
          </a:xfrm>
          <a:prstGeom prst="rect">
            <a:avLst/>
          </a:prstGeom>
        </p:spPr>
        <p:txBody>
          <a:bodyPr vert="horz" wrap="square" lIns="0" tIns="121920" rIns="0" bIns="0" rtlCol="0">
            <a:spAutoFit/>
          </a:bodyPr>
          <a:lstStyle/>
          <a:p>
            <a:pPr marL="241300" indent="-229235" algn="just">
              <a:lnSpc>
                <a:spcPct val="100000"/>
              </a:lnSpc>
              <a:spcBef>
                <a:spcPts val="960"/>
              </a:spcBef>
              <a:buClr>
                <a:srgbClr val="A9A47B"/>
              </a:buClr>
              <a:buFont typeface="Arial MT"/>
              <a:buChar char="•"/>
              <a:tabLst>
                <a:tab pos="241935" algn="l"/>
              </a:tabLst>
            </a:pPr>
            <a:r>
              <a:rPr sz="3600" b="1" spc="-10" dirty="0">
                <a:solidFill>
                  <a:srgbClr val="2E2B1F"/>
                </a:solidFill>
                <a:latin typeface="Calibri"/>
                <a:cs typeface="Calibri"/>
              </a:rPr>
              <a:t>Objetivos</a:t>
            </a:r>
            <a:r>
              <a:rPr sz="3600" b="1" spc="-35" dirty="0">
                <a:solidFill>
                  <a:srgbClr val="2E2B1F"/>
                </a:solidFill>
                <a:latin typeface="Calibri"/>
                <a:cs typeface="Calibri"/>
              </a:rPr>
              <a:t> </a:t>
            </a:r>
            <a:r>
              <a:rPr sz="3600" b="1" dirty="0">
                <a:solidFill>
                  <a:srgbClr val="2E2B1F"/>
                </a:solidFill>
                <a:latin typeface="Calibri"/>
                <a:cs typeface="Calibri"/>
              </a:rPr>
              <a:t>del</a:t>
            </a:r>
            <a:r>
              <a:rPr sz="3600" b="1" spc="-50" dirty="0">
                <a:solidFill>
                  <a:srgbClr val="2E2B1F"/>
                </a:solidFill>
                <a:latin typeface="Calibri"/>
                <a:cs typeface="Calibri"/>
              </a:rPr>
              <a:t> </a:t>
            </a:r>
            <a:r>
              <a:rPr sz="3600" b="1" spc="-15" dirty="0">
                <a:solidFill>
                  <a:srgbClr val="2E2B1F"/>
                </a:solidFill>
                <a:latin typeface="Calibri"/>
                <a:cs typeface="Calibri"/>
              </a:rPr>
              <a:t>Sistema:</a:t>
            </a:r>
            <a:endParaRPr sz="3600" dirty="0">
              <a:latin typeface="Calibri"/>
              <a:cs typeface="Calibri"/>
            </a:endParaRPr>
          </a:p>
          <a:p>
            <a:r>
              <a:rPr lang="es-CO" sz="2400" b="1" dirty="0"/>
              <a:t>Objetivos Específicos</a:t>
            </a:r>
            <a:br>
              <a:rPr lang="es-CO" sz="2400" dirty="0"/>
            </a:br>
            <a:r>
              <a:rPr lang="es-CO" sz="2400" dirty="0"/>
              <a:t>1. Levantar requerimientos con usuarios y administradores de parqueaderos.</a:t>
            </a:r>
          </a:p>
          <a:p>
            <a:r>
              <a:rPr lang="es-CO" sz="2400" dirty="0"/>
              <a:t>2. Diseñar base de datos y prototipos de la interfaz.</a:t>
            </a:r>
          </a:p>
          <a:p>
            <a:r>
              <a:rPr lang="es-CO" sz="2400" dirty="0"/>
              <a:t>3. Implementar módulos de reserva, pago y visualización.</a:t>
            </a:r>
          </a:p>
          <a:p>
            <a:r>
              <a:rPr lang="es-CO" sz="2400" dirty="0"/>
              <a:t>4. Probar el sistema con usuarios reales y documentar el proceso.</a:t>
            </a:r>
          </a:p>
          <a:p>
            <a:endParaRPr lang="es-CO" sz="3600" dirty="0"/>
          </a:p>
        </p:txBody>
      </p:sp>
    </p:spTree>
    <p:extLst>
      <p:ext uri="{BB962C8B-B14F-4D97-AF65-F5344CB8AC3E}">
        <p14:creationId xmlns:p14="http://schemas.microsoft.com/office/powerpoint/2010/main" val="5456465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0944"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1369949" y="445134"/>
            <a:ext cx="5808345" cy="756920"/>
          </a:xfrm>
          <a:prstGeom prst="rect">
            <a:avLst/>
          </a:prstGeom>
        </p:spPr>
        <p:txBody>
          <a:bodyPr vert="horz" wrap="square" lIns="0" tIns="12700" rIns="0" bIns="0" rtlCol="0">
            <a:spAutoFit/>
          </a:bodyPr>
          <a:lstStyle/>
          <a:p>
            <a:pPr marL="12700">
              <a:lnSpc>
                <a:spcPct val="100000"/>
              </a:lnSpc>
              <a:spcBef>
                <a:spcPts val="100"/>
              </a:spcBef>
            </a:pPr>
            <a:r>
              <a:rPr spc="-850" dirty="0"/>
              <a:t>M</a:t>
            </a:r>
            <a:r>
              <a:rPr spc="65" dirty="0"/>
              <a:t>A</a:t>
            </a:r>
            <a:r>
              <a:rPr spc="-690" dirty="0"/>
              <a:t>N</a:t>
            </a:r>
            <a:r>
              <a:rPr spc="-650" dirty="0"/>
              <a:t>U</a:t>
            </a:r>
            <a:r>
              <a:rPr spc="65" dirty="0"/>
              <a:t>A</a:t>
            </a:r>
            <a:r>
              <a:rPr spc="-305" dirty="0"/>
              <a:t>L</a:t>
            </a:r>
            <a:r>
              <a:rPr spc="-210" dirty="0"/>
              <a:t> </a:t>
            </a:r>
            <a:r>
              <a:rPr spc="-675" dirty="0"/>
              <a:t>D</a:t>
            </a:r>
            <a:r>
              <a:rPr spc="50" dirty="0"/>
              <a:t>E</a:t>
            </a:r>
            <a:r>
              <a:rPr spc="-204" dirty="0"/>
              <a:t> </a:t>
            </a:r>
            <a:r>
              <a:rPr spc="-650" dirty="0"/>
              <a:t>U</a:t>
            </a:r>
            <a:r>
              <a:rPr spc="-114" dirty="0"/>
              <a:t>S</a:t>
            </a:r>
            <a:r>
              <a:rPr spc="-650" dirty="0"/>
              <a:t>U</a:t>
            </a:r>
            <a:r>
              <a:rPr spc="65" dirty="0"/>
              <a:t>A</a:t>
            </a:r>
            <a:r>
              <a:rPr spc="-265" dirty="0"/>
              <a:t>R</a:t>
            </a:r>
            <a:r>
              <a:rPr spc="-245" dirty="0"/>
              <a:t>I</a:t>
            </a:r>
            <a:r>
              <a:rPr spc="-475" dirty="0"/>
              <a:t>O</a:t>
            </a:r>
          </a:p>
        </p:txBody>
      </p:sp>
      <p:sp>
        <p:nvSpPr>
          <p:cNvPr id="7" name="object 7"/>
          <p:cNvSpPr txBox="1"/>
          <p:nvPr/>
        </p:nvSpPr>
        <p:spPr>
          <a:xfrm>
            <a:off x="588644" y="1823021"/>
            <a:ext cx="7393940" cy="1174681"/>
          </a:xfrm>
          <a:prstGeom prst="rect">
            <a:avLst/>
          </a:prstGeom>
        </p:spPr>
        <p:txBody>
          <a:bodyPr vert="horz" wrap="square" lIns="0" tIns="121920" rIns="0" bIns="0" rtlCol="0">
            <a:spAutoFit/>
          </a:bodyPr>
          <a:lstStyle/>
          <a:p>
            <a:pPr marL="241300" indent="-229235" algn="just">
              <a:lnSpc>
                <a:spcPct val="100000"/>
              </a:lnSpc>
              <a:spcBef>
                <a:spcPts val="960"/>
              </a:spcBef>
              <a:buClr>
                <a:srgbClr val="A9A47B"/>
              </a:buClr>
              <a:buFont typeface="Arial MT"/>
              <a:buChar char="•"/>
              <a:tabLst>
                <a:tab pos="241935" algn="l"/>
              </a:tabLst>
            </a:pPr>
            <a:r>
              <a:rPr sz="3600" b="1" spc="-5" dirty="0">
                <a:solidFill>
                  <a:srgbClr val="2E2B1F"/>
                </a:solidFill>
                <a:latin typeface="Calibri"/>
                <a:cs typeface="Calibri"/>
              </a:rPr>
              <a:t>Guía</a:t>
            </a:r>
            <a:r>
              <a:rPr sz="3600" b="1" spc="-30" dirty="0">
                <a:solidFill>
                  <a:srgbClr val="2E2B1F"/>
                </a:solidFill>
                <a:latin typeface="Calibri"/>
                <a:cs typeface="Calibri"/>
              </a:rPr>
              <a:t> </a:t>
            </a:r>
            <a:r>
              <a:rPr sz="3600" b="1" spc="5" dirty="0">
                <a:solidFill>
                  <a:srgbClr val="2E2B1F"/>
                </a:solidFill>
                <a:latin typeface="Calibri"/>
                <a:cs typeface="Calibri"/>
              </a:rPr>
              <a:t>de</a:t>
            </a:r>
            <a:r>
              <a:rPr sz="3600" b="1" spc="-30" dirty="0">
                <a:solidFill>
                  <a:srgbClr val="2E2B1F"/>
                </a:solidFill>
                <a:latin typeface="Calibri"/>
                <a:cs typeface="Calibri"/>
              </a:rPr>
              <a:t> </a:t>
            </a:r>
            <a:r>
              <a:rPr lang="es-CO" sz="3600" b="1" dirty="0">
                <a:solidFill>
                  <a:srgbClr val="2E2B1F"/>
                </a:solidFill>
                <a:latin typeface="Calibri"/>
                <a:cs typeface="Calibri"/>
              </a:rPr>
              <a:t>uso</a:t>
            </a:r>
            <a:r>
              <a:rPr sz="3600" b="1" dirty="0">
                <a:solidFill>
                  <a:srgbClr val="2E2B1F"/>
                </a:solidFill>
                <a:latin typeface="Calibri"/>
                <a:cs typeface="Calibri"/>
              </a:rPr>
              <a:t>:</a:t>
            </a:r>
            <a:endParaRPr lang="es-CO" sz="3600" b="1" dirty="0">
              <a:solidFill>
                <a:srgbClr val="2E2B1F"/>
              </a:solidFill>
              <a:latin typeface="Calibri"/>
              <a:cs typeface="Calibri"/>
            </a:endParaRPr>
          </a:p>
          <a:p>
            <a:pPr marL="241300" indent="-229235" algn="just">
              <a:lnSpc>
                <a:spcPct val="100000"/>
              </a:lnSpc>
              <a:spcBef>
                <a:spcPts val="960"/>
              </a:spcBef>
              <a:buClr>
                <a:srgbClr val="A9A47B"/>
              </a:buClr>
              <a:buFont typeface="Arial MT"/>
              <a:buChar char="•"/>
              <a:tabLst>
                <a:tab pos="241935" algn="l"/>
              </a:tabLst>
            </a:pPr>
            <a:r>
              <a:rPr lang="es-CO" sz="2400" b="1" dirty="0">
                <a:solidFill>
                  <a:srgbClr val="2E2B1F"/>
                </a:solidFill>
                <a:latin typeface="Calibri"/>
                <a:cs typeface="Calibri"/>
              </a:rPr>
              <a:t>Inicio.</a:t>
            </a:r>
          </a:p>
        </p:txBody>
      </p:sp>
      <p:sp>
        <p:nvSpPr>
          <p:cNvPr id="8" name="AutoShape 2" descr="blob:https://web.whatsapp.com/b8a4219b-13ff-4f1a-b071-c4fa28fd680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0" name="AutoShape 4" descr="blob:https://web.whatsapp.com/b8a4219b-13ff-4f1a-b071-c4fa28fd680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1" name="Image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247" y="3206207"/>
            <a:ext cx="6843800" cy="3443287"/>
          </a:xfrm>
          <a:prstGeom prst="rect">
            <a:avLst/>
          </a:prstGeom>
        </p:spPr>
      </p:pic>
      <p:sp>
        <p:nvSpPr>
          <p:cNvPr id="12" name="CuadroTexto 11"/>
          <p:cNvSpPr txBox="1"/>
          <p:nvPr/>
        </p:nvSpPr>
        <p:spPr>
          <a:xfrm>
            <a:off x="4285614" y="1839541"/>
            <a:ext cx="4236256" cy="923330"/>
          </a:xfrm>
          <a:prstGeom prst="rect">
            <a:avLst/>
          </a:prstGeom>
          <a:noFill/>
        </p:spPr>
        <p:txBody>
          <a:bodyPr wrap="square" rtlCol="0">
            <a:spAutoFit/>
          </a:bodyPr>
          <a:lstStyle/>
          <a:p>
            <a:r>
              <a:rPr lang="es-CO" dirty="0"/>
              <a:t>La función de esta interfaz es la primera impresión que lleva al usuario al momento de entrar.</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1369949" y="445134"/>
            <a:ext cx="5808345" cy="756920"/>
          </a:xfrm>
          <a:prstGeom prst="rect">
            <a:avLst/>
          </a:prstGeom>
        </p:spPr>
        <p:txBody>
          <a:bodyPr vert="horz" wrap="square" lIns="0" tIns="12700" rIns="0" bIns="0" rtlCol="0">
            <a:spAutoFit/>
          </a:bodyPr>
          <a:lstStyle/>
          <a:p>
            <a:pPr marL="12700">
              <a:lnSpc>
                <a:spcPct val="100000"/>
              </a:lnSpc>
              <a:spcBef>
                <a:spcPts val="100"/>
              </a:spcBef>
            </a:pPr>
            <a:r>
              <a:rPr spc="-850" dirty="0"/>
              <a:t>M</a:t>
            </a:r>
            <a:r>
              <a:rPr spc="65" dirty="0"/>
              <a:t>A</a:t>
            </a:r>
            <a:r>
              <a:rPr spc="-690" dirty="0"/>
              <a:t>N</a:t>
            </a:r>
            <a:r>
              <a:rPr spc="-650" dirty="0"/>
              <a:t>U</a:t>
            </a:r>
            <a:r>
              <a:rPr spc="65" dirty="0"/>
              <a:t>A</a:t>
            </a:r>
            <a:r>
              <a:rPr spc="-305" dirty="0"/>
              <a:t>L</a:t>
            </a:r>
            <a:r>
              <a:rPr spc="-210" dirty="0"/>
              <a:t> </a:t>
            </a:r>
            <a:r>
              <a:rPr spc="-675" dirty="0"/>
              <a:t>D</a:t>
            </a:r>
            <a:r>
              <a:rPr spc="50" dirty="0"/>
              <a:t>E</a:t>
            </a:r>
            <a:r>
              <a:rPr spc="-204" dirty="0"/>
              <a:t> </a:t>
            </a:r>
            <a:r>
              <a:rPr spc="-650" dirty="0"/>
              <a:t>U</a:t>
            </a:r>
            <a:r>
              <a:rPr spc="-114" dirty="0"/>
              <a:t>S</a:t>
            </a:r>
            <a:r>
              <a:rPr spc="-650" dirty="0"/>
              <a:t>U</a:t>
            </a:r>
            <a:r>
              <a:rPr spc="65" dirty="0"/>
              <a:t>A</a:t>
            </a:r>
            <a:r>
              <a:rPr spc="-265" dirty="0"/>
              <a:t>R</a:t>
            </a:r>
            <a:r>
              <a:rPr spc="-245" dirty="0"/>
              <a:t>I</a:t>
            </a:r>
            <a:r>
              <a:rPr spc="-475" dirty="0"/>
              <a:t>O</a:t>
            </a:r>
          </a:p>
        </p:txBody>
      </p:sp>
      <p:sp>
        <p:nvSpPr>
          <p:cNvPr id="7" name="object 7"/>
          <p:cNvSpPr txBox="1"/>
          <p:nvPr/>
        </p:nvSpPr>
        <p:spPr>
          <a:xfrm>
            <a:off x="588644" y="1823021"/>
            <a:ext cx="3068956" cy="1174681"/>
          </a:xfrm>
          <a:prstGeom prst="rect">
            <a:avLst/>
          </a:prstGeom>
        </p:spPr>
        <p:txBody>
          <a:bodyPr vert="horz" wrap="square" lIns="0" tIns="121920" rIns="0" bIns="0" rtlCol="0">
            <a:spAutoFit/>
          </a:bodyPr>
          <a:lstStyle/>
          <a:p>
            <a:pPr marL="241300" indent="-229235" algn="just">
              <a:lnSpc>
                <a:spcPct val="100000"/>
              </a:lnSpc>
              <a:spcBef>
                <a:spcPts val="960"/>
              </a:spcBef>
              <a:buClr>
                <a:srgbClr val="A9A47B"/>
              </a:buClr>
              <a:buFont typeface="Arial MT"/>
              <a:buChar char="•"/>
              <a:tabLst>
                <a:tab pos="241935" algn="l"/>
              </a:tabLst>
            </a:pPr>
            <a:r>
              <a:rPr sz="3600" b="1" spc="-5" dirty="0">
                <a:solidFill>
                  <a:srgbClr val="2E2B1F"/>
                </a:solidFill>
                <a:latin typeface="Calibri"/>
                <a:cs typeface="Calibri"/>
              </a:rPr>
              <a:t>Guía</a:t>
            </a:r>
            <a:r>
              <a:rPr sz="3600" b="1" spc="-30" dirty="0">
                <a:solidFill>
                  <a:srgbClr val="2E2B1F"/>
                </a:solidFill>
                <a:latin typeface="Calibri"/>
                <a:cs typeface="Calibri"/>
              </a:rPr>
              <a:t> </a:t>
            </a:r>
            <a:r>
              <a:rPr sz="3600" b="1" spc="5" dirty="0">
                <a:solidFill>
                  <a:srgbClr val="2E2B1F"/>
                </a:solidFill>
                <a:latin typeface="Calibri"/>
                <a:cs typeface="Calibri"/>
              </a:rPr>
              <a:t>de</a:t>
            </a:r>
            <a:r>
              <a:rPr sz="3600" b="1" spc="-30" dirty="0">
                <a:solidFill>
                  <a:srgbClr val="2E2B1F"/>
                </a:solidFill>
                <a:latin typeface="Calibri"/>
                <a:cs typeface="Calibri"/>
              </a:rPr>
              <a:t> </a:t>
            </a:r>
            <a:r>
              <a:rPr lang="es-CO" sz="3600" b="1" dirty="0">
                <a:solidFill>
                  <a:srgbClr val="2E2B1F"/>
                </a:solidFill>
                <a:latin typeface="Calibri"/>
                <a:cs typeface="Calibri"/>
              </a:rPr>
              <a:t>uso</a:t>
            </a:r>
            <a:r>
              <a:rPr sz="3600" b="1" dirty="0">
                <a:solidFill>
                  <a:srgbClr val="2E2B1F"/>
                </a:solidFill>
                <a:latin typeface="Calibri"/>
                <a:cs typeface="Calibri"/>
              </a:rPr>
              <a:t>:</a:t>
            </a:r>
            <a:endParaRPr lang="es-CO" sz="3600" b="1" dirty="0">
              <a:solidFill>
                <a:srgbClr val="2E2B1F"/>
              </a:solidFill>
              <a:latin typeface="Calibri"/>
              <a:cs typeface="Calibri"/>
            </a:endParaRPr>
          </a:p>
          <a:p>
            <a:pPr marL="241300" indent="-229235" algn="just">
              <a:lnSpc>
                <a:spcPct val="100000"/>
              </a:lnSpc>
              <a:spcBef>
                <a:spcPts val="960"/>
              </a:spcBef>
              <a:buClr>
                <a:srgbClr val="A9A47B"/>
              </a:buClr>
              <a:buFont typeface="Arial MT"/>
              <a:buChar char="•"/>
              <a:tabLst>
                <a:tab pos="241935" algn="l"/>
              </a:tabLst>
            </a:pPr>
            <a:r>
              <a:rPr lang="es-CO" sz="2400" b="1" dirty="0">
                <a:solidFill>
                  <a:srgbClr val="2E2B1F"/>
                </a:solidFill>
                <a:latin typeface="Calibri"/>
                <a:cs typeface="Calibri"/>
              </a:rPr>
              <a:t>Login.</a:t>
            </a:r>
          </a:p>
        </p:txBody>
      </p:sp>
      <p:sp>
        <p:nvSpPr>
          <p:cNvPr id="8" name="AutoShape 2" descr="blob:https://web.whatsapp.com/b8a4219b-13ff-4f1a-b071-c4fa28fd680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0" name="AutoShape 4" descr="blob:https://web.whatsapp.com/b8a4219b-13ff-4f1a-b071-c4fa28fd680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9" name="Imagen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898" y="3182367"/>
            <a:ext cx="7146414" cy="3589956"/>
          </a:xfrm>
          <a:prstGeom prst="rect">
            <a:avLst/>
          </a:prstGeom>
        </p:spPr>
      </p:pic>
      <p:sp>
        <p:nvSpPr>
          <p:cNvPr id="12" name="CuadroTexto 11"/>
          <p:cNvSpPr txBox="1"/>
          <p:nvPr/>
        </p:nvSpPr>
        <p:spPr>
          <a:xfrm>
            <a:off x="3894256" y="1784863"/>
            <a:ext cx="4191000" cy="1200329"/>
          </a:xfrm>
          <a:prstGeom prst="rect">
            <a:avLst/>
          </a:prstGeom>
          <a:noFill/>
        </p:spPr>
        <p:txBody>
          <a:bodyPr wrap="square" rtlCol="0">
            <a:spAutoFit/>
          </a:bodyPr>
          <a:lstStyle/>
          <a:p>
            <a:r>
              <a:rPr lang="es-CO" dirty="0"/>
              <a:t>Esta interfaz sirve para controlar el acceso de los usuarios al sistema de reservas de parqueaderos, garantizando seguridad y personalización del servicio.</a:t>
            </a:r>
          </a:p>
        </p:txBody>
      </p:sp>
    </p:spTree>
    <p:extLst>
      <p:ext uri="{BB962C8B-B14F-4D97-AF65-F5344CB8AC3E}">
        <p14:creationId xmlns:p14="http://schemas.microsoft.com/office/powerpoint/2010/main" val="38934189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4924"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1369949" y="445134"/>
            <a:ext cx="5808345" cy="756920"/>
          </a:xfrm>
          <a:prstGeom prst="rect">
            <a:avLst/>
          </a:prstGeom>
        </p:spPr>
        <p:txBody>
          <a:bodyPr vert="horz" wrap="square" lIns="0" tIns="12700" rIns="0" bIns="0" rtlCol="0">
            <a:spAutoFit/>
          </a:bodyPr>
          <a:lstStyle/>
          <a:p>
            <a:pPr marL="12700">
              <a:lnSpc>
                <a:spcPct val="100000"/>
              </a:lnSpc>
              <a:spcBef>
                <a:spcPts val="100"/>
              </a:spcBef>
            </a:pPr>
            <a:r>
              <a:rPr spc="-850" dirty="0"/>
              <a:t>M</a:t>
            </a:r>
            <a:r>
              <a:rPr spc="65" dirty="0"/>
              <a:t>A</a:t>
            </a:r>
            <a:r>
              <a:rPr spc="-690" dirty="0"/>
              <a:t>N</a:t>
            </a:r>
            <a:r>
              <a:rPr spc="-650" dirty="0"/>
              <a:t>U</a:t>
            </a:r>
            <a:r>
              <a:rPr spc="65" dirty="0"/>
              <a:t>A</a:t>
            </a:r>
            <a:r>
              <a:rPr spc="-305" dirty="0"/>
              <a:t>L</a:t>
            </a:r>
            <a:r>
              <a:rPr spc="-210" dirty="0"/>
              <a:t> </a:t>
            </a:r>
            <a:r>
              <a:rPr spc="-675" dirty="0"/>
              <a:t>D</a:t>
            </a:r>
            <a:r>
              <a:rPr spc="50" dirty="0"/>
              <a:t>E</a:t>
            </a:r>
            <a:r>
              <a:rPr spc="-204" dirty="0"/>
              <a:t> </a:t>
            </a:r>
            <a:r>
              <a:rPr spc="-650" dirty="0"/>
              <a:t>U</a:t>
            </a:r>
            <a:r>
              <a:rPr spc="-114" dirty="0"/>
              <a:t>S</a:t>
            </a:r>
            <a:r>
              <a:rPr spc="-650" dirty="0"/>
              <a:t>U</a:t>
            </a:r>
            <a:r>
              <a:rPr spc="65" dirty="0"/>
              <a:t>A</a:t>
            </a:r>
            <a:r>
              <a:rPr spc="-265" dirty="0"/>
              <a:t>R</a:t>
            </a:r>
            <a:r>
              <a:rPr spc="-245" dirty="0"/>
              <a:t>I</a:t>
            </a:r>
            <a:r>
              <a:rPr spc="-475" dirty="0"/>
              <a:t>O</a:t>
            </a:r>
          </a:p>
        </p:txBody>
      </p:sp>
      <p:sp>
        <p:nvSpPr>
          <p:cNvPr id="7" name="object 7"/>
          <p:cNvSpPr txBox="1"/>
          <p:nvPr/>
        </p:nvSpPr>
        <p:spPr>
          <a:xfrm>
            <a:off x="577151" y="1360165"/>
            <a:ext cx="7393940" cy="1174681"/>
          </a:xfrm>
          <a:prstGeom prst="rect">
            <a:avLst/>
          </a:prstGeom>
        </p:spPr>
        <p:txBody>
          <a:bodyPr vert="horz" wrap="square" lIns="0" tIns="121920" rIns="0" bIns="0" rtlCol="0">
            <a:spAutoFit/>
          </a:bodyPr>
          <a:lstStyle/>
          <a:p>
            <a:pPr marL="241300" indent="-229235" algn="just">
              <a:lnSpc>
                <a:spcPct val="100000"/>
              </a:lnSpc>
              <a:spcBef>
                <a:spcPts val="960"/>
              </a:spcBef>
              <a:buClr>
                <a:srgbClr val="A9A47B"/>
              </a:buClr>
              <a:buFont typeface="Arial MT"/>
              <a:buChar char="•"/>
              <a:tabLst>
                <a:tab pos="241935" algn="l"/>
              </a:tabLst>
            </a:pPr>
            <a:r>
              <a:rPr sz="3600" b="1" spc="-5" dirty="0">
                <a:solidFill>
                  <a:srgbClr val="2E2B1F"/>
                </a:solidFill>
                <a:latin typeface="Calibri"/>
                <a:cs typeface="Calibri"/>
              </a:rPr>
              <a:t>Guía</a:t>
            </a:r>
            <a:r>
              <a:rPr sz="3600" b="1" spc="-30" dirty="0">
                <a:solidFill>
                  <a:srgbClr val="2E2B1F"/>
                </a:solidFill>
                <a:latin typeface="Calibri"/>
                <a:cs typeface="Calibri"/>
              </a:rPr>
              <a:t> </a:t>
            </a:r>
            <a:r>
              <a:rPr sz="3600" b="1" spc="5" dirty="0">
                <a:solidFill>
                  <a:srgbClr val="2E2B1F"/>
                </a:solidFill>
                <a:latin typeface="Calibri"/>
                <a:cs typeface="Calibri"/>
              </a:rPr>
              <a:t>de</a:t>
            </a:r>
            <a:r>
              <a:rPr sz="3600" b="1" spc="-30" dirty="0">
                <a:solidFill>
                  <a:srgbClr val="2E2B1F"/>
                </a:solidFill>
                <a:latin typeface="Calibri"/>
                <a:cs typeface="Calibri"/>
              </a:rPr>
              <a:t> </a:t>
            </a:r>
            <a:r>
              <a:rPr lang="es-CO" sz="3600" b="1" dirty="0">
                <a:solidFill>
                  <a:srgbClr val="2E2B1F"/>
                </a:solidFill>
                <a:latin typeface="Calibri"/>
                <a:cs typeface="Calibri"/>
              </a:rPr>
              <a:t>uso</a:t>
            </a:r>
            <a:r>
              <a:rPr sz="3600" b="1" dirty="0">
                <a:solidFill>
                  <a:srgbClr val="2E2B1F"/>
                </a:solidFill>
                <a:latin typeface="Calibri"/>
                <a:cs typeface="Calibri"/>
              </a:rPr>
              <a:t>:</a:t>
            </a:r>
            <a:endParaRPr lang="es-CO" sz="3600" b="1" dirty="0">
              <a:solidFill>
                <a:srgbClr val="2E2B1F"/>
              </a:solidFill>
              <a:latin typeface="Calibri"/>
              <a:cs typeface="Calibri"/>
            </a:endParaRPr>
          </a:p>
          <a:p>
            <a:pPr marL="241300" indent="-229235" algn="just">
              <a:lnSpc>
                <a:spcPct val="100000"/>
              </a:lnSpc>
              <a:spcBef>
                <a:spcPts val="960"/>
              </a:spcBef>
              <a:buClr>
                <a:srgbClr val="A9A47B"/>
              </a:buClr>
              <a:buFont typeface="Arial MT"/>
              <a:buChar char="•"/>
              <a:tabLst>
                <a:tab pos="241935" algn="l"/>
              </a:tabLst>
            </a:pPr>
            <a:r>
              <a:rPr lang="es-CO" sz="2400" b="1" dirty="0">
                <a:solidFill>
                  <a:srgbClr val="2E2B1F"/>
                </a:solidFill>
                <a:latin typeface="Calibri"/>
                <a:cs typeface="Calibri"/>
              </a:rPr>
              <a:t>Interfaz - usuario.</a:t>
            </a:r>
          </a:p>
        </p:txBody>
      </p:sp>
      <p:sp>
        <p:nvSpPr>
          <p:cNvPr id="8" name="AutoShape 2" descr="blob:https://web.whatsapp.com/b8a4219b-13ff-4f1a-b071-c4fa28fd680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0" name="AutoShape 4" descr="blob:https://web.whatsapp.com/b8a4219b-13ff-4f1a-b071-c4fa28fd680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11" name="Imagen 10"/>
          <p:cNvPicPr>
            <a:picLocks noChangeAspect="1"/>
          </p:cNvPicPr>
          <p:nvPr/>
        </p:nvPicPr>
        <p:blipFill>
          <a:blip r:embed="rId3">
            <a:extLst>
              <a:ext uri="{28A0092B-C50C-407E-A947-70E740481C1C}">
                <a14:useLocalDpi xmlns:a14="http://schemas.microsoft.com/office/drawing/2010/main" val="0"/>
              </a:ext>
            </a:extLst>
          </a:blip>
          <a:srcRect/>
          <a:stretch/>
        </p:blipFill>
        <p:spPr>
          <a:xfrm>
            <a:off x="298989" y="2926214"/>
            <a:ext cx="7664141" cy="3695616"/>
          </a:xfrm>
          <a:prstGeom prst="rect">
            <a:avLst/>
          </a:prstGeom>
        </p:spPr>
      </p:pic>
      <p:sp>
        <p:nvSpPr>
          <p:cNvPr id="12" name="CuadroTexto 11"/>
          <p:cNvSpPr txBox="1"/>
          <p:nvPr/>
        </p:nvSpPr>
        <p:spPr>
          <a:xfrm>
            <a:off x="3931003" y="1535002"/>
            <a:ext cx="4267200" cy="1200329"/>
          </a:xfrm>
          <a:prstGeom prst="rect">
            <a:avLst/>
          </a:prstGeom>
          <a:noFill/>
        </p:spPr>
        <p:txBody>
          <a:bodyPr wrap="square" rtlCol="0">
            <a:spAutoFit/>
          </a:bodyPr>
          <a:lstStyle/>
          <a:p>
            <a:r>
              <a:rPr lang="es-CO" dirty="0"/>
              <a:t>Esta interfaz funciona como el centro de control del usuario, desde donde administra su cuenta y reservas de parqueadero.</a:t>
            </a:r>
          </a:p>
        </p:txBody>
      </p:sp>
    </p:spTree>
    <p:extLst>
      <p:ext uri="{BB962C8B-B14F-4D97-AF65-F5344CB8AC3E}">
        <p14:creationId xmlns:p14="http://schemas.microsoft.com/office/powerpoint/2010/main" val="332197071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4924"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1369949" y="445134"/>
            <a:ext cx="5808345" cy="756920"/>
          </a:xfrm>
          <a:prstGeom prst="rect">
            <a:avLst/>
          </a:prstGeom>
        </p:spPr>
        <p:txBody>
          <a:bodyPr vert="horz" wrap="square" lIns="0" tIns="12700" rIns="0" bIns="0" rtlCol="0">
            <a:spAutoFit/>
          </a:bodyPr>
          <a:lstStyle/>
          <a:p>
            <a:pPr marL="12700">
              <a:lnSpc>
                <a:spcPct val="100000"/>
              </a:lnSpc>
              <a:spcBef>
                <a:spcPts val="100"/>
              </a:spcBef>
            </a:pPr>
            <a:r>
              <a:rPr spc="-850" dirty="0"/>
              <a:t>M</a:t>
            </a:r>
            <a:r>
              <a:rPr spc="65" dirty="0"/>
              <a:t>A</a:t>
            </a:r>
            <a:r>
              <a:rPr spc="-690" dirty="0"/>
              <a:t>N</a:t>
            </a:r>
            <a:r>
              <a:rPr spc="-650" dirty="0"/>
              <a:t>U</a:t>
            </a:r>
            <a:r>
              <a:rPr spc="65" dirty="0"/>
              <a:t>A</a:t>
            </a:r>
            <a:r>
              <a:rPr spc="-305" dirty="0"/>
              <a:t>L</a:t>
            </a:r>
            <a:r>
              <a:rPr spc="-210" dirty="0"/>
              <a:t> </a:t>
            </a:r>
            <a:r>
              <a:rPr spc="-675" dirty="0"/>
              <a:t>D</a:t>
            </a:r>
            <a:r>
              <a:rPr spc="50" dirty="0"/>
              <a:t>E</a:t>
            </a:r>
            <a:r>
              <a:rPr spc="-204" dirty="0"/>
              <a:t> </a:t>
            </a:r>
            <a:r>
              <a:rPr spc="-650" dirty="0"/>
              <a:t>U</a:t>
            </a:r>
            <a:r>
              <a:rPr spc="-114" dirty="0"/>
              <a:t>S</a:t>
            </a:r>
            <a:r>
              <a:rPr spc="-650" dirty="0"/>
              <a:t>U</a:t>
            </a:r>
            <a:r>
              <a:rPr spc="65" dirty="0"/>
              <a:t>A</a:t>
            </a:r>
            <a:r>
              <a:rPr spc="-265" dirty="0"/>
              <a:t>R</a:t>
            </a:r>
            <a:r>
              <a:rPr spc="-245" dirty="0"/>
              <a:t>I</a:t>
            </a:r>
            <a:r>
              <a:rPr spc="-475" dirty="0"/>
              <a:t>O</a:t>
            </a:r>
          </a:p>
        </p:txBody>
      </p:sp>
      <p:sp>
        <p:nvSpPr>
          <p:cNvPr id="7" name="object 7"/>
          <p:cNvSpPr txBox="1"/>
          <p:nvPr/>
        </p:nvSpPr>
        <p:spPr>
          <a:xfrm>
            <a:off x="577151" y="1360165"/>
            <a:ext cx="7393940" cy="1174681"/>
          </a:xfrm>
          <a:prstGeom prst="rect">
            <a:avLst/>
          </a:prstGeom>
        </p:spPr>
        <p:txBody>
          <a:bodyPr vert="horz" wrap="square" lIns="0" tIns="121920" rIns="0" bIns="0" rtlCol="0">
            <a:spAutoFit/>
          </a:bodyPr>
          <a:lstStyle/>
          <a:p>
            <a:pPr marL="241300" indent="-229235" algn="just">
              <a:lnSpc>
                <a:spcPct val="100000"/>
              </a:lnSpc>
              <a:spcBef>
                <a:spcPts val="960"/>
              </a:spcBef>
              <a:buClr>
                <a:srgbClr val="A9A47B"/>
              </a:buClr>
              <a:buFont typeface="Arial MT"/>
              <a:buChar char="•"/>
              <a:tabLst>
                <a:tab pos="241935" algn="l"/>
              </a:tabLst>
            </a:pPr>
            <a:r>
              <a:rPr sz="3600" b="1" spc="-5" dirty="0">
                <a:solidFill>
                  <a:srgbClr val="2E2B1F"/>
                </a:solidFill>
                <a:latin typeface="Calibri"/>
                <a:cs typeface="Calibri"/>
              </a:rPr>
              <a:t>Guía</a:t>
            </a:r>
            <a:r>
              <a:rPr sz="3600" b="1" spc="-30" dirty="0">
                <a:solidFill>
                  <a:srgbClr val="2E2B1F"/>
                </a:solidFill>
                <a:latin typeface="Calibri"/>
                <a:cs typeface="Calibri"/>
              </a:rPr>
              <a:t> </a:t>
            </a:r>
            <a:r>
              <a:rPr sz="3600" b="1" spc="5" dirty="0">
                <a:solidFill>
                  <a:srgbClr val="2E2B1F"/>
                </a:solidFill>
                <a:latin typeface="Calibri"/>
                <a:cs typeface="Calibri"/>
              </a:rPr>
              <a:t>de</a:t>
            </a:r>
            <a:r>
              <a:rPr sz="3600" b="1" spc="-30" dirty="0">
                <a:solidFill>
                  <a:srgbClr val="2E2B1F"/>
                </a:solidFill>
                <a:latin typeface="Calibri"/>
                <a:cs typeface="Calibri"/>
              </a:rPr>
              <a:t> </a:t>
            </a:r>
            <a:r>
              <a:rPr lang="es-CO" sz="3600" b="1" dirty="0">
                <a:solidFill>
                  <a:srgbClr val="2E2B1F"/>
                </a:solidFill>
                <a:latin typeface="Calibri"/>
                <a:cs typeface="Calibri"/>
              </a:rPr>
              <a:t>uso</a:t>
            </a:r>
            <a:r>
              <a:rPr sz="3600" b="1" dirty="0">
                <a:solidFill>
                  <a:srgbClr val="2E2B1F"/>
                </a:solidFill>
                <a:latin typeface="Calibri"/>
                <a:cs typeface="Calibri"/>
              </a:rPr>
              <a:t>:</a:t>
            </a:r>
            <a:endParaRPr lang="es-CO" sz="3600" b="1" dirty="0">
              <a:solidFill>
                <a:srgbClr val="2E2B1F"/>
              </a:solidFill>
              <a:latin typeface="Calibri"/>
              <a:cs typeface="Calibri"/>
            </a:endParaRPr>
          </a:p>
          <a:p>
            <a:pPr marL="241300" indent="-229235" algn="just">
              <a:lnSpc>
                <a:spcPct val="100000"/>
              </a:lnSpc>
              <a:spcBef>
                <a:spcPts val="960"/>
              </a:spcBef>
              <a:buClr>
                <a:srgbClr val="A9A47B"/>
              </a:buClr>
              <a:buFont typeface="Arial MT"/>
              <a:buChar char="•"/>
              <a:tabLst>
                <a:tab pos="241935" algn="l"/>
              </a:tabLst>
            </a:pPr>
            <a:r>
              <a:rPr lang="es-CO" sz="2400" b="1" dirty="0">
                <a:solidFill>
                  <a:srgbClr val="2E2B1F"/>
                </a:solidFill>
                <a:latin typeface="Calibri"/>
                <a:cs typeface="Calibri"/>
              </a:rPr>
              <a:t>Interfaz - administrador.</a:t>
            </a:r>
          </a:p>
        </p:txBody>
      </p:sp>
      <p:sp>
        <p:nvSpPr>
          <p:cNvPr id="8" name="AutoShape 2" descr="blob:https://web.whatsapp.com/b8a4219b-13ff-4f1a-b071-c4fa28fd680c"/>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sp>
        <p:nvSpPr>
          <p:cNvPr id="10" name="AutoShape 4" descr="blob:https://web.whatsapp.com/b8a4219b-13ff-4f1a-b071-c4fa28fd680c"/>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9" name="Imagen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151" y="2863974"/>
            <a:ext cx="7620000" cy="3792141"/>
          </a:xfrm>
          <a:prstGeom prst="rect">
            <a:avLst/>
          </a:prstGeom>
        </p:spPr>
      </p:pic>
      <p:sp>
        <p:nvSpPr>
          <p:cNvPr id="12" name="CuadroTexto 11"/>
          <p:cNvSpPr txBox="1"/>
          <p:nvPr/>
        </p:nvSpPr>
        <p:spPr>
          <a:xfrm>
            <a:off x="4225338" y="1386646"/>
            <a:ext cx="3863816" cy="1477328"/>
          </a:xfrm>
          <a:prstGeom prst="rect">
            <a:avLst/>
          </a:prstGeom>
          <a:noFill/>
        </p:spPr>
        <p:txBody>
          <a:bodyPr wrap="square" rtlCol="0">
            <a:spAutoFit/>
          </a:bodyPr>
          <a:lstStyle/>
          <a:p>
            <a:r>
              <a:rPr lang="es-CO" dirty="0"/>
              <a:t>Esta interfaz funciona como el centro de control administrativo, desde donde se supervisa y gestiona todo el sistema de parqueaderos, garantizando su correcto funcionamiento.</a:t>
            </a:r>
          </a:p>
        </p:txBody>
      </p:sp>
    </p:spTree>
    <p:extLst>
      <p:ext uri="{BB962C8B-B14F-4D97-AF65-F5344CB8AC3E}">
        <p14:creationId xmlns:p14="http://schemas.microsoft.com/office/powerpoint/2010/main" val="215247578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8458200" y="0"/>
              <a:ext cx="685800" cy="6858000"/>
            </a:xfrm>
            <a:custGeom>
              <a:avLst/>
              <a:gdLst/>
              <a:ahLst/>
              <a:cxnLst/>
              <a:rect l="l" t="t" r="r" b="b"/>
              <a:pathLst>
                <a:path w="685800" h="6858000">
                  <a:moveTo>
                    <a:pt x="685800" y="6172200"/>
                  </a:moveTo>
                  <a:lnTo>
                    <a:pt x="0" y="6172200"/>
                  </a:lnTo>
                  <a:lnTo>
                    <a:pt x="0" y="6858000"/>
                  </a:lnTo>
                  <a:lnTo>
                    <a:pt x="685800" y="6858000"/>
                  </a:lnTo>
                  <a:lnTo>
                    <a:pt x="685800" y="6172200"/>
                  </a:lnTo>
                  <a:close/>
                </a:path>
                <a:path w="685800" h="6858000">
                  <a:moveTo>
                    <a:pt x="685800" y="0"/>
                  </a:moveTo>
                  <a:lnTo>
                    <a:pt x="0" y="0"/>
                  </a:lnTo>
                  <a:lnTo>
                    <a:pt x="0" y="5486400"/>
                  </a:lnTo>
                  <a:lnTo>
                    <a:pt x="685800" y="5486400"/>
                  </a:lnTo>
                  <a:lnTo>
                    <a:pt x="685800" y="0"/>
                  </a:lnTo>
                  <a:close/>
                </a:path>
              </a:pathLst>
            </a:custGeom>
            <a:solidFill>
              <a:srgbClr val="675E46"/>
            </a:solidFill>
          </p:spPr>
          <p:txBody>
            <a:bodyPr wrap="square" lIns="0" tIns="0" rIns="0" bIns="0" rtlCol="0"/>
            <a:lstStyle/>
            <a:p>
              <a:endParaRPr/>
            </a:p>
          </p:txBody>
        </p:sp>
        <p:sp>
          <p:nvSpPr>
            <p:cNvPr id="5" name="object 5"/>
            <p:cNvSpPr/>
            <p:nvPr/>
          </p:nvSpPr>
          <p:spPr>
            <a:xfrm>
              <a:off x="8458200" y="5486399"/>
              <a:ext cx="685800" cy="685800"/>
            </a:xfrm>
            <a:custGeom>
              <a:avLst/>
              <a:gdLst/>
              <a:ahLst/>
              <a:cxnLst/>
              <a:rect l="l" t="t" r="r" b="b"/>
              <a:pathLst>
                <a:path w="685800" h="685800">
                  <a:moveTo>
                    <a:pt x="685800" y="0"/>
                  </a:moveTo>
                  <a:lnTo>
                    <a:pt x="0" y="0"/>
                  </a:lnTo>
                  <a:lnTo>
                    <a:pt x="0" y="685800"/>
                  </a:lnTo>
                  <a:lnTo>
                    <a:pt x="685800" y="685800"/>
                  </a:lnTo>
                  <a:lnTo>
                    <a:pt x="685800" y="0"/>
                  </a:lnTo>
                  <a:close/>
                </a:path>
              </a:pathLst>
            </a:custGeom>
            <a:solidFill>
              <a:srgbClr val="A9A47B"/>
            </a:solidFill>
          </p:spPr>
          <p:txBody>
            <a:bodyPr wrap="square" lIns="0" tIns="0" rIns="0" bIns="0" rtlCol="0"/>
            <a:lstStyle/>
            <a:p>
              <a:endParaRPr/>
            </a:p>
          </p:txBody>
        </p:sp>
      </p:grpSp>
      <p:sp>
        <p:nvSpPr>
          <p:cNvPr id="6" name="object 6"/>
          <p:cNvSpPr txBox="1">
            <a:spLocks noGrp="1"/>
          </p:cNvSpPr>
          <p:nvPr>
            <p:ph type="title"/>
          </p:nvPr>
        </p:nvSpPr>
        <p:spPr>
          <a:xfrm>
            <a:off x="1618869" y="478154"/>
            <a:ext cx="5308600" cy="695960"/>
          </a:xfrm>
          <a:prstGeom prst="rect">
            <a:avLst/>
          </a:prstGeom>
        </p:spPr>
        <p:txBody>
          <a:bodyPr vert="horz" wrap="square" lIns="0" tIns="12700" rIns="0" bIns="0" rtlCol="0">
            <a:spAutoFit/>
          </a:bodyPr>
          <a:lstStyle/>
          <a:p>
            <a:pPr marL="12700">
              <a:lnSpc>
                <a:spcPct val="100000"/>
              </a:lnSpc>
              <a:spcBef>
                <a:spcPts val="100"/>
              </a:spcBef>
            </a:pPr>
            <a:r>
              <a:rPr sz="4400" spc="-795" dirty="0"/>
              <a:t>M</a:t>
            </a:r>
            <a:r>
              <a:rPr sz="4400" spc="55" dirty="0"/>
              <a:t>A</a:t>
            </a:r>
            <a:r>
              <a:rPr sz="4400" spc="-640" dirty="0"/>
              <a:t>N</a:t>
            </a:r>
            <a:r>
              <a:rPr sz="4400" spc="-600" dirty="0"/>
              <a:t>U</a:t>
            </a:r>
            <a:r>
              <a:rPr sz="4400" spc="55" dirty="0"/>
              <a:t>A</a:t>
            </a:r>
            <a:r>
              <a:rPr sz="4400" spc="-280" dirty="0"/>
              <a:t>L</a:t>
            </a:r>
            <a:r>
              <a:rPr sz="4400" spc="-250" dirty="0"/>
              <a:t> </a:t>
            </a:r>
            <a:r>
              <a:rPr sz="4400" spc="-620" dirty="0"/>
              <a:t>D</a:t>
            </a:r>
            <a:r>
              <a:rPr sz="4400" spc="45" dirty="0"/>
              <a:t>E</a:t>
            </a:r>
            <a:r>
              <a:rPr sz="4400" spc="-200" dirty="0"/>
              <a:t> </a:t>
            </a:r>
            <a:r>
              <a:rPr sz="4400" spc="-600" dirty="0"/>
              <a:t>U</a:t>
            </a:r>
            <a:r>
              <a:rPr sz="4400" spc="-110" dirty="0"/>
              <a:t>S</a:t>
            </a:r>
            <a:r>
              <a:rPr sz="4400" spc="-600" dirty="0"/>
              <a:t>U</a:t>
            </a:r>
            <a:r>
              <a:rPr sz="4400" spc="55" dirty="0"/>
              <a:t>A</a:t>
            </a:r>
            <a:r>
              <a:rPr sz="4400" spc="-235" dirty="0"/>
              <a:t>R</a:t>
            </a:r>
            <a:r>
              <a:rPr sz="4400" spc="-229" dirty="0"/>
              <a:t>I</a:t>
            </a:r>
            <a:r>
              <a:rPr sz="4400" spc="-434" dirty="0"/>
              <a:t>O</a:t>
            </a:r>
            <a:endParaRPr sz="4400"/>
          </a:p>
        </p:txBody>
      </p:sp>
      <p:sp>
        <p:nvSpPr>
          <p:cNvPr id="7" name="object 7"/>
          <p:cNvSpPr txBox="1"/>
          <p:nvPr/>
        </p:nvSpPr>
        <p:spPr>
          <a:xfrm>
            <a:off x="660717" y="1679459"/>
            <a:ext cx="7391400" cy="2892458"/>
          </a:xfrm>
          <a:prstGeom prst="rect">
            <a:avLst/>
          </a:prstGeom>
        </p:spPr>
        <p:txBody>
          <a:bodyPr vert="horz" wrap="square" lIns="0" tIns="121285" rIns="0" bIns="0" rtlCol="0">
            <a:spAutoFit/>
          </a:bodyPr>
          <a:lstStyle/>
          <a:p>
            <a:pPr marL="241300" indent="-228600" algn="just">
              <a:lnSpc>
                <a:spcPct val="100000"/>
              </a:lnSpc>
              <a:spcBef>
                <a:spcPts val="955"/>
              </a:spcBef>
              <a:buClr>
                <a:srgbClr val="A9A47B"/>
              </a:buClr>
              <a:buFont typeface="Arial MT"/>
              <a:buChar char="•"/>
              <a:tabLst>
                <a:tab pos="241300" algn="l"/>
              </a:tabLst>
            </a:pPr>
            <a:r>
              <a:rPr lang="es-CO" sz="3600" b="1" dirty="0">
                <a:solidFill>
                  <a:srgbClr val="2E2B1F"/>
                </a:solidFill>
                <a:latin typeface="Calibri"/>
                <a:cs typeface="Calibri"/>
              </a:rPr>
              <a:t>Resultados esperados.</a:t>
            </a:r>
            <a:endParaRPr lang="es-CO" sz="3600" b="1" spc="-10" dirty="0">
              <a:solidFill>
                <a:srgbClr val="2E2B1F"/>
              </a:solidFill>
              <a:latin typeface="Calibri"/>
              <a:cs typeface="Calibri"/>
            </a:endParaRPr>
          </a:p>
          <a:p>
            <a:pPr marL="457200" indent="-457200">
              <a:buFont typeface="+mj-lt"/>
              <a:buAutoNum type="arabicPeriod"/>
            </a:pPr>
            <a:r>
              <a:rPr lang="es-CO" sz="2400" dirty="0"/>
              <a:t>MVP funcional con reservas y mapas.</a:t>
            </a:r>
          </a:p>
          <a:p>
            <a:pPr marL="457200" indent="-457200">
              <a:buFont typeface="+mj-lt"/>
              <a:buAutoNum type="arabicPeriod"/>
            </a:pPr>
            <a:r>
              <a:rPr lang="es-CO" sz="2400" dirty="0"/>
              <a:t>Reducción del 15% en tiempo promedio de búsqueda de parqueo.</a:t>
            </a:r>
          </a:p>
          <a:p>
            <a:pPr marL="457200" indent="-457200">
              <a:buFont typeface="+mj-lt"/>
              <a:buAutoNum type="arabicPeriod"/>
            </a:pPr>
            <a:r>
              <a:rPr lang="es-CO" sz="2400" dirty="0"/>
              <a:t>Documentación técnica y manual de usuario.</a:t>
            </a:r>
          </a:p>
          <a:p>
            <a:pPr marL="457200" indent="-457200">
              <a:buFont typeface="+mj-lt"/>
              <a:buAutoNum type="arabicPeriod"/>
            </a:pPr>
            <a:r>
              <a:rPr lang="es-CO" sz="2400" dirty="0"/>
              <a:t>Escalabilidad para integración con transporte público (Metro de Medellín).</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223</TotalTime>
  <Words>524</Words>
  <Application>Microsoft Office PowerPoint</Application>
  <PresentationFormat>Presentación en pantalla (4:3)</PresentationFormat>
  <Paragraphs>64</Paragraphs>
  <Slides>14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Arial</vt:lpstr>
      <vt:lpstr>Arial MT</vt:lpstr>
      <vt:lpstr>Calibri</vt:lpstr>
      <vt:lpstr>Times New Roman</vt:lpstr>
      <vt:lpstr>Office Theme</vt:lpstr>
      <vt:lpstr>Presentación de PowerPoint</vt:lpstr>
      <vt:lpstr>MANUAL DE USUARIO</vt:lpstr>
      <vt:lpstr>MANUAL DE USUARIO</vt:lpstr>
      <vt:lpstr>MANUAL DE USUARIO</vt:lpstr>
      <vt:lpstr>MANUAL DE USUARIO</vt:lpstr>
      <vt:lpstr>MANUAL DE USUARIO</vt:lpstr>
      <vt:lpstr>MANUAL DE USUARIO</vt:lpstr>
      <vt:lpstr>MANUAL DE USUARIO</vt:lpstr>
      <vt:lpstr>MANUAL DE USUARIO</vt:lpstr>
      <vt:lpstr>MANUAL DE USUARIO</vt:lpstr>
      <vt:lpstr>MANUAL DE USUARIO</vt:lpstr>
      <vt:lpstr>MANUAL DE USUARIO</vt:lpstr>
      <vt:lpstr>MANUAL DE USUARIO</vt:lpstr>
      <vt:lpstr>MANUAL DE USUARIO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MANUALES DE USUARIO Y TECNICO</dc:title>
  <dc:creator>Keyser Soze</dc:creator>
  <cp:lastModifiedBy>Sr Alukard</cp:lastModifiedBy>
  <cp:revision>20</cp:revision>
  <dcterms:created xsi:type="dcterms:W3CDTF">2022-05-05T02:24:56Z</dcterms:created>
  <dcterms:modified xsi:type="dcterms:W3CDTF">2025-11-27T00:35:10Z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2017-08-27T00:00:00Z</vt:filetime>
  </property>
  <property fmtid="{D5CDD505-2E9C-101B-9397-08002B2CF9AE}" pid="3" name="Creator">
    <vt:lpwstr>Microsoft® PowerPoint® 2010</vt:lpwstr>
  </property>
  <property fmtid="{D5CDD505-2E9C-101B-9397-08002B2CF9AE}" pid="4" name="LastSaved">
    <vt:filetime>2022-05-05T00:00:00Z</vt:filetime>
  </property>
</Properties>
</file>