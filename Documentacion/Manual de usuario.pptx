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58" r:id="rId3"/>
    <p:sldId id="259" r:id="rId4"/>
    <p:sldId id="273" r:id="rId5"/>
    <p:sldId id="282" r:id="rId6"/>
    <p:sldId id="281" r:id="rId7"/>
    <p:sldId id="272" r:id="rId8"/>
    <p:sldId id="260" r:id="rId9"/>
    <p:sldId id="274" r:id="rId10"/>
    <p:sldId id="261" r:id="rId11"/>
    <p:sldId id="278" r:id="rId12"/>
    <p:sldId id="279" r:id="rId13"/>
    <p:sldId id="280" r:id="rId14"/>
    <p:sldId id="262" r:id="rId15"/>
  </p:sldIdLst>
  <p:sldSz cx="9144000" cy="6858000" type="screen4x3"/>
  <p:notesSz cx="9144000" cy="6858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p:cViewPr varScale="1">
        <p:scale>
          <a:sx n="73" d="100"/>
          <a:sy n="73" d="100"/>
        </p:scale>
        <p:origin x="1296" y="66"/>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685800" y="2125980"/>
            <a:ext cx="77724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371600" y="3840480"/>
            <a:ext cx="64008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11/26/2025</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4800" b="0" i="0">
                <a:solidFill>
                  <a:srgbClr val="675E46"/>
                </a:solidFill>
                <a:latin typeface="Times New Roman"/>
                <a:cs typeface="Times New Roman"/>
              </a:defRPr>
            </a:lvl1pPr>
          </a:lstStyle>
          <a:p>
            <a:endParaRPr/>
          </a:p>
        </p:txBody>
      </p:sp>
      <p:sp>
        <p:nvSpPr>
          <p:cNvPr id="3" name="Holder 3"/>
          <p:cNvSpPr>
            <a:spLocks noGrp="1"/>
          </p:cNvSpPr>
          <p:nvPr>
            <p:ph type="body" idx="1"/>
          </p:nvPr>
        </p:nvSpPr>
        <p:spPr/>
        <p:txBody>
          <a:bodyPr lIns="0" tIns="0" rIns="0" bIns="0"/>
          <a:lstStyle>
            <a:lvl1pPr>
              <a:defRPr sz="3200" b="1" i="0">
                <a:solidFill>
                  <a:srgbClr val="2E2B1F"/>
                </a:solidFill>
                <a:latin typeface="Calibri"/>
                <a:cs typeface="Calibri"/>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11/26/2025</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4800" b="0" i="0">
                <a:solidFill>
                  <a:srgbClr val="675E46"/>
                </a:solidFill>
                <a:latin typeface="Times New Roman"/>
                <a:cs typeface="Times New Roman"/>
              </a:defRPr>
            </a:lvl1pPr>
          </a:lstStyle>
          <a:p>
            <a:endParaRPr/>
          </a:p>
        </p:txBody>
      </p:sp>
      <p:sp>
        <p:nvSpPr>
          <p:cNvPr id="3" name="Holder 3"/>
          <p:cNvSpPr>
            <a:spLocks noGrp="1"/>
          </p:cNvSpPr>
          <p:nvPr>
            <p:ph sz="half" idx="2"/>
          </p:nvPr>
        </p:nvSpPr>
        <p:spPr>
          <a:xfrm>
            <a:off x="457200" y="1577340"/>
            <a:ext cx="397764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577340"/>
            <a:ext cx="397764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11/26/2025</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4800" b="0" i="0">
                <a:solidFill>
                  <a:srgbClr val="675E46"/>
                </a:solidFill>
                <a:latin typeface="Times New Roman"/>
                <a:cs typeface="Times New Roman"/>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11/26/2025</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11/26/2025</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1860550" y="445134"/>
            <a:ext cx="5422900" cy="756919"/>
          </a:xfrm>
          <a:prstGeom prst="rect">
            <a:avLst/>
          </a:prstGeom>
        </p:spPr>
        <p:txBody>
          <a:bodyPr wrap="square" lIns="0" tIns="0" rIns="0" bIns="0">
            <a:spAutoFit/>
          </a:bodyPr>
          <a:lstStyle>
            <a:lvl1pPr>
              <a:defRPr sz="4800" b="0" i="0">
                <a:solidFill>
                  <a:srgbClr val="675E46"/>
                </a:solidFill>
                <a:latin typeface="Times New Roman"/>
                <a:cs typeface="Times New Roman"/>
              </a:defRPr>
            </a:lvl1pPr>
          </a:lstStyle>
          <a:p>
            <a:endParaRPr/>
          </a:p>
        </p:txBody>
      </p:sp>
      <p:sp>
        <p:nvSpPr>
          <p:cNvPr id="3" name="Holder 3"/>
          <p:cNvSpPr>
            <a:spLocks noGrp="1"/>
          </p:cNvSpPr>
          <p:nvPr>
            <p:ph type="body" idx="1"/>
          </p:nvPr>
        </p:nvSpPr>
        <p:spPr>
          <a:xfrm>
            <a:off x="330517" y="1618501"/>
            <a:ext cx="7722234" cy="1687195"/>
          </a:xfrm>
          <a:prstGeom prst="rect">
            <a:avLst/>
          </a:prstGeom>
        </p:spPr>
        <p:txBody>
          <a:bodyPr wrap="square" lIns="0" tIns="0" rIns="0" bIns="0">
            <a:spAutoFit/>
          </a:bodyPr>
          <a:lstStyle>
            <a:lvl1pPr>
              <a:defRPr sz="3200" b="1" i="0">
                <a:solidFill>
                  <a:srgbClr val="2E2B1F"/>
                </a:solidFill>
                <a:latin typeface="Calibri"/>
                <a:cs typeface="Calibri"/>
              </a:defRPr>
            </a:lvl1pPr>
          </a:lstStyle>
          <a:p>
            <a:endParaRPr/>
          </a:p>
        </p:txBody>
      </p:sp>
      <p:sp>
        <p:nvSpPr>
          <p:cNvPr id="4" name="Holder 4"/>
          <p:cNvSpPr>
            <a:spLocks noGrp="1"/>
          </p:cNvSpPr>
          <p:nvPr>
            <p:ph type="ftr" sz="quarter" idx="5"/>
          </p:nvPr>
        </p:nvSpPr>
        <p:spPr>
          <a:xfrm>
            <a:off x="3108960" y="6377940"/>
            <a:ext cx="2926080" cy="342900"/>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457200" y="6377940"/>
            <a:ext cx="210312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11/26/2025</a:t>
            </a:fld>
            <a:endParaRPr lang="en-US"/>
          </a:p>
        </p:txBody>
      </p:sp>
      <p:sp>
        <p:nvSpPr>
          <p:cNvPr id="6" name="Holder 6"/>
          <p:cNvSpPr>
            <a:spLocks noGrp="1"/>
          </p:cNvSpPr>
          <p:nvPr>
            <p:ph type="sldNum" sz="quarter" idx="7"/>
          </p:nvPr>
        </p:nvSpPr>
        <p:spPr>
          <a:xfrm>
            <a:off x="6583680" y="6377940"/>
            <a:ext cx="210312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0" y="0"/>
            <a:ext cx="9144000" cy="6858000"/>
            <a:chOff x="0" y="0"/>
            <a:chExt cx="9144000" cy="6858000"/>
          </a:xfrm>
        </p:grpSpPr>
        <p:pic>
          <p:nvPicPr>
            <p:cNvPr id="3" name="object 3"/>
            <p:cNvPicPr/>
            <p:nvPr/>
          </p:nvPicPr>
          <p:blipFill>
            <a:blip r:embed="rId2" cstate="print"/>
            <a:stretch>
              <a:fillRect/>
            </a:stretch>
          </p:blipFill>
          <p:spPr>
            <a:xfrm>
              <a:off x="0" y="0"/>
              <a:ext cx="9144000" cy="6858000"/>
            </a:xfrm>
            <a:prstGeom prst="rect">
              <a:avLst/>
            </a:prstGeom>
          </p:spPr>
        </p:pic>
        <p:sp>
          <p:nvSpPr>
            <p:cNvPr id="4" name="object 4"/>
            <p:cNvSpPr/>
            <p:nvPr/>
          </p:nvSpPr>
          <p:spPr>
            <a:xfrm>
              <a:off x="8458200" y="0"/>
              <a:ext cx="685800" cy="6858000"/>
            </a:xfrm>
            <a:custGeom>
              <a:avLst/>
              <a:gdLst/>
              <a:ahLst/>
              <a:cxnLst/>
              <a:rect l="l" t="t" r="r" b="b"/>
              <a:pathLst>
                <a:path w="685800" h="6858000">
                  <a:moveTo>
                    <a:pt x="685800" y="6172200"/>
                  </a:moveTo>
                  <a:lnTo>
                    <a:pt x="0" y="6172200"/>
                  </a:lnTo>
                  <a:lnTo>
                    <a:pt x="0" y="6858000"/>
                  </a:lnTo>
                  <a:lnTo>
                    <a:pt x="685800" y="6858000"/>
                  </a:lnTo>
                  <a:lnTo>
                    <a:pt x="685800" y="6172200"/>
                  </a:lnTo>
                  <a:close/>
                </a:path>
                <a:path w="685800" h="6858000">
                  <a:moveTo>
                    <a:pt x="685800" y="0"/>
                  </a:moveTo>
                  <a:lnTo>
                    <a:pt x="0" y="0"/>
                  </a:lnTo>
                  <a:lnTo>
                    <a:pt x="0" y="5486400"/>
                  </a:lnTo>
                  <a:lnTo>
                    <a:pt x="685800" y="5486400"/>
                  </a:lnTo>
                  <a:lnTo>
                    <a:pt x="685800" y="0"/>
                  </a:lnTo>
                  <a:close/>
                </a:path>
              </a:pathLst>
            </a:custGeom>
            <a:solidFill>
              <a:srgbClr val="675E46"/>
            </a:solidFill>
          </p:spPr>
          <p:txBody>
            <a:bodyPr wrap="square" lIns="0" tIns="0" rIns="0" bIns="0" rtlCol="0"/>
            <a:lstStyle/>
            <a:p>
              <a:endParaRPr/>
            </a:p>
          </p:txBody>
        </p:sp>
        <p:sp>
          <p:nvSpPr>
            <p:cNvPr id="5" name="object 5"/>
            <p:cNvSpPr/>
            <p:nvPr/>
          </p:nvSpPr>
          <p:spPr>
            <a:xfrm>
              <a:off x="8458200" y="5486399"/>
              <a:ext cx="685800" cy="685800"/>
            </a:xfrm>
            <a:custGeom>
              <a:avLst/>
              <a:gdLst/>
              <a:ahLst/>
              <a:cxnLst/>
              <a:rect l="l" t="t" r="r" b="b"/>
              <a:pathLst>
                <a:path w="685800" h="685800">
                  <a:moveTo>
                    <a:pt x="685800" y="0"/>
                  </a:moveTo>
                  <a:lnTo>
                    <a:pt x="0" y="0"/>
                  </a:lnTo>
                  <a:lnTo>
                    <a:pt x="0" y="685800"/>
                  </a:lnTo>
                  <a:lnTo>
                    <a:pt x="685800" y="685800"/>
                  </a:lnTo>
                  <a:lnTo>
                    <a:pt x="685800" y="0"/>
                  </a:lnTo>
                  <a:close/>
                </a:path>
              </a:pathLst>
            </a:custGeom>
            <a:solidFill>
              <a:srgbClr val="A9A47B"/>
            </a:solidFill>
          </p:spPr>
          <p:txBody>
            <a:bodyPr wrap="square" lIns="0" tIns="0" rIns="0" bIns="0" rtlCol="0"/>
            <a:lstStyle/>
            <a:p>
              <a:endParaRPr/>
            </a:p>
          </p:txBody>
        </p:sp>
      </p:grpSp>
      <p:sp>
        <p:nvSpPr>
          <p:cNvPr id="13" name="CuadroTexto 12"/>
          <p:cNvSpPr txBox="1"/>
          <p:nvPr/>
        </p:nvSpPr>
        <p:spPr>
          <a:xfrm>
            <a:off x="1371600" y="990600"/>
            <a:ext cx="6096000" cy="2554545"/>
          </a:xfrm>
          <a:prstGeom prst="rect">
            <a:avLst/>
          </a:prstGeom>
          <a:noFill/>
        </p:spPr>
        <p:txBody>
          <a:bodyPr wrap="square" rtlCol="0">
            <a:spAutoFit/>
          </a:bodyPr>
          <a:lstStyle/>
          <a:p>
            <a:r>
              <a:rPr lang="es-CO" sz="8000" dirty="0"/>
              <a:t>MANUAL DE USUARIOS.</a:t>
            </a:r>
          </a:p>
        </p:txBody>
      </p:sp>
      <p:pic>
        <p:nvPicPr>
          <p:cNvPr id="14" name="Imagen 13">
            <a:extLst>
              <a:ext uri="{FF2B5EF4-FFF2-40B4-BE49-F238E27FC236}">
                <a16:creationId xmlns:a16="http://schemas.microsoft.com/office/drawing/2014/main" id="{4770E21A-DD47-4788-A0A8-22B5C4AA21B1}"/>
              </a:ext>
            </a:extLst>
          </p:cNvPr>
          <p:cNvPicPr>
            <a:picLocks noChangeAspect="1"/>
          </p:cNvPicPr>
          <p:nvPr/>
        </p:nvPicPr>
        <p:blipFill>
          <a:blip r:embed="rId3"/>
          <a:stretch>
            <a:fillRect/>
          </a:stretch>
        </p:blipFill>
        <p:spPr>
          <a:xfrm>
            <a:off x="4572000" y="4944237"/>
            <a:ext cx="3791237" cy="88506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ntr" presetSubtype="16"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circle(in)">
                                      <p:cBhvr>
                                        <p:cTn id="7" dur="2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0" y="0"/>
            <a:ext cx="9144000" cy="6858000"/>
            <a:chOff x="0" y="0"/>
            <a:chExt cx="9144000" cy="6858000"/>
          </a:xfrm>
        </p:grpSpPr>
        <p:pic>
          <p:nvPicPr>
            <p:cNvPr id="3" name="object 3"/>
            <p:cNvPicPr/>
            <p:nvPr/>
          </p:nvPicPr>
          <p:blipFill>
            <a:blip r:embed="rId2" cstate="print"/>
            <a:stretch>
              <a:fillRect/>
            </a:stretch>
          </p:blipFill>
          <p:spPr>
            <a:xfrm>
              <a:off x="0" y="0"/>
              <a:ext cx="9144000" cy="6858000"/>
            </a:xfrm>
            <a:prstGeom prst="rect">
              <a:avLst/>
            </a:prstGeom>
          </p:spPr>
        </p:pic>
        <p:sp>
          <p:nvSpPr>
            <p:cNvPr id="4" name="object 4"/>
            <p:cNvSpPr/>
            <p:nvPr/>
          </p:nvSpPr>
          <p:spPr>
            <a:xfrm>
              <a:off x="8458200" y="0"/>
              <a:ext cx="685800" cy="6858000"/>
            </a:xfrm>
            <a:custGeom>
              <a:avLst/>
              <a:gdLst/>
              <a:ahLst/>
              <a:cxnLst/>
              <a:rect l="l" t="t" r="r" b="b"/>
              <a:pathLst>
                <a:path w="685800" h="6858000">
                  <a:moveTo>
                    <a:pt x="685800" y="6172200"/>
                  </a:moveTo>
                  <a:lnTo>
                    <a:pt x="0" y="6172200"/>
                  </a:lnTo>
                  <a:lnTo>
                    <a:pt x="0" y="6858000"/>
                  </a:lnTo>
                  <a:lnTo>
                    <a:pt x="685800" y="6858000"/>
                  </a:lnTo>
                  <a:lnTo>
                    <a:pt x="685800" y="6172200"/>
                  </a:lnTo>
                  <a:close/>
                </a:path>
                <a:path w="685800" h="6858000">
                  <a:moveTo>
                    <a:pt x="685800" y="0"/>
                  </a:moveTo>
                  <a:lnTo>
                    <a:pt x="0" y="0"/>
                  </a:lnTo>
                  <a:lnTo>
                    <a:pt x="0" y="5486400"/>
                  </a:lnTo>
                  <a:lnTo>
                    <a:pt x="685800" y="5486400"/>
                  </a:lnTo>
                  <a:lnTo>
                    <a:pt x="685800" y="0"/>
                  </a:lnTo>
                  <a:close/>
                </a:path>
              </a:pathLst>
            </a:custGeom>
            <a:solidFill>
              <a:srgbClr val="675E46"/>
            </a:solidFill>
          </p:spPr>
          <p:txBody>
            <a:bodyPr wrap="square" lIns="0" tIns="0" rIns="0" bIns="0" rtlCol="0"/>
            <a:lstStyle/>
            <a:p>
              <a:endParaRPr/>
            </a:p>
          </p:txBody>
        </p:sp>
        <p:sp>
          <p:nvSpPr>
            <p:cNvPr id="5" name="object 5"/>
            <p:cNvSpPr/>
            <p:nvPr/>
          </p:nvSpPr>
          <p:spPr>
            <a:xfrm>
              <a:off x="8458200" y="5486399"/>
              <a:ext cx="685800" cy="685800"/>
            </a:xfrm>
            <a:custGeom>
              <a:avLst/>
              <a:gdLst/>
              <a:ahLst/>
              <a:cxnLst/>
              <a:rect l="l" t="t" r="r" b="b"/>
              <a:pathLst>
                <a:path w="685800" h="685800">
                  <a:moveTo>
                    <a:pt x="685800" y="0"/>
                  </a:moveTo>
                  <a:lnTo>
                    <a:pt x="0" y="0"/>
                  </a:lnTo>
                  <a:lnTo>
                    <a:pt x="0" y="685800"/>
                  </a:lnTo>
                  <a:lnTo>
                    <a:pt x="685800" y="685800"/>
                  </a:lnTo>
                  <a:lnTo>
                    <a:pt x="685800" y="0"/>
                  </a:lnTo>
                  <a:close/>
                </a:path>
              </a:pathLst>
            </a:custGeom>
            <a:solidFill>
              <a:srgbClr val="A9A47B"/>
            </a:solidFill>
          </p:spPr>
          <p:txBody>
            <a:bodyPr wrap="square" lIns="0" tIns="0" rIns="0" bIns="0" rtlCol="0"/>
            <a:lstStyle/>
            <a:p>
              <a:endParaRPr/>
            </a:p>
          </p:txBody>
        </p:sp>
      </p:grpSp>
      <p:sp>
        <p:nvSpPr>
          <p:cNvPr id="6" name="object 6"/>
          <p:cNvSpPr txBox="1">
            <a:spLocks noGrp="1"/>
          </p:cNvSpPr>
          <p:nvPr>
            <p:ph type="title"/>
          </p:nvPr>
        </p:nvSpPr>
        <p:spPr>
          <a:xfrm>
            <a:off x="1369949" y="445134"/>
            <a:ext cx="5808345" cy="756920"/>
          </a:xfrm>
          <a:prstGeom prst="rect">
            <a:avLst/>
          </a:prstGeom>
        </p:spPr>
        <p:txBody>
          <a:bodyPr vert="horz" wrap="square" lIns="0" tIns="12700" rIns="0" bIns="0" rtlCol="0">
            <a:spAutoFit/>
          </a:bodyPr>
          <a:lstStyle/>
          <a:p>
            <a:pPr marL="12700">
              <a:lnSpc>
                <a:spcPct val="100000"/>
              </a:lnSpc>
              <a:spcBef>
                <a:spcPts val="100"/>
              </a:spcBef>
            </a:pPr>
            <a:r>
              <a:rPr spc="-850" dirty="0"/>
              <a:t>M</a:t>
            </a:r>
            <a:r>
              <a:rPr spc="65" dirty="0"/>
              <a:t>A</a:t>
            </a:r>
            <a:r>
              <a:rPr spc="-690" dirty="0"/>
              <a:t>N</a:t>
            </a:r>
            <a:r>
              <a:rPr spc="-650" dirty="0"/>
              <a:t>U</a:t>
            </a:r>
            <a:r>
              <a:rPr spc="65" dirty="0"/>
              <a:t>A</a:t>
            </a:r>
            <a:r>
              <a:rPr spc="-305" dirty="0"/>
              <a:t>L</a:t>
            </a:r>
            <a:r>
              <a:rPr spc="-210" dirty="0"/>
              <a:t> </a:t>
            </a:r>
            <a:r>
              <a:rPr spc="-675" dirty="0"/>
              <a:t>D</a:t>
            </a:r>
            <a:r>
              <a:rPr spc="50" dirty="0"/>
              <a:t>E</a:t>
            </a:r>
            <a:r>
              <a:rPr spc="-204" dirty="0"/>
              <a:t> </a:t>
            </a:r>
            <a:r>
              <a:rPr spc="-650" dirty="0"/>
              <a:t>U</a:t>
            </a:r>
            <a:r>
              <a:rPr spc="-114" dirty="0"/>
              <a:t>S</a:t>
            </a:r>
            <a:r>
              <a:rPr spc="-650" dirty="0"/>
              <a:t>U</a:t>
            </a:r>
            <a:r>
              <a:rPr spc="65" dirty="0"/>
              <a:t>A</a:t>
            </a:r>
            <a:r>
              <a:rPr spc="-265" dirty="0"/>
              <a:t>R</a:t>
            </a:r>
            <a:r>
              <a:rPr spc="-245" dirty="0"/>
              <a:t>I</a:t>
            </a:r>
            <a:r>
              <a:rPr spc="-475" dirty="0"/>
              <a:t>O</a:t>
            </a:r>
          </a:p>
        </p:txBody>
      </p:sp>
      <p:sp>
        <p:nvSpPr>
          <p:cNvPr id="7" name="object 7"/>
          <p:cNvSpPr txBox="1"/>
          <p:nvPr/>
        </p:nvSpPr>
        <p:spPr>
          <a:xfrm>
            <a:off x="762634" y="1655076"/>
            <a:ext cx="6986905" cy="3354765"/>
          </a:xfrm>
          <a:prstGeom prst="rect">
            <a:avLst/>
          </a:prstGeom>
        </p:spPr>
        <p:txBody>
          <a:bodyPr vert="horz" wrap="square" lIns="0" tIns="121920" rIns="0" bIns="0" rtlCol="0">
            <a:spAutoFit/>
          </a:bodyPr>
          <a:lstStyle/>
          <a:p>
            <a:pPr marL="127000">
              <a:lnSpc>
                <a:spcPct val="100000"/>
              </a:lnSpc>
              <a:spcBef>
                <a:spcPts val="960"/>
              </a:spcBef>
            </a:pPr>
            <a:r>
              <a:rPr sz="3600" b="1" spc="-5" dirty="0">
                <a:solidFill>
                  <a:srgbClr val="2E2B1F"/>
                </a:solidFill>
                <a:latin typeface="Calibri"/>
                <a:cs typeface="Calibri"/>
              </a:rPr>
              <a:t>Debe</a:t>
            </a:r>
            <a:r>
              <a:rPr sz="3600" b="1" spc="-15" dirty="0">
                <a:solidFill>
                  <a:srgbClr val="2E2B1F"/>
                </a:solidFill>
                <a:latin typeface="Calibri"/>
                <a:cs typeface="Calibri"/>
              </a:rPr>
              <a:t> contener:</a:t>
            </a:r>
            <a:endParaRPr sz="3600" dirty="0">
              <a:latin typeface="Calibri"/>
              <a:cs typeface="Calibri"/>
            </a:endParaRPr>
          </a:p>
          <a:p>
            <a:pPr marL="584200" indent="-571500">
              <a:lnSpc>
                <a:spcPct val="100000"/>
              </a:lnSpc>
              <a:spcBef>
                <a:spcPts val="860"/>
              </a:spcBef>
              <a:buClr>
                <a:srgbClr val="A9A47B"/>
              </a:buClr>
              <a:buFont typeface="Arial MT"/>
              <a:buChar char="•"/>
              <a:tabLst>
                <a:tab pos="583565" algn="l"/>
                <a:tab pos="584200" algn="l"/>
              </a:tabLst>
            </a:pPr>
            <a:r>
              <a:rPr sz="3600" spc="-10" dirty="0">
                <a:solidFill>
                  <a:srgbClr val="2E2B1F"/>
                </a:solidFill>
                <a:latin typeface="Calibri"/>
                <a:cs typeface="Calibri"/>
              </a:rPr>
              <a:t>Introducción.</a:t>
            </a:r>
            <a:r>
              <a:rPr sz="3600" dirty="0">
                <a:latin typeface="Calibri"/>
                <a:cs typeface="Calibri"/>
              </a:rPr>
              <a:t> </a:t>
            </a:r>
            <a:endParaRPr lang="es-CO" sz="3600" dirty="0">
              <a:latin typeface="Calibri"/>
              <a:cs typeface="Calibri"/>
            </a:endParaRPr>
          </a:p>
          <a:p>
            <a:pPr marL="584200" indent="-571500">
              <a:lnSpc>
                <a:spcPct val="100000"/>
              </a:lnSpc>
              <a:spcBef>
                <a:spcPts val="860"/>
              </a:spcBef>
              <a:buClr>
                <a:srgbClr val="A9A47B"/>
              </a:buClr>
              <a:buFont typeface="Arial MT"/>
              <a:buChar char="•"/>
              <a:tabLst>
                <a:tab pos="583565" algn="l"/>
                <a:tab pos="584200" algn="l"/>
              </a:tabLst>
            </a:pPr>
            <a:r>
              <a:rPr lang="es-CO" sz="3600" dirty="0"/>
              <a:t>Objetivos</a:t>
            </a:r>
            <a:r>
              <a:rPr sz="3600" spc="-5" dirty="0">
                <a:solidFill>
                  <a:srgbClr val="2E2B1F"/>
                </a:solidFill>
                <a:latin typeface="Calibri"/>
                <a:cs typeface="Calibri"/>
              </a:rPr>
              <a:t>.</a:t>
            </a:r>
            <a:endParaRPr sz="3600" dirty="0">
              <a:latin typeface="Calibri"/>
              <a:cs typeface="Calibri"/>
            </a:endParaRPr>
          </a:p>
          <a:p>
            <a:pPr marL="584200" indent="-571500">
              <a:lnSpc>
                <a:spcPct val="100000"/>
              </a:lnSpc>
              <a:spcBef>
                <a:spcPts val="860"/>
              </a:spcBef>
              <a:buClr>
                <a:srgbClr val="A9A47B"/>
              </a:buClr>
              <a:buFont typeface="Arial MT"/>
              <a:buChar char="•"/>
              <a:tabLst>
                <a:tab pos="583565" algn="l"/>
                <a:tab pos="584200" algn="l"/>
              </a:tabLst>
            </a:pPr>
            <a:r>
              <a:rPr lang="es-CO" sz="3600" spc="-5" dirty="0">
                <a:solidFill>
                  <a:srgbClr val="2E2B1F"/>
                </a:solidFill>
                <a:latin typeface="Calibri"/>
                <a:cs typeface="Calibri"/>
              </a:rPr>
              <a:t>Guía se uso</a:t>
            </a:r>
            <a:r>
              <a:rPr sz="3600" spc="-10" dirty="0">
                <a:solidFill>
                  <a:srgbClr val="2E2B1F"/>
                </a:solidFill>
                <a:latin typeface="Calibri"/>
                <a:cs typeface="Calibri"/>
              </a:rPr>
              <a:t>.</a:t>
            </a:r>
            <a:endParaRPr sz="3600" dirty="0">
              <a:latin typeface="Calibri"/>
              <a:cs typeface="Calibri"/>
            </a:endParaRPr>
          </a:p>
          <a:p>
            <a:pPr marL="584200" marR="946150" indent="-571500">
              <a:spcBef>
                <a:spcPts val="885"/>
              </a:spcBef>
              <a:buClr>
                <a:srgbClr val="A9A47B"/>
              </a:buClr>
              <a:buFont typeface="Arial MT"/>
              <a:buChar char="•"/>
              <a:tabLst>
                <a:tab pos="583565" algn="l"/>
                <a:tab pos="584200" algn="l"/>
              </a:tabLst>
            </a:pPr>
            <a:r>
              <a:rPr lang="es-CO" sz="3600" dirty="0"/>
              <a:t>Resultados Esperados</a:t>
            </a:r>
            <a:r>
              <a:rPr sz="3600" spc="-15" dirty="0">
                <a:solidFill>
                  <a:srgbClr val="2E2B1F"/>
                </a:solidFill>
                <a:latin typeface="Calibri"/>
                <a:cs typeface="Calibri"/>
              </a:rPr>
              <a:t>.</a:t>
            </a:r>
            <a:endParaRPr sz="3600" dirty="0">
              <a:latin typeface="Calibri"/>
              <a:cs typeface="Calibri"/>
            </a:endParaRPr>
          </a:p>
        </p:txBody>
      </p:sp>
    </p:spTree>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0" y="0"/>
            <a:ext cx="9144000" cy="6858000"/>
            <a:chOff x="0" y="0"/>
            <a:chExt cx="9144000" cy="6858000"/>
          </a:xfrm>
        </p:grpSpPr>
        <p:pic>
          <p:nvPicPr>
            <p:cNvPr id="3" name="object 3"/>
            <p:cNvPicPr/>
            <p:nvPr/>
          </p:nvPicPr>
          <p:blipFill>
            <a:blip r:embed="rId2" cstate="print"/>
            <a:stretch>
              <a:fillRect/>
            </a:stretch>
          </p:blipFill>
          <p:spPr>
            <a:xfrm>
              <a:off x="0" y="0"/>
              <a:ext cx="9144000" cy="6858000"/>
            </a:xfrm>
            <a:prstGeom prst="rect">
              <a:avLst/>
            </a:prstGeom>
          </p:spPr>
        </p:pic>
        <p:sp>
          <p:nvSpPr>
            <p:cNvPr id="4" name="object 4"/>
            <p:cNvSpPr/>
            <p:nvPr/>
          </p:nvSpPr>
          <p:spPr>
            <a:xfrm>
              <a:off x="8458200" y="0"/>
              <a:ext cx="685800" cy="6858000"/>
            </a:xfrm>
            <a:custGeom>
              <a:avLst/>
              <a:gdLst/>
              <a:ahLst/>
              <a:cxnLst/>
              <a:rect l="l" t="t" r="r" b="b"/>
              <a:pathLst>
                <a:path w="685800" h="6858000">
                  <a:moveTo>
                    <a:pt x="685800" y="6172200"/>
                  </a:moveTo>
                  <a:lnTo>
                    <a:pt x="0" y="6172200"/>
                  </a:lnTo>
                  <a:lnTo>
                    <a:pt x="0" y="6858000"/>
                  </a:lnTo>
                  <a:lnTo>
                    <a:pt x="685800" y="6858000"/>
                  </a:lnTo>
                  <a:lnTo>
                    <a:pt x="685800" y="6172200"/>
                  </a:lnTo>
                  <a:close/>
                </a:path>
                <a:path w="685800" h="6858000">
                  <a:moveTo>
                    <a:pt x="685800" y="0"/>
                  </a:moveTo>
                  <a:lnTo>
                    <a:pt x="0" y="0"/>
                  </a:lnTo>
                  <a:lnTo>
                    <a:pt x="0" y="5486400"/>
                  </a:lnTo>
                  <a:lnTo>
                    <a:pt x="685800" y="5486400"/>
                  </a:lnTo>
                  <a:lnTo>
                    <a:pt x="685800" y="0"/>
                  </a:lnTo>
                  <a:close/>
                </a:path>
              </a:pathLst>
            </a:custGeom>
            <a:solidFill>
              <a:srgbClr val="675E46"/>
            </a:solidFill>
          </p:spPr>
          <p:txBody>
            <a:bodyPr wrap="square" lIns="0" tIns="0" rIns="0" bIns="0" rtlCol="0"/>
            <a:lstStyle/>
            <a:p>
              <a:endParaRPr/>
            </a:p>
          </p:txBody>
        </p:sp>
        <p:sp>
          <p:nvSpPr>
            <p:cNvPr id="5" name="object 5"/>
            <p:cNvSpPr/>
            <p:nvPr/>
          </p:nvSpPr>
          <p:spPr>
            <a:xfrm>
              <a:off x="8458200" y="5486399"/>
              <a:ext cx="685800" cy="685800"/>
            </a:xfrm>
            <a:custGeom>
              <a:avLst/>
              <a:gdLst/>
              <a:ahLst/>
              <a:cxnLst/>
              <a:rect l="l" t="t" r="r" b="b"/>
              <a:pathLst>
                <a:path w="685800" h="685800">
                  <a:moveTo>
                    <a:pt x="685800" y="0"/>
                  </a:moveTo>
                  <a:lnTo>
                    <a:pt x="0" y="0"/>
                  </a:lnTo>
                  <a:lnTo>
                    <a:pt x="0" y="685800"/>
                  </a:lnTo>
                  <a:lnTo>
                    <a:pt x="685800" y="685800"/>
                  </a:lnTo>
                  <a:lnTo>
                    <a:pt x="685800" y="0"/>
                  </a:lnTo>
                  <a:close/>
                </a:path>
              </a:pathLst>
            </a:custGeom>
            <a:solidFill>
              <a:srgbClr val="A9A47B"/>
            </a:solidFill>
          </p:spPr>
          <p:txBody>
            <a:bodyPr wrap="square" lIns="0" tIns="0" rIns="0" bIns="0" rtlCol="0"/>
            <a:lstStyle/>
            <a:p>
              <a:endParaRPr/>
            </a:p>
          </p:txBody>
        </p:sp>
      </p:grpSp>
      <p:sp>
        <p:nvSpPr>
          <p:cNvPr id="6" name="object 6"/>
          <p:cNvSpPr txBox="1">
            <a:spLocks noGrp="1"/>
          </p:cNvSpPr>
          <p:nvPr>
            <p:ph type="title"/>
          </p:nvPr>
        </p:nvSpPr>
        <p:spPr>
          <a:xfrm>
            <a:off x="536257" y="445134"/>
            <a:ext cx="5808345" cy="756920"/>
          </a:xfrm>
          <a:prstGeom prst="rect">
            <a:avLst/>
          </a:prstGeom>
        </p:spPr>
        <p:txBody>
          <a:bodyPr vert="horz" wrap="square" lIns="0" tIns="12700" rIns="0" bIns="0" rtlCol="0">
            <a:spAutoFit/>
          </a:bodyPr>
          <a:lstStyle/>
          <a:p>
            <a:pPr marL="12700">
              <a:lnSpc>
                <a:spcPct val="100000"/>
              </a:lnSpc>
              <a:spcBef>
                <a:spcPts val="100"/>
              </a:spcBef>
            </a:pPr>
            <a:r>
              <a:rPr spc="-850" dirty="0"/>
              <a:t>M</a:t>
            </a:r>
            <a:r>
              <a:rPr spc="65" dirty="0"/>
              <a:t>A</a:t>
            </a:r>
            <a:r>
              <a:rPr spc="-690" dirty="0"/>
              <a:t>N</a:t>
            </a:r>
            <a:r>
              <a:rPr spc="-650" dirty="0"/>
              <a:t>U</a:t>
            </a:r>
            <a:r>
              <a:rPr spc="65" dirty="0"/>
              <a:t>A</a:t>
            </a:r>
            <a:r>
              <a:rPr spc="-305" dirty="0"/>
              <a:t>L</a:t>
            </a:r>
            <a:r>
              <a:rPr spc="-210" dirty="0"/>
              <a:t> </a:t>
            </a:r>
            <a:r>
              <a:rPr spc="-675" dirty="0"/>
              <a:t>D</a:t>
            </a:r>
            <a:r>
              <a:rPr spc="50" dirty="0"/>
              <a:t>E</a:t>
            </a:r>
            <a:r>
              <a:rPr spc="-204" dirty="0"/>
              <a:t> </a:t>
            </a:r>
            <a:r>
              <a:rPr spc="-650" dirty="0"/>
              <a:t>U</a:t>
            </a:r>
            <a:r>
              <a:rPr spc="-114" dirty="0"/>
              <a:t>S</a:t>
            </a:r>
            <a:r>
              <a:rPr spc="-650" dirty="0"/>
              <a:t>U</a:t>
            </a:r>
            <a:r>
              <a:rPr spc="65" dirty="0"/>
              <a:t>A</a:t>
            </a:r>
            <a:r>
              <a:rPr spc="-265" dirty="0"/>
              <a:t>R</a:t>
            </a:r>
            <a:r>
              <a:rPr spc="-245" dirty="0"/>
              <a:t>I</a:t>
            </a:r>
            <a:r>
              <a:rPr spc="-475" dirty="0"/>
              <a:t>O</a:t>
            </a:r>
          </a:p>
        </p:txBody>
      </p:sp>
      <p:sp>
        <p:nvSpPr>
          <p:cNvPr id="7" name="object 7"/>
          <p:cNvSpPr txBox="1"/>
          <p:nvPr/>
        </p:nvSpPr>
        <p:spPr>
          <a:xfrm>
            <a:off x="569459" y="2167436"/>
            <a:ext cx="7393305" cy="2523127"/>
          </a:xfrm>
          <a:prstGeom prst="rect">
            <a:avLst/>
          </a:prstGeom>
        </p:spPr>
        <p:txBody>
          <a:bodyPr vert="horz" wrap="square" lIns="0" tIns="121285" rIns="0" bIns="0" rtlCol="0">
            <a:spAutoFit/>
          </a:bodyPr>
          <a:lstStyle/>
          <a:p>
            <a:pPr marL="241300" indent="-228600">
              <a:lnSpc>
                <a:spcPct val="100000"/>
              </a:lnSpc>
              <a:spcBef>
                <a:spcPts val="955"/>
              </a:spcBef>
              <a:buClr>
                <a:srgbClr val="A9A47B"/>
              </a:buClr>
              <a:buFont typeface="Arial MT"/>
              <a:buChar char="•"/>
              <a:tabLst>
                <a:tab pos="241300" algn="l"/>
              </a:tabLst>
            </a:pPr>
            <a:r>
              <a:rPr sz="3600" b="1" spc="-10" dirty="0">
                <a:solidFill>
                  <a:srgbClr val="2E2B1F"/>
                </a:solidFill>
                <a:latin typeface="Calibri"/>
                <a:cs typeface="Calibri"/>
              </a:rPr>
              <a:t>Introducción:</a:t>
            </a:r>
            <a:endParaRPr sz="3600" dirty="0">
              <a:latin typeface="Calibri"/>
              <a:cs typeface="Calibri"/>
            </a:endParaRPr>
          </a:p>
          <a:p>
            <a:r>
              <a:rPr lang="es-CO" sz="2400" b="1" dirty="0"/>
              <a:t>Refugio Rodante</a:t>
            </a:r>
            <a:r>
              <a:rPr lang="es-CO" sz="2400" dirty="0"/>
              <a:t> es una plataforma web que organiza y optimiza el uso de los parqueaderos de la entidad principal en Medellín mediante reservas digitales, mapas interactivos, mejorando la movilidad y reduciendo la congestión en zonas críticas de la ciudad.</a:t>
            </a:r>
          </a:p>
        </p:txBody>
      </p:sp>
    </p:spTree>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0" y="0"/>
            <a:ext cx="9144000" cy="6858000"/>
            <a:chOff x="0" y="0"/>
            <a:chExt cx="9144000" cy="6858000"/>
          </a:xfrm>
        </p:grpSpPr>
        <p:pic>
          <p:nvPicPr>
            <p:cNvPr id="3" name="object 3"/>
            <p:cNvPicPr/>
            <p:nvPr/>
          </p:nvPicPr>
          <p:blipFill>
            <a:blip r:embed="rId2" cstate="print"/>
            <a:stretch>
              <a:fillRect/>
            </a:stretch>
          </p:blipFill>
          <p:spPr>
            <a:xfrm>
              <a:off x="0" y="0"/>
              <a:ext cx="9144000" cy="6858000"/>
            </a:xfrm>
            <a:prstGeom prst="rect">
              <a:avLst/>
            </a:prstGeom>
          </p:spPr>
        </p:pic>
        <p:sp>
          <p:nvSpPr>
            <p:cNvPr id="4" name="object 4"/>
            <p:cNvSpPr/>
            <p:nvPr/>
          </p:nvSpPr>
          <p:spPr>
            <a:xfrm>
              <a:off x="8458200" y="0"/>
              <a:ext cx="685800" cy="6858000"/>
            </a:xfrm>
            <a:custGeom>
              <a:avLst/>
              <a:gdLst/>
              <a:ahLst/>
              <a:cxnLst/>
              <a:rect l="l" t="t" r="r" b="b"/>
              <a:pathLst>
                <a:path w="685800" h="6858000">
                  <a:moveTo>
                    <a:pt x="685800" y="6172200"/>
                  </a:moveTo>
                  <a:lnTo>
                    <a:pt x="0" y="6172200"/>
                  </a:lnTo>
                  <a:lnTo>
                    <a:pt x="0" y="6858000"/>
                  </a:lnTo>
                  <a:lnTo>
                    <a:pt x="685800" y="6858000"/>
                  </a:lnTo>
                  <a:lnTo>
                    <a:pt x="685800" y="6172200"/>
                  </a:lnTo>
                  <a:close/>
                </a:path>
                <a:path w="685800" h="6858000">
                  <a:moveTo>
                    <a:pt x="685800" y="0"/>
                  </a:moveTo>
                  <a:lnTo>
                    <a:pt x="0" y="0"/>
                  </a:lnTo>
                  <a:lnTo>
                    <a:pt x="0" y="5486400"/>
                  </a:lnTo>
                  <a:lnTo>
                    <a:pt x="685800" y="5486400"/>
                  </a:lnTo>
                  <a:lnTo>
                    <a:pt x="685800" y="0"/>
                  </a:lnTo>
                  <a:close/>
                </a:path>
              </a:pathLst>
            </a:custGeom>
            <a:solidFill>
              <a:srgbClr val="675E46"/>
            </a:solidFill>
          </p:spPr>
          <p:txBody>
            <a:bodyPr wrap="square" lIns="0" tIns="0" rIns="0" bIns="0" rtlCol="0"/>
            <a:lstStyle/>
            <a:p>
              <a:endParaRPr/>
            </a:p>
          </p:txBody>
        </p:sp>
        <p:sp>
          <p:nvSpPr>
            <p:cNvPr id="5" name="object 5"/>
            <p:cNvSpPr/>
            <p:nvPr/>
          </p:nvSpPr>
          <p:spPr>
            <a:xfrm>
              <a:off x="8458200" y="5486399"/>
              <a:ext cx="685800" cy="685800"/>
            </a:xfrm>
            <a:custGeom>
              <a:avLst/>
              <a:gdLst/>
              <a:ahLst/>
              <a:cxnLst/>
              <a:rect l="l" t="t" r="r" b="b"/>
              <a:pathLst>
                <a:path w="685800" h="685800">
                  <a:moveTo>
                    <a:pt x="685800" y="0"/>
                  </a:moveTo>
                  <a:lnTo>
                    <a:pt x="0" y="0"/>
                  </a:lnTo>
                  <a:lnTo>
                    <a:pt x="0" y="685800"/>
                  </a:lnTo>
                  <a:lnTo>
                    <a:pt x="685800" y="685800"/>
                  </a:lnTo>
                  <a:lnTo>
                    <a:pt x="685800" y="0"/>
                  </a:lnTo>
                  <a:close/>
                </a:path>
              </a:pathLst>
            </a:custGeom>
            <a:solidFill>
              <a:srgbClr val="A9A47B"/>
            </a:solidFill>
          </p:spPr>
          <p:txBody>
            <a:bodyPr wrap="square" lIns="0" tIns="0" rIns="0" bIns="0" rtlCol="0"/>
            <a:lstStyle/>
            <a:p>
              <a:endParaRPr/>
            </a:p>
          </p:txBody>
        </p:sp>
      </p:grpSp>
      <p:sp>
        <p:nvSpPr>
          <p:cNvPr id="6" name="object 6"/>
          <p:cNvSpPr txBox="1">
            <a:spLocks noGrp="1"/>
          </p:cNvSpPr>
          <p:nvPr>
            <p:ph type="title"/>
          </p:nvPr>
        </p:nvSpPr>
        <p:spPr>
          <a:xfrm>
            <a:off x="536257" y="445134"/>
            <a:ext cx="5808345" cy="756920"/>
          </a:xfrm>
          <a:prstGeom prst="rect">
            <a:avLst/>
          </a:prstGeom>
        </p:spPr>
        <p:txBody>
          <a:bodyPr vert="horz" wrap="square" lIns="0" tIns="12700" rIns="0" bIns="0" rtlCol="0">
            <a:spAutoFit/>
          </a:bodyPr>
          <a:lstStyle/>
          <a:p>
            <a:pPr marL="12700">
              <a:lnSpc>
                <a:spcPct val="100000"/>
              </a:lnSpc>
              <a:spcBef>
                <a:spcPts val="100"/>
              </a:spcBef>
            </a:pPr>
            <a:r>
              <a:rPr spc="-850" dirty="0"/>
              <a:t>M</a:t>
            </a:r>
            <a:r>
              <a:rPr spc="65" dirty="0"/>
              <a:t>A</a:t>
            </a:r>
            <a:r>
              <a:rPr spc="-690" dirty="0"/>
              <a:t>N</a:t>
            </a:r>
            <a:r>
              <a:rPr spc="-650" dirty="0"/>
              <a:t>U</a:t>
            </a:r>
            <a:r>
              <a:rPr spc="65" dirty="0"/>
              <a:t>A</a:t>
            </a:r>
            <a:r>
              <a:rPr spc="-305" dirty="0"/>
              <a:t>L</a:t>
            </a:r>
            <a:r>
              <a:rPr spc="-210" dirty="0"/>
              <a:t> </a:t>
            </a:r>
            <a:r>
              <a:rPr spc="-675" dirty="0"/>
              <a:t>D</a:t>
            </a:r>
            <a:r>
              <a:rPr spc="50" dirty="0"/>
              <a:t>E</a:t>
            </a:r>
            <a:r>
              <a:rPr spc="-204" dirty="0"/>
              <a:t> </a:t>
            </a:r>
            <a:r>
              <a:rPr spc="-650" dirty="0"/>
              <a:t>U</a:t>
            </a:r>
            <a:r>
              <a:rPr spc="-114" dirty="0"/>
              <a:t>S</a:t>
            </a:r>
            <a:r>
              <a:rPr spc="-650" dirty="0"/>
              <a:t>U</a:t>
            </a:r>
            <a:r>
              <a:rPr spc="65" dirty="0"/>
              <a:t>A</a:t>
            </a:r>
            <a:r>
              <a:rPr spc="-265" dirty="0"/>
              <a:t>R</a:t>
            </a:r>
            <a:r>
              <a:rPr spc="-245" dirty="0"/>
              <a:t>I</a:t>
            </a:r>
            <a:r>
              <a:rPr spc="-475" dirty="0"/>
              <a:t>O</a:t>
            </a:r>
          </a:p>
        </p:txBody>
      </p:sp>
      <p:sp>
        <p:nvSpPr>
          <p:cNvPr id="7" name="object 7"/>
          <p:cNvSpPr txBox="1"/>
          <p:nvPr/>
        </p:nvSpPr>
        <p:spPr>
          <a:xfrm>
            <a:off x="732790" y="1679459"/>
            <a:ext cx="7393305" cy="3261790"/>
          </a:xfrm>
          <a:prstGeom prst="rect">
            <a:avLst/>
          </a:prstGeom>
        </p:spPr>
        <p:txBody>
          <a:bodyPr vert="horz" wrap="square" lIns="0" tIns="121285" rIns="0" bIns="0" rtlCol="0">
            <a:spAutoFit/>
          </a:bodyPr>
          <a:lstStyle/>
          <a:p>
            <a:pPr marL="241300" indent="-228600">
              <a:lnSpc>
                <a:spcPct val="100000"/>
              </a:lnSpc>
              <a:spcBef>
                <a:spcPts val="955"/>
              </a:spcBef>
              <a:buClr>
                <a:srgbClr val="A9A47B"/>
              </a:buClr>
              <a:buFont typeface="Arial MT"/>
              <a:buChar char="•"/>
              <a:tabLst>
                <a:tab pos="241300" algn="l"/>
              </a:tabLst>
            </a:pPr>
            <a:r>
              <a:rPr sz="3600" b="1" spc="-10" dirty="0" err="1">
                <a:solidFill>
                  <a:srgbClr val="2E2B1F"/>
                </a:solidFill>
                <a:latin typeface="Calibri"/>
                <a:cs typeface="Calibri"/>
              </a:rPr>
              <a:t>Introducción</a:t>
            </a:r>
            <a:r>
              <a:rPr sz="3600" b="1" spc="-10" dirty="0">
                <a:solidFill>
                  <a:srgbClr val="2E2B1F"/>
                </a:solidFill>
                <a:latin typeface="Calibri"/>
                <a:cs typeface="Calibri"/>
              </a:rPr>
              <a:t>:</a:t>
            </a:r>
            <a:endParaRPr lang="es-CO" sz="3600" dirty="0"/>
          </a:p>
          <a:p>
            <a:r>
              <a:rPr lang="es-CO" sz="2400" dirty="0"/>
              <a:t>¿Cómo funciona?</a:t>
            </a:r>
          </a:p>
          <a:p>
            <a:r>
              <a:rPr lang="es-CO" sz="2400" b="1" dirty="0"/>
              <a:t>Búsqueda de parqueaderos</a:t>
            </a:r>
            <a:endParaRPr lang="es-CO" sz="2400" dirty="0"/>
          </a:p>
          <a:p>
            <a:pPr marL="571500" indent="-571500">
              <a:buFont typeface="Arial" panose="020B0604020202020204" pitchFamily="34" charset="0"/>
              <a:buChar char="•"/>
            </a:pPr>
            <a:r>
              <a:rPr lang="es-CO" sz="2400" dirty="0"/>
              <a:t>El usuario accede a la plataforma web y visualiza los parqueaderos disponibles en un mapa interactivo.</a:t>
            </a:r>
          </a:p>
          <a:p>
            <a:r>
              <a:rPr lang="es-CO" sz="2400" b="1" dirty="0"/>
              <a:t>Reserva digital</a:t>
            </a:r>
            <a:endParaRPr lang="es-CO" sz="2400" dirty="0"/>
          </a:p>
          <a:p>
            <a:pPr marL="342900" indent="-342900">
              <a:buFont typeface="Arial" panose="020B0604020202020204" pitchFamily="34" charset="0"/>
              <a:buChar char="•"/>
            </a:pPr>
            <a:r>
              <a:rPr lang="es-CO" sz="2400" dirty="0"/>
              <a:t>Selecciona el parqueadero que más le convenga y realiza una reserva en línea para asegurar el espacio.</a:t>
            </a:r>
          </a:p>
        </p:txBody>
      </p:sp>
    </p:spTree>
    <p:extLst>
      <p:ext uri="{BB962C8B-B14F-4D97-AF65-F5344CB8AC3E}">
        <p14:creationId xmlns:p14="http://schemas.microsoft.com/office/powerpoint/2010/main" val="970148248"/>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0" y="0"/>
            <a:ext cx="9144000" cy="6858000"/>
            <a:chOff x="0" y="0"/>
            <a:chExt cx="9144000" cy="6858000"/>
          </a:xfrm>
        </p:grpSpPr>
        <p:pic>
          <p:nvPicPr>
            <p:cNvPr id="3" name="object 3"/>
            <p:cNvPicPr/>
            <p:nvPr/>
          </p:nvPicPr>
          <p:blipFill>
            <a:blip r:embed="rId2" cstate="print"/>
            <a:stretch>
              <a:fillRect/>
            </a:stretch>
          </p:blipFill>
          <p:spPr>
            <a:xfrm>
              <a:off x="0" y="0"/>
              <a:ext cx="9144000" cy="6858000"/>
            </a:xfrm>
            <a:prstGeom prst="rect">
              <a:avLst/>
            </a:prstGeom>
          </p:spPr>
        </p:pic>
        <p:sp>
          <p:nvSpPr>
            <p:cNvPr id="4" name="object 4"/>
            <p:cNvSpPr/>
            <p:nvPr/>
          </p:nvSpPr>
          <p:spPr>
            <a:xfrm>
              <a:off x="8458200" y="0"/>
              <a:ext cx="685800" cy="6858000"/>
            </a:xfrm>
            <a:custGeom>
              <a:avLst/>
              <a:gdLst/>
              <a:ahLst/>
              <a:cxnLst/>
              <a:rect l="l" t="t" r="r" b="b"/>
              <a:pathLst>
                <a:path w="685800" h="6858000">
                  <a:moveTo>
                    <a:pt x="685800" y="6172200"/>
                  </a:moveTo>
                  <a:lnTo>
                    <a:pt x="0" y="6172200"/>
                  </a:lnTo>
                  <a:lnTo>
                    <a:pt x="0" y="6858000"/>
                  </a:lnTo>
                  <a:lnTo>
                    <a:pt x="685800" y="6858000"/>
                  </a:lnTo>
                  <a:lnTo>
                    <a:pt x="685800" y="6172200"/>
                  </a:lnTo>
                  <a:close/>
                </a:path>
                <a:path w="685800" h="6858000">
                  <a:moveTo>
                    <a:pt x="685800" y="0"/>
                  </a:moveTo>
                  <a:lnTo>
                    <a:pt x="0" y="0"/>
                  </a:lnTo>
                  <a:lnTo>
                    <a:pt x="0" y="5486400"/>
                  </a:lnTo>
                  <a:lnTo>
                    <a:pt x="685800" y="5486400"/>
                  </a:lnTo>
                  <a:lnTo>
                    <a:pt x="685800" y="0"/>
                  </a:lnTo>
                  <a:close/>
                </a:path>
              </a:pathLst>
            </a:custGeom>
            <a:solidFill>
              <a:srgbClr val="675E46"/>
            </a:solidFill>
          </p:spPr>
          <p:txBody>
            <a:bodyPr wrap="square" lIns="0" tIns="0" rIns="0" bIns="0" rtlCol="0"/>
            <a:lstStyle/>
            <a:p>
              <a:endParaRPr/>
            </a:p>
          </p:txBody>
        </p:sp>
        <p:sp>
          <p:nvSpPr>
            <p:cNvPr id="5" name="object 5"/>
            <p:cNvSpPr/>
            <p:nvPr/>
          </p:nvSpPr>
          <p:spPr>
            <a:xfrm>
              <a:off x="8458200" y="5486399"/>
              <a:ext cx="685800" cy="685800"/>
            </a:xfrm>
            <a:custGeom>
              <a:avLst/>
              <a:gdLst/>
              <a:ahLst/>
              <a:cxnLst/>
              <a:rect l="l" t="t" r="r" b="b"/>
              <a:pathLst>
                <a:path w="685800" h="685800">
                  <a:moveTo>
                    <a:pt x="685800" y="0"/>
                  </a:moveTo>
                  <a:lnTo>
                    <a:pt x="0" y="0"/>
                  </a:lnTo>
                  <a:lnTo>
                    <a:pt x="0" y="685800"/>
                  </a:lnTo>
                  <a:lnTo>
                    <a:pt x="685800" y="685800"/>
                  </a:lnTo>
                  <a:lnTo>
                    <a:pt x="685800" y="0"/>
                  </a:lnTo>
                  <a:close/>
                </a:path>
              </a:pathLst>
            </a:custGeom>
            <a:solidFill>
              <a:srgbClr val="A9A47B"/>
            </a:solidFill>
          </p:spPr>
          <p:txBody>
            <a:bodyPr wrap="square" lIns="0" tIns="0" rIns="0" bIns="0" rtlCol="0"/>
            <a:lstStyle/>
            <a:p>
              <a:endParaRPr/>
            </a:p>
          </p:txBody>
        </p:sp>
      </p:grpSp>
      <p:sp>
        <p:nvSpPr>
          <p:cNvPr id="6" name="object 6"/>
          <p:cNvSpPr txBox="1">
            <a:spLocks noGrp="1"/>
          </p:cNvSpPr>
          <p:nvPr>
            <p:ph type="title"/>
          </p:nvPr>
        </p:nvSpPr>
        <p:spPr>
          <a:xfrm>
            <a:off x="536257" y="445134"/>
            <a:ext cx="5808345" cy="756920"/>
          </a:xfrm>
          <a:prstGeom prst="rect">
            <a:avLst/>
          </a:prstGeom>
        </p:spPr>
        <p:txBody>
          <a:bodyPr vert="horz" wrap="square" lIns="0" tIns="12700" rIns="0" bIns="0" rtlCol="0">
            <a:spAutoFit/>
          </a:bodyPr>
          <a:lstStyle/>
          <a:p>
            <a:pPr marL="12700">
              <a:lnSpc>
                <a:spcPct val="100000"/>
              </a:lnSpc>
              <a:spcBef>
                <a:spcPts val="100"/>
              </a:spcBef>
            </a:pPr>
            <a:r>
              <a:rPr spc="-850" dirty="0"/>
              <a:t>M</a:t>
            </a:r>
            <a:r>
              <a:rPr spc="65" dirty="0"/>
              <a:t>A</a:t>
            </a:r>
            <a:r>
              <a:rPr spc="-690" dirty="0"/>
              <a:t>N</a:t>
            </a:r>
            <a:r>
              <a:rPr spc="-650" dirty="0"/>
              <a:t>U</a:t>
            </a:r>
            <a:r>
              <a:rPr spc="65" dirty="0"/>
              <a:t>A</a:t>
            </a:r>
            <a:r>
              <a:rPr spc="-305" dirty="0"/>
              <a:t>L</a:t>
            </a:r>
            <a:r>
              <a:rPr spc="-210" dirty="0"/>
              <a:t> </a:t>
            </a:r>
            <a:r>
              <a:rPr spc="-675" dirty="0"/>
              <a:t>D</a:t>
            </a:r>
            <a:r>
              <a:rPr spc="50" dirty="0"/>
              <a:t>E</a:t>
            </a:r>
            <a:r>
              <a:rPr spc="-204" dirty="0"/>
              <a:t> </a:t>
            </a:r>
            <a:r>
              <a:rPr spc="-650" dirty="0"/>
              <a:t>U</a:t>
            </a:r>
            <a:r>
              <a:rPr spc="-114" dirty="0"/>
              <a:t>S</a:t>
            </a:r>
            <a:r>
              <a:rPr spc="-650" dirty="0"/>
              <a:t>U</a:t>
            </a:r>
            <a:r>
              <a:rPr spc="65" dirty="0"/>
              <a:t>A</a:t>
            </a:r>
            <a:r>
              <a:rPr spc="-265" dirty="0"/>
              <a:t>R</a:t>
            </a:r>
            <a:r>
              <a:rPr spc="-245" dirty="0"/>
              <a:t>I</a:t>
            </a:r>
            <a:r>
              <a:rPr spc="-475" dirty="0"/>
              <a:t>O</a:t>
            </a:r>
          </a:p>
        </p:txBody>
      </p:sp>
      <p:sp>
        <p:nvSpPr>
          <p:cNvPr id="7" name="object 7"/>
          <p:cNvSpPr txBox="1"/>
          <p:nvPr/>
        </p:nvSpPr>
        <p:spPr>
          <a:xfrm>
            <a:off x="732790" y="1679459"/>
            <a:ext cx="7393305" cy="4185120"/>
          </a:xfrm>
          <a:prstGeom prst="rect">
            <a:avLst/>
          </a:prstGeom>
        </p:spPr>
        <p:txBody>
          <a:bodyPr vert="horz" wrap="square" lIns="0" tIns="121285" rIns="0" bIns="0" rtlCol="0">
            <a:spAutoFit/>
          </a:bodyPr>
          <a:lstStyle/>
          <a:p>
            <a:pPr marL="241300" indent="-228600">
              <a:lnSpc>
                <a:spcPct val="100000"/>
              </a:lnSpc>
              <a:spcBef>
                <a:spcPts val="955"/>
              </a:spcBef>
              <a:buClr>
                <a:srgbClr val="A9A47B"/>
              </a:buClr>
              <a:buFont typeface="Arial MT"/>
              <a:buChar char="•"/>
              <a:tabLst>
                <a:tab pos="241300" algn="l"/>
              </a:tabLst>
            </a:pPr>
            <a:r>
              <a:rPr sz="3600" b="1" spc="-10" dirty="0" err="1">
                <a:solidFill>
                  <a:srgbClr val="2E2B1F"/>
                </a:solidFill>
                <a:latin typeface="Calibri"/>
                <a:cs typeface="Calibri"/>
              </a:rPr>
              <a:t>Introducción</a:t>
            </a:r>
            <a:r>
              <a:rPr sz="3600" b="1" spc="-10" dirty="0">
                <a:solidFill>
                  <a:srgbClr val="2E2B1F"/>
                </a:solidFill>
                <a:latin typeface="Calibri"/>
                <a:cs typeface="Calibri"/>
              </a:rPr>
              <a:t>:</a:t>
            </a:r>
            <a:endParaRPr lang="es-CO" sz="3600" dirty="0"/>
          </a:p>
          <a:p>
            <a:r>
              <a:rPr lang="es-CO" sz="2400" dirty="0"/>
              <a:t>¿Cómo funciona?</a:t>
            </a:r>
          </a:p>
          <a:p>
            <a:r>
              <a:rPr lang="es-CO" sz="2400" b="1" dirty="0"/>
              <a:t>Uso del parqueadero</a:t>
            </a:r>
            <a:endParaRPr lang="es-CO" sz="2400" dirty="0"/>
          </a:p>
          <a:p>
            <a:pPr marL="342900" indent="-342900">
              <a:buFont typeface="Arial" panose="020B0604020202020204" pitchFamily="34" charset="0"/>
              <a:buChar char="•"/>
            </a:pPr>
            <a:r>
              <a:rPr lang="es-CO" sz="2400" dirty="0"/>
              <a:t>El conductor llega al lugar reservado y utiliza el espacio de manera rápida y organizada.</a:t>
            </a:r>
          </a:p>
          <a:p>
            <a:r>
              <a:rPr lang="es-CO" sz="2400" b="1" dirty="0"/>
              <a:t>Impacto en la ciudad</a:t>
            </a:r>
            <a:endParaRPr lang="es-CO" sz="2400" dirty="0"/>
          </a:p>
          <a:p>
            <a:pPr marL="342900" indent="-342900">
              <a:buFont typeface="Arial" panose="020B0604020202020204" pitchFamily="34" charset="0"/>
              <a:buChar char="•"/>
            </a:pPr>
            <a:r>
              <a:rPr lang="es-CO" sz="2400" dirty="0"/>
              <a:t>Con este proceso se reduce el tiempo de búsqueda de parqueaderos y se contribuye a la descongestión del tráfico en zonas críticas de Medellín.</a:t>
            </a:r>
          </a:p>
          <a:p>
            <a:endParaRPr lang="es-CO" sz="3600" dirty="0"/>
          </a:p>
        </p:txBody>
      </p:sp>
    </p:spTree>
    <p:extLst>
      <p:ext uri="{BB962C8B-B14F-4D97-AF65-F5344CB8AC3E}">
        <p14:creationId xmlns:p14="http://schemas.microsoft.com/office/powerpoint/2010/main" val="2330758934"/>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0" y="0"/>
            <a:ext cx="9144000" cy="6858000"/>
            <a:chOff x="0" y="0"/>
            <a:chExt cx="9144000" cy="6858000"/>
          </a:xfrm>
        </p:grpSpPr>
        <p:pic>
          <p:nvPicPr>
            <p:cNvPr id="3" name="object 3"/>
            <p:cNvPicPr/>
            <p:nvPr/>
          </p:nvPicPr>
          <p:blipFill>
            <a:blip r:embed="rId2" cstate="print"/>
            <a:stretch>
              <a:fillRect/>
            </a:stretch>
          </p:blipFill>
          <p:spPr>
            <a:xfrm>
              <a:off x="0" y="0"/>
              <a:ext cx="9144000" cy="6858000"/>
            </a:xfrm>
            <a:prstGeom prst="rect">
              <a:avLst/>
            </a:prstGeom>
          </p:spPr>
        </p:pic>
        <p:sp>
          <p:nvSpPr>
            <p:cNvPr id="4" name="object 4"/>
            <p:cNvSpPr/>
            <p:nvPr/>
          </p:nvSpPr>
          <p:spPr>
            <a:xfrm>
              <a:off x="8458200" y="0"/>
              <a:ext cx="685800" cy="6858000"/>
            </a:xfrm>
            <a:custGeom>
              <a:avLst/>
              <a:gdLst/>
              <a:ahLst/>
              <a:cxnLst/>
              <a:rect l="l" t="t" r="r" b="b"/>
              <a:pathLst>
                <a:path w="685800" h="6858000">
                  <a:moveTo>
                    <a:pt x="685800" y="6172200"/>
                  </a:moveTo>
                  <a:lnTo>
                    <a:pt x="0" y="6172200"/>
                  </a:lnTo>
                  <a:lnTo>
                    <a:pt x="0" y="6858000"/>
                  </a:lnTo>
                  <a:lnTo>
                    <a:pt x="685800" y="6858000"/>
                  </a:lnTo>
                  <a:lnTo>
                    <a:pt x="685800" y="6172200"/>
                  </a:lnTo>
                  <a:close/>
                </a:path>
                <a:path w="685800" h="6858000">
                  <a:moveTo>
                    <a:pt x="685800" y="0"/>
                  </a:moveTo>
                  <a:lnTo>
                    <a:pt x="0" y="0"/>
                  </a:lnTo>
                  <a:lnTo>
                    <a:pt x="0" y="5486400"/>
                  </a:lnTo>
                  <a:lnTo>
                    <a:pt x="685800" y="5486400"/>
                  </a:lnTo>
                  <a:lnTo>
                    <a:pt x="685800" y="0"/>
                  </a:lnTo>
                  <a:close/>
                </a:path>
              </a:pathLst>
            </a:custGeom>
            <a:solidFill>
              <a:srgbClr val="675E46"/>
            </a:solidFill>
          </p:spPr>
          <p:txBody>
            <a:bodyPr wrap="square" lIns="0" tIns="0" rIns="0" bIns="0" rtlCol="0"/>
            <a:lstStyle/>
            <a:p>
              <a:endParaRPr/>
            </a:p>
          </p:txBody>
        </p:sp>
        <p:sp>
          <p:nvSpPr>
            <p:cNvPr id="5" name="object 5"/>
            <p:cNvSpPr/>
            <p:nvPr/>
          </p:nvSpPr>
          <p:spPr>
            <a:xfrm>
              <a:off x="8458200" y="5486399"/>
              <a:ext cx="685800" cy="685800"/>
            </a:xfrm>
            <a:custGeom>
              <a:avLst/>
              <a:gdLst/>
              <a:ahLst/>
              <a:cxnLst/>
              <a:rect l="l" t="t" r="r" b="b"/>
              <a:pathLst>
                <a:path w="685800" h="685800">
                  <a:moveTo>
                    <a:pt x="685800" y="0"/>
                  </a:moveTo>
                  <a:lnTo>
                    <a:pt x="0" y="0"/>
                  </a:lnTo>
                  <a:lnTo>
                    <a:pt x="0" y="685800"/>
                  </a:lnTo>
                  <a:lnTo>
                    <a:pt x="685800" y="685800"/>
                  </a:lnTo>
                  <a:lnTo>
                    <a:pt x="685800" y="0"/>
                  </a:lnTo>
                  <a:close/>
                </a:path>
              </a:pathLst>
            </a:custGeom>
            <a:solidFill>
              <a:srgbClr val="A9A47B"/>
            </a:solidFill>
          </p:spPr>
          <p:txBody>
            <a:bodyPr wrap="square" lIns="0" tIns="0" rIns="0" bIns="0" rtlCol="0"/>
            <a:lstStyle/>
            <a:p>
              <a:endParaRPr/>
            </a:p>
          </p:txBody>
        </p:sp>
      </p:grpSp>
      <p:sp>
        <p:nvSpPr>
          <p:cNvPr id="6" name="object 6"/>
          <p:cNvSpPr txBox="1">
            <a:spLocks noGrp="1"/>
          </p:cNvSpPr>
          <p:nvPr>
            <p:ph type="title"/>
          </p:nvPr>
        </p:nvSpPr>
        <p:spPr>
          <a:xfrm>
            <a:off x="536257" y="445134"/>
            <a:ext cx="5808345" cy="756920"/>
          </a:xfrm>
          <a:prstGeom prst="rect">
            <a:avLst/>
          </a:prstGeom>
        </p:spPr>
        <p:txBody>
          <a:bodyPr vert="horz" wrap="square" lIns="0" tIns="12700" rIns="0" bIns="0" rtlCol="0">
            <a:spAutoFit/>
          </a:bodyPr>
          <a:lstStyle/>
          <a:p>
            <a:pPr marL="12700">
              <a:lnSpc>
                <a:spcPct val="100000"/>
              </a:lnSpc>
              <a:spcBef>
                <a:spcPts val="100"/>
              </a:spcBef>
            </a:pPr>
            <a:r>
              <a:rPr spc="-850" dirty="0"/>
              <a:t>M</a:t>
            </a:r>
            <a:r>
              <a:rPr spc="65" dirty="0"/>
              <a:t>A</a:t>
            </a:r>
            <a:r>
              <a:rPr spc="-690" dirty="0"/>
              <a:t>N</a:t>
            </a:r>
            <a:r>
              <a:rPr spc="-650" dirty="0"/>
              <a:t>U</a:t>
            </a:r>
            <a:r>
              <a:rPr spc="65" dirty="0"/>
              <a:t>A</a:t>
            </a:r>
            <a:r>
              <a:rPr spc="-305" dirty="0"/>
              <a:t>L</a:t>
            </a:r>
            <a:r>
              <a:rPr spc="-210" dirty="0"/>
              <a:t> </a:t>
            </a:r>
            <a:r>
              <a:rPr spc="-675" dirty="0"/>
              <a:t>D</a:t>
            </a:r>
            <a:r>
              <a:rPr spc="50" dirty="0"/>
              <a:t>E</a:t>
            </a:r>
            <a:r>
              <a:rPr spc="-204" dirty="0"/>
              <a:t> </a:t>
            </a:r>
            <a:r>
              <a:rPr spc="-650" dirty="0"/>
              <a:t>U</a:t>
            </a:r>
            <a:r>
              <a:rPr spc="-114" dirty="0"/>
              <a:t>S</a:t>
            </a:r>
            <a:r>
              <a:rPr spc="-650" dirty="0"/>
              <a:t>U</a:t>
            </a:r>
            <a:r>
              <a:rPr spc="65" dirty="0"/>
              <a:t>A</a:t>
            </a:r>
            <a:r>
              <a:rPr spc="-265" dirty="0"/>
              <a:t>R</a:t>
            </a:r>
            <a:r>
              <a:rPr spc="-245" dirty="0"/>
              <a:t>I</a:t>
            </a:r>
            <a:r>
              <a:rPr spc="-475" dirty="0"/>
              <a:t>O</a:t>
            </a:r>
          </a:p>
        </p:txBody>
      </p:sp>
      <p:sp>
        <p:nvSpPr>
          <p:cNvPr id="7" name="object 7"/>
          <p:cNvSpPr txBox="1"/>
          <p:nvPr/>
        </p:nvSpPr>
        <p:spPr>
          <a:xfrm>
            <a:off x="732790" y="1679459"/>
            <a:ext cx="7393305" cy="3007875"/>
          </a:xfrm>
          <a:prstGeom prst="rect">
            <a:avLst/>
          </a:prstGeom>
        </p:spPr>
        <p:txBody>
          <a:bodyPr vert="horz" wrap="square" lIns="0" tIns="121285" rIns="0" bIns="0" rtlCol="0">
            <a:spAutoFit/>
          </a:bodyPr>
          <a:lstStyle/>
          <a:p>
            <a:pPr marL="241300" indent="-228600">
              <a:lnSpc>
                <a:spcPct val="100000"/>
              </a:lnSpc>
              <a:spcBef>
                <a:spcPts val="955"/>
              </a:spcBef>
              <a:buClr>
                <a:srgbClr val="A9A47B"/>
              </a:buClr>
              <a:buFont typeface="Arial MT"/>
              <a:buChar char="•"/>
              <a:tabLst>
                <a:tab pos="241300" algn="l"/>
              </a:tabLst>
            </a:pPr>
            <a:r>
              <a:rPr sz="3600" b="1" spc="-10" dirty="0" err="1">
                <a:solidFill>
                  <a:srgbClr val="2E2B1F"/>
                </a:solidFill>
                <a:latin typeface="Calibri"/>
                <a:cs typeface="Calibri"/>
              </a:rPr>
              <a:t>Introducción</a:t>
            </a:r>
            <a:r>
              <a:rPr sz="3600" b="1" spc="-10" dirty="0">
                <a:solidFill>
                  <a:srgbClr val="2E2B1F"/>
                </a:solidFill>
                <a:latin typeface="Calibri"/>
                <a:cs typeface="Calibri"/>
              </a:rPr>
              <a:t>:</a:t>
            </a:r>
            <a:endParaRPr lang="es-CO" sz="3600" dirty="0"/>
          </a:p>
          <a:p>
            <a:r>
              <a:rPr lang="es-CO" sz="2400" dirty="0"/>
              <a:t>¿Para qué es?</a:t>
            </a:r>
          </a:p>
          <a:p>
            <a:pPr marL="12700">
              <a:spcBef>
                <a:spcPts val="865"/>
              </a:spcBef>
            </a:pPr>
            <a:r>
              <a:rPr lang="es-CO" sz="2400" dirty="0"/>
              <a:t>Facilitar la gestión de parqueaderos de la entidad mayor en Medellín mediante reservas digitales, mapas interactivos, con el fin de mejorar la experiencia de los conductores, optimizar el uso de los espacios y contribuir a la descongestión del tráfico en zonas críticas de la ciudad.</a:t>
            </a:r>
            <a:endParaRPr sz="2400" dirty="0">
              <a:latin typeface="Calibri"/>
              <a:cs typeface="Calibri"/>
            </a:endParaRPr>
          </a:p>
        </p:txBody>
      </p:sp>
    </p:spTree>
    <p:extLst>
      <p:ext uri="{BB962C8B-B14F-4D97-AF65-F5344CB8AC3E}">
        <p14:creationId xmlns:p14="http://schemas.microsoft.com/office/powerpoint/2010/main" val="3733517599"/>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228600" y="-19334"/>
            <a:ext cx="9144000" cy="6858000"/>
            <a:chOff x="0" y="0"/>
            <a:chExt cx="9144000" cy="6858000"/>
          </a:xfrm>
        </p:grpSpPr>
        <p:pic>
          <p:nvPicPr>
            <p:cNvPr id="3" name="object 3"/>
            <p:cNvPicPr/>
            <p:nvPr/>
          </p:nvPicPr>
          <p:blipFill>
            <a:blip r:embed="rId2" cstate="print"/>
            <a:stretch>
              <a:fillRect/>
            </a:stretch>
          </p:blipFill>
          <p:spPr>
            <a:xfrm>
              <a:off x="0" y="0"/>
              <a:ext cx="9144000" cy="6858000"/>
            </a:xfrm>
            <a:prstGeom prst="rect">
              <a:avLst/>
            </a:prstGeom>
          </p:spPr>
        </p:pic>
        <p:sp>
          <p:nvSpPr>
            <p:cNvPr id="4" name="object 4"/>
            <p:cNvSpPr/>
            <p:nvPr/>
          </p:nvSpPr>
          <p:spPr>
            <a:xfrm>
              <a:off x="8458200" y="0"/>
              <a:ext cx="685800" cy="6858000"/>
            </a:xfrm>
            <a:custGeom>
              <a:avLst/>
              <a:gdLst/>
              <a:ahLst/>
              <a:cxnLst/>
              <a:rect l="l" t="t" r="r" b="b"/>
              <a:pathLst>
                <a:path w="685800" h="6858000">
                  <a:moveTo>
                    <a:pt x="685800" y="6172200"/>
                  </a:moveTo>
                  <a:lnTo>
                    <a:pt x="0" y="6172200"/>
                  </a:lnTo>
                  <a:lnTo>
                    <a:pt x="0" y="6858000"/>
                  </a:lnTo>
                  <a:lnTo>
                    <a:pt x="685800" y="6858000"/>
                  </a:lnTo>
                  <a:lnTo>
                    <a:pt x="685800" y="6172200"/>
                  </a:lnTo>
                  <a:close/>
                </a:path>
                <a:path w="685800" h="6858000">
                  <a:moveTo>
                    <a:pt x="685800" y="0"/>
                  </a:moveTo>
                  <a:lnTo>
                    <a:pt x="0" y="0"/>
                  </a:lnTo>
                  <a:lnTo>
                    <a:pt x="0" y="5486400"/>
                  </a:lnTo>
                  <a:lnTo>
                    <a:pt x="685800" y="5486400"/>
                  </a:lnTo>
                  <a:lnTo>
                    <a:pt x="685800" y="0"/>
                  </a:lnTo>
                  <a:close/>
                </a:path>
              </a:pathLst>
            </a:custGeom>
            <a:solidFill>
              <a:srgbClr val="675E46"/>
            </a:solidFill>
          </p:spPr>
          <p:txBody>
            <a:bodyPr wrap="square" lIns="0" tIns="0" rIns="0" bIns="0" rtlCol="0"/>
            <a:lstStyle/>
            <a:p>
              <a:endParaRPr/>
            </a:p>
          </p:txBody>
        </p:sp>
        <p:sp>
          <p:nvSpPr>
            <p:cNvPr id="5" name="object 5"/>
            <p:cNvSpPr/>
            <p:nvPr/>
          </p:nvSpPr>
          <p:spPr>
            <a:xfrm>
              <a:off x="8458200" y="5486399"/>
              <a:ext cx="685800" cy="685800"/>
            </a:xfrm>
            <a:custGeom>
              <a:avLst/>
              <a:gdLst/>
              <a:ahLst/>
              <a:cxnLst/>
              <a:rect l="l" t="t" r="r" b="b"/>
              <a:pathLst>
                <a:path w="685800" h="685800">
                  <a:moveTo>
                    <a:pt x="685800" y="0"/>
                  </a:moveTo>
                  <a:lnTo>
                    <a:pt x="0" y="0"/>
                  </a:lnTo>
                  <a:lnTo>
                    <a:pt x="0" y="685800"/>
                  </a:lnTo>
                  <a:lnTo>
                    <a:pt x="685800" y="685800"/>
                  </a:lnTo>
                  <a:lnTo>
                    <a:pt x="685800" y="0"/>
                  </a:lnTo>
                  <a:close/>
                </a:path>
              </a:pathLst>
            </a:custGeom>
            <a:solidFill>
              <a:srgbClr val="A9A47B"/>
            </a:solidFill>
          </p:spPr>
          <p:txBody>
            <a:bodyPr wrap="square" lIns="0" tIns="0" rIns="0" bIns="0" rtlCol="0"/>
            <a:lstStyle/>
            <a:p>
              <a:endParaRPr/>
            </a:p>
          </p:txBody>
        </p:sp>
      </p:grpSp>
      <p:sp>
        <p:nvSpPr>
          <p:cNvPr id="6" name="object 6"/>
          <p:cNvSpPr txBox="1">
            <a:spLocks noGrp="1"/>
          </p:cNvSpPr>
          <p:nvPr>
            <p:ph type="title"/>
          </p:nvPr>
        </p:nvSpPr>
        <p:spPr>
          <a:xfrm>
            <a:off x="536257" y="445134"/>
            <a:ext cx="5808345" cy="756920"/>
          </a:xfrm>
          <a:prstGeom prst="rect">
            <a:avLst/>
          </a:prstGeom>
        </p:spPr>
        <p:txBody>
          <a:bodyPr vert="horz" wrap="square" lIns="0" tIns="12700" rIns="0" bIns="0" rtlCol="0">
            <a:spAutoFit/>
          </a:bodyPr>
          <a:lstStyle/>
          <a:p>
            <a:pPr marL="12700">
              <a:lnSpc>
                <a:spcPct val="100000"/>
              </a:lnSpc>
              <a:spcBef>
                <a:spcPts val="100"/>
              </a:spcBef>
            </a:pPr>
            <a:r>
              <a:rPr spc="-850" dirty="0"/>
              <a:t>M</a:t>
            </a:r>
            <a:r>
              <a:rPr spc="65" dirty="0"/>
              <a:t>A</a:t>
            </a:r>
            <a:r>
              <a:rPr spc="-690" dirty="0"/>
              <a:t>N</a:t>
            </a:r>
            <a:r>
              <a:rPr spc="-650" dirty="0"/>
              <a:t>U</a:t>
            </a:r>
            <a:r>
              <a:rPr spc="65" dirty="0"/>
              <a:t>A</a:t>
            </a:r>
            <a:r>
              <a:rPr spc="-305" dirty="0"/>
              <a:t>L</a:t>
            </a:r>
            <a:r>
              <a:rPr spc="-210" dirty="0"/>
              <a:t> </a:t>
            </a:r>
            <a:r>
              <a:rPr spc="-675" dirty="0"/>
              <a:t>D</a:t>
            </a:r>
            <a:r>
              <a:rPr spc="50" dirty="0"/>
              <a:t>E</a:t>
            </a:r>
            <a:r>
              <a:rPr spc="-204" dirty="0"/>
              <a:t> </a:t>
            </a:r>
            <a:r>
              <a:rPr spc="-650" dirty="0"/>
              <a:t>U</a:t>
            </a:r>
            <a:r>
              <a:rPr spc="-114" dirty="0"/>
              <a:t>S</a:t>
            </a:r>
            <a:r>
              <a:rPr spc="-650" dirty="0"/>
              <a:t>U</a:t>
            </a:r>
            <a:r>
              <a:rPr spc="65" dirty="0"/>
              <a:t>A</a:t>
            </a:r>
            <a:r>
              <a:rPr spc="-265" dirty="0"/>
              <a:t>R</a:t>
            </a:r>
            <a:r>
              <a:rPr spc="-245" dirty="0"/>
              <a:t>I</a:t>
            </a:r>
            <a:r>
              <a:rPr spc="-475" dirty="0"/>
              <a:t>O</a:t>
            </a:r>
          </a:p>
        </p:txBody>
      </p:sp>
      <p:sp>
        <p:nvSpPr>
          <p:cNvPr id="7" name="object 7"/>
          <p:cNvSpPr txBox="1"/>
          <p:nvPr/>
        </p:nvSpPr>
        <p:spPr>
          <a:xfrm>
            <a:off x="533982" y="1467475"/>
            <a:ext cx="7393305" cy="2153795"/>
          </a:xfrm>
          <a:prstGeom prst="rect">
            <a:avLst/>
          </a:prstGeom>
        </p:spPr>
        <p:txBody>
          <a:bodyPr vert="horz" wrap="square" lIns="0" tIns="121285" rIns="0" bIns="0" rtlCol="0">
            <a:spAutoFit/>
          </a:bodyPr>
          <a:lstStyle/>
          <a:p>
            <a:pPr marL="241300" indent="-228600">
              <a:lnSpc>
                <a:spcPct val="100000"/>
              </a:lnSpc>
              <a:spcBef>
                <a:spcPts val="955"/>
              </a:spcBef>
              <a:buClr>
                <a:srgbClr val="A9A47B"/>
              </a:buClr>
              <a:buFont typeface="Arial MT"/>
              <a:buChar char="•"/>
              <a:tabLst>
                <a:tab pos="241300" algn="l"/>
              </a:tabLst>
            </a:pPr>
            <a:r>
              <a:rPr sz="3600" b="1" spc="-10" dirty="0" err="1">
                <a:solidFill>
                  <a:srgbClr val="2E2B1F"/>
                </a:solidFill>
                <a:latin typeface="Calibri"/>
                <a:cs typeface="Calibri"/>
              </a:rPr>
              <a:t>Introducción</a:t>
            </a:r>
            <a:r>
              <a:rPr sz="3600" b="1" spc="-10" dirty="0">
                <a:solidFill>
                  <a:srgbClr val="2E2B1F"/>
                </a:solidFill>
                <a:latin typeface="Calibri"/>
                <a:cs typeface="Calibri"/>
              </a:rPr>
              <a:t>:</a:t>
            </a:r>
            <a:endParaRPr lang="es-CO" sz="3600" dirty="0"/>
          </a:p>
          <a:p>
            <a:r>
              <a:rPr lang="es-CO" sz="2400" dirty="0"/>
              <a:t>¿Quién lo puede utilizar?</a:t>
            </a:r>
          </a:p>
          <a:p>
            <a:r>
              <a:rPr lang="es-CO" sz="2400" dirty="0"/>
              <a:t>Refugio Rodante está diseñado para cualquier conductor en Medellín que necesite parquear de forma fácil, rápida y organizada.</a:t>
            </a:r>
          </a:p>
        </p:txBody>
      </p:sp>
    </p:spTree>
    <p:extLst>
      <p:ext uri="{BB962C8B-B14F-4D97-AF65-F5344CB8AC3E}">
        <p14:creationId xmlns:p14="http://schemas.microsoft.com/office/powerpoint/2010/main" val="3838556514"/>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0" y="0"/>
            <a:ext cx="9144000" cy="6858000"/>
            <a:chOff x="0" y="0"/>
            <a:chExt cx="9144000" cy="6858000"/>
          </a:xfrm>
        </p:grpSpPr>
        <p:pic>
          <p:nvPicPr>
            <p:cNvPr id="3" name="object 3"/>
            <p:cNvPicPr/>
            <p:nvPr/>
          </p:nvPicPr>
          <p:blipFill>
            <a:blip r:embed="rId2" cstate="print"/>
            <a:stretch>
              <a:fillRect/>
            </a:stretch>
          </p:blipFill>
          <p:spPr>
            <a:xfrm>
              <a:off x="0" y="0"/>
              <a:ext cx="9144000" cy="6858000"/>
            </a:xfrm>
            <a:prstGeom prst="rect">
              <a:avLst/>
            </a:prstGeom>
          </p:spPr>
        </p:pic>
        <p:sp>
          <p:nvSpPr>
            <p:cNvPr id="4" name="object 4"/>
            <p:cNvSpPr/>
            <p:nvPr/>
          </p:nvSpPr>
          <p:spPr>
            <a:xfrm>
              <a:off x="8458200" y="0"/>
              <a:ext cx="685800" cy="6858000"/>
            </a:xfrm>
            <a:custGeom>
              <a:avLst/>
              <a:gdLst/>
              <a:ahLst/>
              <a:cxnLst/>
              <a:rect l="l" t="t" r="r" b="b"/>
              <a:pathLst>
                <a:path w="685800" h="6858000">
                  <a:moveTo>
                    <a:pt x="685800" y="6172200"/>
                  </a:moveTo>
                  <a:lnTo>
                    <a:pt x="0" y="6172200"/>
                  </a:lnTo>
                  <a:lnTo>
                    <a:pt x="0" y="6858000"/>
                  </a:lnTo>
                  <a:lnTo>
                    <a:pt x="685800" y="6858000"/>
                  </a:lnTo>
                  <a:lnTo>
                    <a:pt x="685800" y="6172200"/>
                  </a:lnTo>
                  <a:close/>
                </a:path>
                <a:path w="685800" h="6858000">
                  <a:moveTo>
                    <a:pt x="685800" y="0"/>
                  </a:moveTo>
                  <a:lnTo>
                    <a:pt x="0" y="0"/>
                  </a:lnTo>
                  <a:lnTo>
                    <a:pt x="0" y="5486400"/>
                  </a:lnTo>
                  <a:lnTo>
                    <a:pt x="685800" y="5486400"/>
                  </a:lnTo>
                  <a:lnTo>
                    <a:pt x="685800" y="0"/>
                  </a:lnTo>
                  <a:close/>
                </a:path>
              </a:pathLst>
            </a:custGeom>
            <a:solidFill>
              <a:srgbClr val="675E46"/>
            </a:solidFill>
          </p:spPr>
          <p:txBody>
            <a:bodyPr wrap="square" lIns="0" tIns="0" rIns="0" bIns="0" rtlCol="0"/>
            <a:lstStyle/>
            <a:p>
              <a:endParaRPr/>
            </a:p>
          </p:txBody>
        </p:sp>
        <p:sp>
          <p:nvSpPr>
            <p:cNvPr id="5" name="object 5"/>
            <p:cNvSpPr/>
            <p:nvPr/>
          </p:nvSpPr>
          <p:spPr>
            <a:xfrm>
              <a:off x="8458200" y="5486399"/>
              <a:ext cx="685800" cy="685800"/>
            </a:xfrm>
            <a:custGeom>
              <a:avLst/>
              <a:gdLst/>
              <a:ahLst/>
              <a:cxnLst/>
              <a:rect l="l" t="t" r="r" b="b"/>
              <a:pathLst>
                <a:path w="685800" h="685800">
                  <a:moveTo>
                    <a:pt x="685800" y="0"/>
                  </a:moveTo>
                  <a:lnTo>
                    <a:pt x="0" y="0"/>
                  </a:lnTo>
                  <a:lnTo>
                    <a:pt x="0" y="685800"/>
                  </a:lnTo>
                  <a:lnTo>
                    <a:pt x="685800" y="685800"/>
                  </a:lnTo>
                  <a:lnTo>
                    <a:pt x="685800" y="0"/>
                  </a:lnTo>
                  <a:close/>
                </a:path>
              </a:pathLst>
            </a:custGeom>
            <a:solidFill>
              <a:srgbClr val="A9A47B"/>
            </a:solidFill>
          </p:spPr>
          <p:txBody>
            <a:bodyPr wrap="square" lIns="0" tIns="0" rIns="0" bIns="0" rtlCol="0"/>
            <a:lstStyle/>
            <a:p>
              <a:endParaRPr/>
            </a:p>
          </p:txBody>
        </p:sp>
      </p:grpSp>
      <p:sp>
        <p:nvSpPr>
          <p:cNvPr id="6" name="object 6"/>
          <p:cNvSpPr txBox="1">
            <a:spLocks noGrp="1"/>
          </p:cNvSpPr>
          <p:nvPr>
            <p:ph type="title"/>
          </p:nvPr>
        </p:nvSpPr>
        <p:spPr>
          <a:xfrm>
            <a:off x="996632" y="394334"/>
            <a:ext cx="6557009" cy="848360"/>
          </a:xfrm>
          <a:prstGeom prst="rect">
            <a:avLst/>
          </a:prstGeom>
        </p:spPr>
        <p:txBody>
          <a:bodyPr vert="horz" wrap="square" lIns="0" tIns="12700" rIns="0" bIns="0" rtlCol="0">
            <a:spAutoFit/>
          </a:bodyPr>
          <a:lstStyle/>
          <a:p>
            <a:pPr marL="12700">
              <a:lnSpc>
                <a:spcPct val="100000"/>
              </a:lnSpc>
              <a:spcBef>
                <a:spcPts val="100"/>
              </a:spcBef>
            </a:pPr>
            <a:r>
              <a:rPr sz="5400" spc="-969" dirty="0"/>
              <a:t>M</a:t>
            </a:r>
            <a:r>
              <a:rPr sz="5400" spc="75" dirty="0"/>
              <a:t>A</a:t>
            </a:r>
            <a:r>
              <a:rPr sz="5400" spc="-770" dirty="0"/>
              <a:t>N</a:t>
            </a:r>
            <a:r>
              <a:rPr sz="5400" spc="-720" dirty="0"/>
              <a:t>U</a:t>
            </a:r>
            <a:r>
              <a:rPr sz="5400" spc="75" dirty="0"/>
              <a:t>A</a:t>
            </a:r>
            <a:r>
              <a:rPr sz="5400" spc="-345" dirty="0"/>
              <a:t>L</a:t>
            </a:r>
            <a:r>
              <a:rPr sz="5400" spc="-190" dirty="0"/>
              <a:t> </a:t>
            </a:r>
            <a:r>
              <a:rPr sz="5400" spc="-745" dirty="0"/>
              <a:t>D</a:t>
            </a:r>
            <a:r>
              <a:rPr sz="5400" spc="55" dirty="0"/>
              <a:t>E</a:t>
            </a:r>
            <a:r>
              <a:rPr sz="5400" spc="-190" dirty="0"/>
              <a:t> </a:t>
            </a:r>
            <a:r>
              <a:rPr sz="5400" spc="-720" dirty="0"/>
              <a:t>U</a:t>
            </a:r>
            <a:r>
              <a:rPr sz="5400" spc="-110" dirty="0"/>
              <a:t>S</a:t>
            </a:r>
            <a:r>
              <a:rPr sz="5400" spc="-720" dirty="0"/>
              <a:t>U</a:t>
            </a:r>
            <a:r>
              <a:rPr sz="5400" spc="75" dirty="0"/>
              <a:t>A</a:t>
            </a:r>
            <a:r>
              <a:rPr sz="5400" spc="-265" dirty="0"/>
              <a:t>R</a:t>
            </a:r>
            <a:r>
              <a:rPr sz="5400" spc="-240" dirty="0"/>
              <a:t>I</a:t>
            </a:r>
            <a:r>
              <a:rPr sz="5400" spc="-530" dirty="0"/>
              <a:t>O</a:t>
            </a:r>
            <a:endParaRPr sz="5400"/>
          </a:p>
        </p:txBody>
      </p:sp>
      <p:sp>
        <p:nvSpPr>
          <p:cNvPr id="7" name="object 7"/>
          <p:cNvSpPr txBox="1"/>
          <p:nvPr/>
        </p:nvSpPr>
        <p:spPr>
          <a:xfrm>
            <a:off x="588644" y="1751012"/>
            <a:ext cx="7393940" cy="2154436"/>
          </a:xfrm>
          <a:prstGeom prst="rect">
            <a:avLst/>
          </a:prstGeom>
        </p:spPr>
        <p:txBody>
          <a:bodyPr vert="horz" wrap="square" lIns="0" tIns="121920" rIns="0" bIns="0" rtlCol="0">
            <a:spAutoFit/>
          </a:bodyPr>
          <a:lstStyle/>
          <a:p>
            <a:pPr marL="241300" indent="-229235" algn="just">
              <a:lnSpc>
                <a:spcPct val="100000"/>
              </a:lnSpc>
              <a:spcBef>
                <a:spcPts val="960"/>
              </a:spcBef>
              <a:buClr>
                <a:srgbClr val="A9A47B"/>
              </a:buClr>
              <a:buFont typeface="Arial MT"/>
              <a:buChar char="•"/>
              <a:tabLst>
                <a:tab pos="241935" algn="l"/>
              </a:tabLst>
            </a:pPr>
            <a:r>
              <a:rPr sz="3600" b="1" spc="-10" dirty="0">
                <a:solidFill>
                  <a:srgbClr val="2E2B1F"/>
                </a:solidFill>
                <a:latin typeface="Calibri"/>
                <a:cs typeface="Calibri"/>
              </a:rPr>
              <a:t>Objetivos</a:t>
            </a:r>
            <a:r>
              <a:rPr sz="3600" b="1" spc="-35" dirty="0">
                <a:solidFill>
                  <a:srgbClr val="2E2B1F"/>
                </a:solidFill>
                <a:latin typeface="Calibri"/>
                <a:cs typeface="Calibri"/>
              </a:rPr>
              <a:t> </a:t>
            </a:r>
            <a:r>
              <a:rPr sz="3600" b="1" dirty="0">
                <a:solidFill>
                  <a:srgbClr val="2E2B1F"/>
                </a:solidFill>
                <a:latin typeface="Calibri"/>
                <a:cs typeface="Calibri"/>
              </a:rPr>
              <a:t>del</a:t>
            </a:r>
            <a:r>
              <a:rPr sz="3600" b="1" spc="-50" dirty="0">
                <a:solidFill>
                  <a:srgbClr val="2E2B1F"/>
                </a:solidFill>
                <a:latin typeface="Calibri"/>
                <a:cs typeface="Calibri"/>
              </a:rPr>
              <a:t> </a:t>
            </a:r>
            <a:r>
              <a:rPr sz="3600" b="1" spc="-15" dirty="0">
                <a:solidFill>
                  <a:srgbClr val="2E2B1F"/>
                </a:solidFill>
                <a:latin typeface="Calibri"/>
                <a:cs typeface="Calibri"/>
              </a:rPr>
              <a:t>Sistema:</a:t>
            </a:r>
            <a:endParaRPr sz="3600" dirty="0">
              <a:latin typeface="Calibri"/>
              <a:cs typeface="Calibri"/>
            </a:endParaRPr>
          </a:p>
          <a:p>
            <a:r>
              <a:rPr lang="es-CO" sz="2400" dirty="0"/>
              <a:t>Objetivo general:</a:t>
            </a:r>
          </a:p>
          <a:p>
            <a:r>
              <a:rPr lang="es-CO" sz="2400" dirty="0"/>
              <a:t>Desarrollar una plataforma digital para la reserva inteligente de parqueaderos de la entidad mayor en Medellín, integrando la geolocalización</a:t>
            </a:r>
          </a:p>
        </p:txBody>
      </p:sp>
    </p:spTree>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0" y="0"/>
            <a:ext cx="9144000" cy="6858000"/>
            <a:chOff x="0" y="0"/>
            <a:chExt cx="9144000" cy="6858000"/>
          </a:xfrm>
        </p:grpSpPr>
        <p:pic>
          <p:nvPicPr>
            <p:cNvPr id="3" name="object 3"/>
            <p:cNvPicPr/>
            <p:nvPr/>
          </p:nvPicPr>
          <p:blipFill>
            <a:blip r:embed="rId2" cstate="print"/>
            <a:stretch>
              <a:fillRect/>
            </a:stretch>
          </p:blipFill>
          <p:spPr>
            <a:xfrm>
              <a:off x="0" y="0"/>
              <a:ext cx="9144000" cy="6858000"/>
            </a:xfrm>
            <a:prstGeom prst="rect">
              <a:avLst/>
            </a:prstGeom>
          </p:spPr>
        </p:pic>
        <p:sp>
          <p:nvSpPr>
            <p:cNvPr id="4" name="object 4"/>
            <p:cNvSpPr/>
            <p:nvPr/>
          </p:nvSpPr>
          <p:spPr>
            <a:xfrm>
              <a:off x="8458200" y="0"/>
              <a:ext cx="685800" cy="6858000"/>
            </a:xfrm>
            <a:custGeom>
              <a:avLst/>
              <a:gdLst/>
              <a:ahLst/>
              <a:cxnLst/>
              <a:rect l="l" t="t" r="r" b="b"/>
              <a:pathLst>
                <a:path w="685800" h="6858000">
                  <a:moveTo>
                    <a:pt x="685800" y="6172200"/>
                  </a:moveTo>
                  <a:lnTo>
                    <a:pt x="0" y="6172200"/>
                  </a:lnTo>
                  <a:lnTo>
                    <a:pt x="0" y="6858000"/>
                  </a:lnTo>
                  <a:lnTo>
                    <a:pt x="685800" y="6858000"/>
                  </a:lnTo>
                  <a:lnTo>
                    <a:pt x="685800" y="6172200"/>
                  </a:lnTo>
                  <a:close/>
                </a:path>
                <a:path w="685800" h="6858000">
                  <a:moveTo>
                    <a:pt x="685800" y="0"/>
                  </a:moveTo>
                  <a:lnTo>
                    <a:pt x="0" y="0"/>
                  </a:lnTo>
                  <a:lnTo>
                    <a:pt x="0" y="5486400"/>
                  </a:lnTo>
                  <a:lnTo>
                    <a:pt x="685800" y="5486400"/>
                  </a:lnTo>
                  <a:lnTo>
                    <a:pt x="685800" y="0"/>
                  </a:lnTo>
                  <a:close/>
                </a:path>
              </a:pathLst>
            </a:custGeom>
            <a:solidFill>
              <a:srgbClr val="675E46"/>
            </a:solidFill>
          </p:spPr>
          <p:txBody>
            <a:bodyPr wrap="square" lIns="0" tIns="0" rIns="0" bIns="0" rtlCol="0"/>
            <a:lstStyle/>
            <a:p>
              <a:endParaRPr/>
            </a:p>
          </p:txBody>
        </p:sp>
        <p:sp>
          <p:nvSpPr>
            <p:cNvPr id="5" name="object 5"/>
            <p:cNvSpPr/>
            <p:nvPr/>
          </p:nvSpPr>
          <p:spPr>
            <a:xfrm>
              <a:off x="8458200" y="5486399"/>
              <a:ext cx="685800" cy="685800"/>
            </a:xfrm>
            <a:custGeom>
              <a:avLst/>
              <a:gdLst/>
              <a:ahLst/>
              <a:cxnLst/>
              <a:rect l="l" t="t" r="r" b="b"/>
              <a:pathLst>
                <a:path w="685800" h="685800">
                  <a:moveTo>
                    <a:pt x="685800" y="0"/>
                  </a:moveTo>
                  <a:lnTo>
                    <a:pt x="0" y="0"/>
                  </a:lnTo>
                  <a:lnTo>
                    <a:pt x="0" y="685800"/>
                  </a:lnTo>
                  <a:lnTo>
                    <a:pt x="685800" y="685800"/>
                  </a:lnTo>
                  <a:lnTo>
                    <a:pt x="685800" y="0"/>
                  </a:lnTo>
                  <a:close/>
                </a:path>
              </a:pathLst>
            </a:custGeom>
            <a:solidFill>
              <a:srgbClr val="A9A47B"/>
            </a:solidFill>
          </p:spPr>
          <p:txBody>
            <a:bodyPr wrap="square" lIns="0" tIns="0" rIns="0" bIns="0" rtlCol="0"/>
            <a:lstStyle/>
            <a:p>
              <a:endParaRPr/>
            </a:p>
          </p:txBody>
        </p:sp>
      </p:grpSp>
      <p:sp>
        <p:nvSpPr>
          <p:cNvPr id="6" name="object 6"/>
          <p:cNvSpPr txBox="1">
            <a:spLocks noGrp="1"/>
          </p:cNvSpPr>
          <p:nvPr>
            <p:ph type="title"/>
          </p:nvPr>
        </p:nvSpPr>
        <p:spPr>
          <a:xfrm>
            <a:off x="996632" y="394334"/>
            <a:ext cx="6557009" cy="848360"/>
          </a:xfrm>
          <a:prstGeom prst="rect">
            <a:avLst/>
          </a:prstGeom>
        </p:spPr>
        <p:txBody>
          <a:bodyPr vert="horz" wrap="square" lIns="0" tIns="12700" rIns="0" bIns="0" rtlCol="0">
            <a:spAutoFit/>
          </a:bodyPr>
          <a:lstStyle/>
          <a:p>
            <a:pPr marL="12700">
              <a:lnSpc>
                <a:spcPct val="100000"/>
              </a:lnSpc>
              <a:spcBef>
                <a:spcPts val="100"/>
              </a:spcBef>
            </a:pPr>
            <a:r>
              <a:rPr sz="5400" spc="-969" dirty="0"/>
              <a:t>M</a:t>
            </a:r>
            <a:r>
              <a:rPr sz="5400" spc="75" dirty="0"/>
              <a:t>A</a:t>
            </a:r>
            <a:r>
              <a:rPr sz="5400" spc="-770" dirty="0"/>
              <a:t>N</a:t>
            </a:r>
            <a:r>
              <a:rPr sz="5400" spc="-720" dirty="0"/>
              <a:t>U</a:t>
            </a:r>
            <a:r>
              <a:rPr sz="5400" spc="75" dirty="0"/>
              <a:t>A</a:t>
            </a:r>
            <a:r>
              <a:rPr sz="5400" spc="-345" dirty="0"/>
              <a:t>L</a:t>
            </a:r>
            <a:r>
              <a:rPr sz="5400" spc="-190" dirty="0"/>
              <a:t> </a:t>
            </a:r>
            <a:r>
              <a:rPr sz="5400" spc="-745" dirty="0"/>
              <a:t>D</a:t>
            </a:r>
            <a:r>
              <a:rPr sz="5400" spc="55" dirty="0"/>
              <a:t>E</a:t>
            </a:r>
            <a:r>
              <a:rPr sz="5400" spc="-190" dirty="0"/>
              <a:t> </a:t>
            </a:r>
            <a:r>
              <a:rPr sz="5400" spc="-720" dirty="0"/>
              <a:t>U</a:t>
            </a:r>
            <a:r>
              <a:rPr sz="5400" spc="-110" dirty="0"/>
              <a:t>S</a:t>
            </a:r>
            <a:r>
              <a:rPr sz="5400" spc="-720" dirty="0"/>
              <a:t>U</a:t>
            </a:r>
            <a:r>
              <a:rPr sz="5400" spc="75" dirty="0"/>
              <a:t>A</a:t>
            </a:r>
            <a:r>
              <a:rPr sz="5400" spc="-265" dirty="0"/>
              <a:t>R</a:t>
            </a:r>
            <a:r>
              <a:rPr sz="5400" spc="-240" dirty="0"/>
              <a:t>I</a:t>
            </a:r>
            <a:r>
              <a:rPr sz="5400" spc="-530" dirty="0"/>
              <a:t>O</a:t>
            </a:r>
            <a:endParaRPr sz="5400"/>
          </a:p>
        </p:txBody>
      </p:sp>
      <p:sp>
        <p:nvSpPr>
          <p:cNvPr id="7" name="object 7"/>
          <p:cNvSpPr txBox="1"/>
          <p:nvPr/>
        </p:nvSpPr>
        <p:spPr>
          <a:xfrm>
            <a:off x="588644" y="1751012"/>
            <a:ext cx="7393940" cy="3816429"/>
          </a:xfrm>
          <a:prstGeom prst="rect">
            <a:avLst/>
          </a:prstGeom>
        </p:spPr>
        <p:txBody>
          <a:bodyPr vert="horz" wrap="square" lIns="0" tIns="121920" rIns="0" bIns="0" rtlCol="0">
            <a:spAutoFit/>
          </a:bodyPr>
          <a:lstStyle/>
          <a:p>
            <a:pPr marL="241300" indent="-229235" algn="just">
              <a:lnSpc>
                <a:spcPct val="100000"/>
              </a:lnSpc>
              <a:spcBef>
                <a:spcPts val="960"/>
              </a:spcBef>
              <a:buClr>
                <a:srgbClr val="A9A47B"/>
              </a:buClr>
              <a:buFont typeface="Arial MT"/>
              <a:buChar char="•"/>
              <a:tabLst>
                <a:tab pos="241935" algn="l"/>
              </a:tabLst>
            </a:pPr>
            <a:r>
              <a:rPr sz="3600" b="1" spc="-10" dirty="0">
                <a:solidFill>
                  <a:srgbClr val="2E2B1F"/>
                </a:solidFill>
                <a:latin typeface="Calibri"/>
                <a:cs typeface="Calibri"/>
              </a:rPr>
              <a:t>Objetivos</a:t>
            </a:r>
            <a:r>
              <a:rPr sz="3600" b="1" spc="-35" dirty="0">
                <a:solidFill>
                  <a:srgbClr val="2E2B1F"/>
                </a:solidFill>
                <a:latin typeface="Calibri"/>
                <a:cs typeface="Calibri"/>
              </a:rPr>
              <a:t> </a:t>
            </a:r>
            <a:r>
              <a:rPr sz="3600" b="1" dirty="0">
                <a:solidFill>
                  <a:srgbClr val="2E2B1F"/>
                </a:solidFill>
                <a:latin typeface="Calibri"/>
                <a:cs typeface="Calibri"/>
              </a:rPr>
              <a:t>del</a:t>
            </a:r>
            <a:r>
              <a:rPr sz="3600" b="1" spc="-50" dirty="0">
                <a:solidFill>
                  <a:srgbClr val="2E2B1F"/>
                </a:solidFill>
                <a:latin typeface="Calibri"/>
                <a:cs typeface="Calibri"/>
              </a:rPr>
              <a:t> </a:t>
            </a:r>
            <a:r>
              <a:rPr sz="3600" b="1" spc="-15" dirty="0">
                <a:solidFill>
                  <a:srgbClr val="2E2B1F"/>
                </a:solidFill>
                <a:latin typeface="Calibri"/>
                <a:cs typeface="Calibri"/>
              </a:rPr>
              <a:t>Sistema:</a:t>
            </a:r>
            <a:endParaRPr sz="3600" dirty="0">
              <a:latin typeface="Calibri"/>
              <a:cs typeface="Calibri"/>
            </a:endParaRPr>
          </a:p>
          <a:p>
            <a:r>
              <a:rPr lang="es-CO" sz="2400" b="1" dirty="0"/>
              <a:t>Objetivos Específicos</a:t>
            </a:r>
            <a:br>
              <a:rPr lang="es-CO" sz="2400" dirty="0"/>
            </a:br>
            <a:r>
              <a:rPr lang="es-CO" sz="2400" dirty="0"/>
              <a:t>1. Levantar requerimientos con usuarios y administradores de parqueaderos.</a:t>
            </a:r>
          </a:p>
          <a:p>
            <a:r>
              <a:rPr lang="es-CO" sz="2400" dirty="0"/>
              <a:t>2. Diseñar base de datos y prototipos de la interfaz.</a:t>
            </a:r>
          </a:p>
          <a:p>
            <a:r>
              <a:rPr lang="es-CO" sz="2400" dirty="0"/>
              <a:t>3. Implementar módulos de reserva, pago y visualización.</a:t>
            </a:r>
          </a:p>
          <a:p>
            <a:r>
              <a:rPr lang="es-CO" sz="2400" dirty="0"/>
              <a:t>4. Probar el sistema con usuarios reales y documentar el proceso.</a:t>
            </a:r>
          </a:p>
          <a:p>
            <a:endParaRPr lang="es-CO" sz="3600" dirty="0"/>
          </a:p>
        </p:txBody>
      </p:sp>
    </p:spTree>
    <p:extLst>
      <p:ext uri="{BB962C8B-B14F-4D97-AF65-F5344CB8AC3E}">
        <p14:creationId xmlns:p14="http://schemas.microsoft.com/office/powerpoint/2010/main" val="54564655"/>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30944" y="0"/>
            <a:ext cx="9144000" cy="6858000"/>
            <a:chOff x="0" y="0"/>
            <a:chExt cx="9144000" cy="6858000"/>
          </a:xfrm>
        </p:grpSpPr>
        <p:pic>
          <p:nvPicPr>
            <p:cNvPr id="3" name="object 3"/>
            <p:cNvPicPr/>
            <p:nvPr/>
          </p:nvPicPr>
          <p:blipFill>
            <a:blip r:embed="rId2" cstate="print"/>
            <a:stretch>
              <a:fillRect/>
            </a:stretch>
          </p:blipFill>
          <p:spPr>
            <a:xfrm>
              <a:off x="0" y="0"/>
              <a:ext cx="9144000" cy="6858000"/>
            </a:xfrm>
            <a:prstGeom prst="rect">
              <a:avLst/>
            </a:prstGeom>
          </p:spPr>
        </p:pic>
        <p:sp>
          <p:nvSpPr>
            <p:cNvPr id="4" name="object 4"/>
            <p:cNvSpPr/>
            <p:nvPr/>
          </p:nvSpPr>
          <p:spPr>
            <a:xfrm>
              <a:off x="8458200" y="0"/>
              <a:ext cx="685800" cy="6858000"/>
            </a:xfrm>
            <a:custGeom>
              <a:avLst/>
              <a:gdLst/>
              <a:ahLst/>
              <a:cxnLst/>
              <a:rect l="l" t="t" r="r" b="b"/>
              <a:pathLst>
                <a:path w="685800" h="6858000">
                  <a:moveTo>
                    <a:pt x="685800" y="6172200"/>
                  </a:moveTo>
                  <a:lnTo>
                    <a:pt x="0" y="6172200"/>
                  </a:lnTo>
                  <a:lnTo>
                    <a:pt x="0" y="6858000"/>
                  </a:lnTo>
                  <a:lnTo>
                    <a:pt x="685800" y="6858000"/>
                  </a:lnTo>
                  <a:lnTo>
                    <a:pt x="685800" y="6172200"/>
                  </a:lnTo>
                  <a:close/>
                </a:path>
                <a:path w="685800" h="6858000">
                  <a:moveTo>
                    <a:pt x="685800" y="0"/>
                  </a:moveTo>
                  <a:lnTo>
                    <a:pt x="0" y="0"/>
                  </a:lnTo>
                  <a:lnTo>
                    <a:pt x="0" y="5486400"/>
                  </a:lnTo>
                  <a:lnTo>
                    <a:pt x="685800" y="5486400"/>
                  </a:lnTo>
                  <a:lnTo>
                    <a:pt x="685800" y="0"/>
                  </a:lnTo>
                  <a:close/>
                </a:path>
              </a:pathLst>
            </a:custGeom>
            <a:solidFill>
              <a:srgbClr val="675E46"/>
            </a:solidFill>
          </p:spPr>
          <p:txBody>
            <a:bodyPr wrap="square" lIns="0" tIns="0" rIns="0" bIns="0" rtlCol="0"/>
            <a:lstStyle/>
            <a:p>
              <a:endParaRPr/>
            </a:p>
          </p:txBody>
        </p:sp>
        <p:sp>
          <p:nvSpPr>
            <p:cNvPr id="5" name="object 5"/>
            <p:cNvSpPr/>
            <p:nvPr/>
          </p:nvSpPr>
          <p:spPr>
            <a:xfrm>
              <a:off x="8458200" y="5486399"/>
              <a:ext cx="685800" cy="685800"/>
            </a:xfrm>
            <a:custGeom>
              <a:avLst/>
              <a:gdLst/>
              <a:ahLst/>
              <a:cxnLst/>
              <a:rect l="l" t="t" r="r" b="b"/>
              <a:pathLst>
                <a:path w="685800" h="685800">
                  <a:moveTo>
                    <a:pt x="685800" y="0"/>
                  </a:moveTo>
                  <a:lnTo>
                    <a:pt x="0" y="0"/>
                  </a:lnTo>
                  <a:lnTo>
                    <a:pt x="0" y="685800"/>
                  </a:lnTo>
                  <a:lnTo>
                    <a:pt x="685800" y="685800"/>
                  </a:lnTo>
                  <a:lnTo>
                    <a:pt x="685800" y="0"/>
                  </a:lnTo>
                  <a:close/>
                </a:path>
              </a:pathLst>
            </a:custGeom>
            <a:solidFill>
              <a:srgbClr val="A9A47B"/>
            </a:solidFill>
          </p:spPr>
          <p:txBody>
            <a:bodyPr wrap="square" lIns="0" tIns="0" rIns="0" bIns="0" rtlCol="0"/>
            <a:lstStyle/>
            <a:p>
              <a:endParaRPr/>
            </a:p>
          </p:txBody>
        </p:sp>
      </p:grpSp>
      <p:sp>
        <p:nvSpPr>
          <p:cNvPr id="6" name="object 6"/>
          <p:cNvSpPr txBox="1">
            <a:spLocks noGrp="1"/>
          </p:cNvSpPr>
          <p:nvPr>
            <p:ph type="title"/>
          </p:nvPr>
        </p:nvSpPr>
        <p:spPr>
          <a:xfrm>
            <a:off x="1369949" y="445134"/>
            <a:ext cx="5808345" cy="756920"/>
          </a:xfrm>
          <a:prstGeom prst="rect">
            <a:avLst/>
          </a:prstGeom>
        </p:spPr>
        <p:txBody>
          <a:bodyPr vert="horz" wrap="square" lIns="0" tIns="12700" rIns="0" bIns="0" rtlCol="0">
            <a:spAutoFit/>
          </a:bodyPr>
          <a:lstStyle/>
          <a:p>
            <a:pPr marL="12700">
              <a:lnSpc>
                <a:spcPct val="100000"/>
              </a:lnSpc>
              <a:spcBef>
                <a:spcPts val="100"/>
              </a:spcBef>
            </a:pPr>
            <a:r>
              <a:rPr spc="-850" dirty="0"/>
              <a:t>M</a:t>
            </a:r>
            <a:r>
              <a:rPr spc="65" dirty="0"/>
              <a:t>A</a:t>
            </a:r>
            <a:r>
              <a:rPr spc="-690" dirty="0"/>
              <a:t>N</a:t>
            </a:r>
            <a:r>
              <a:rPr spc="-650" dirty="0"/>
              <a:t>U</a:t>
            </a:r>
            <a:r>
              <a:rPr spc="65" dirty="0"/>
              <a:t>A</a:t>
            </a:r>
            <a:r>
              <a:rPr spc="-305" dirty="0"/>
              <a:t>L</a:t>
            </a:r>
            <a:r>
              <a:rPr spc="-210" dirty="0"/>
              <a:t> </a:t>
            </a:r>
            <a:r>
              <a:rPr spc="-675" dirty="0"/>
              <a:t>D</a:t>
            </a:r>
            <a:r>
              <a:rPr spc="50" dirty="0"/>
              <a:t>E</a:t>
            </a:r>
            <a:r>
              <a:rPr spc="-204" dirty="0"/>
              <a:t> </a:t>
            </a:r>
            <a:r>
              <a:rPr spc="-650" dirty="0"/>
              <a:t>U</a:t>
            </a:r>
            <a:r>
              <a:rPr spc="-114" dirty="0"/>
              <a:t>S</a:t>
            </a:r>
            <a:r>
              <a:rPr spc="-650" dirty="0"/>
              <a:t>U</a:t>
            </a:r>
            <a:r>
              <a:rPr spc="65" dirty="0"/>
              <a:t>A</a:t>
            </a:r>
            <a:r>
              <a:rPr spc="-265" dirty="0"/>
              <a:t>R</a:t>
            </a:r>
            <a:r>
              <a:rPr spc="-245" dirty="0"/>
              <a:t>I</a:t>
            </a:r>
            <a:r>
              <a:rPr spc="-475" dirty="0"/>
              <a:t>O</a:t>
            </a:r>
          </a:p>
        </p:txBody>
      </p:sp>
      <p:sp>
        <p:nvSpPr>
          <p:cNvPr id="7" name="object 7"/>
          <p:cNvSpPr txBox="1"/>
          <p:nvPr/>
        </p:nvSpPr>
        <p:spPr>
          <a:xfrm>
            <a:off x="588644" y="1823021"/>
            <a:ext cx="7393940" cy="1174681"/>
          </a:xfrm>
          <a:prstGeom prst="rect">
            <a:avLst/>
          </a:prstGeom>
        </p:spPr>
        <p:txBody>
          <a:bodyPr vert="horz" wrap="square" lIns="0" tIns="121920" rIns="0" bIns="0" rtlCol="0">
            <a:spAutoFit/>
          </a:bodyPr>
          <a:lstStyle/>
          <a:p>
            <a:pPr marL="241300" indent="-229235" algn="just">
              <a:lnSpc>
                <a:spcPct val="100000"/>
              </a:lnSpc>
              <a:spcBef>
                <a:spcPts val="960"/>
              </a:spcBef>
              <a:buClr>
                <a:srgbClr val="A9A47B"/>
              </a:buClr>
              <a:buFont typeface="Arial MT"/>
              <a:buChar char="•"/>
              <a:tabLst>
                <a:tab pos="241935" algn="l"/>
              </a:tabLst>
            </a:pPr>
            <a:r>
              <a:rPr sz="3600" b="1" spc="-5" dirty="0">
                <a:solidFill>
                  <a:srgbClr val="2E2B1F"/>
                </a:solidFill>
                <a:latin typeface="Calibri"/>
                <a:cs typeface="Calibri"/>
              </a:rPr>
              <a:t>Guía</a:t>
            </a:r>
            <a:r>
              <a:rPr sz="3600" b="1" spc="-30" dirty="0">
                <a:solidFill>
                  <a:srgbClr val="2E2B1F"/>
                </a:solidFill>
                <a:latin typeface="Calibri"/>
                <a:cs typeface="Calibri"/>
              </a:rPr>
              <a:t> </a:t>
            </a:r>
            <a:r>
              <a:rPr sz="3600" b="1" spc="5" dirty="0">
                <a:solidFill>
                  <a:srgbClr val="2E2B1F"/>
                </a:solidFill>
                <a:latin typeface="Calibri"/>
                <a:cs typeface="Calibri"/>
              </a:rPr>
              <a:t>de</a:t>
            </a:r>
            <a:r>
              <a:rPr sz="3600" b="1" spc="-30" dirty="0">
                <a:solidFill>
                  <a:srgbClr val="2E2B1F"/>
                </a:solidFill>
                <a:latin typeface="Calibri"/>
                <a:cs typeface="Calibri"/>
              </a:rPr>
              <a:t> </a:t>
            </a:r>
            <a:r>
              <a:rPr lang="es-CO" sz="3600" b="1" dirty="0">
                <a:solidFill>
                  <a:srgbClr val="2E2B1F"/>
                </a:solidFill>
                <a:latin typeface="Calibri"/>
                <a:cs typeface="Calibri"/>
              </a:rPr>
              <a:t>uso</a:t>
            </a:r>
            <a:r>
              <a:rPr sz="3600" b="1" dirty="0">
                <a:solidFill>
                  <a:srgbClr val="2E2B1F"/>
                </a:solidFill>
                <a:latin typeface="Calibri"/>
                <a:cs typeface="Calibri"/>
              </a:rPr>
              <a:t>:</a:t>
            </a:r>
            <a:endParaRPr lang="es-CO" sz="3600" b="1" dirty="0">
              <a:solidFill>
                <a:srgbClr val="2E2B1F"/>
              </a:solidFill>
              <a:latin typeface="Calibri"/>
              <a:cs typeface="Calibri"/>
            </a:endParaRPr>
          </a:p>
          <a:p>
            <a:pPr marL="241300" indent="-229235" algn="just">
              <a:lnSpc>
                <a:spcPct val="100000"/>
              </a:lnSpc>
              <a:spcBef>
                <a:spcPts val="960"/>
              </a:spcBef>
              <a:buClr>
                <a:srgbClr val="A9A47B"/>
              </a:buClr>
              <a:buFont typeface="Arial MT"/>
              <a:buChar char="•"/>
              <a:tabLst>
                <a:tab pos="241935" algn="l"/>
              </a:tabLst>
            </a:pPr>
            <a:r>
              <a:rPr lang="es-CO" sz="2400" b="1" dirty="0">
                <a:solidFill>
                  <a:srgbClr val="2E2B1F"/>
                </a:solidFill>
                <a:latin typeface="Calibri"/>
                <a:cs typeface="Calibri"/>
              </a:rPr>
              <a:t>Inicio.</a:t>
            </a:r>
          </a:p>
        </p:txBody>
      </p:sp>
      <p:sp>
        <p:nvSpPr>
          <p:cNvPr id="8" name="AutoShape 2" descr="blob:https://web.whatsapp.com/b8a4219b-13ff-4f1a-b071-c4fa28fd680c"/>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CO"/>
          </a:p>
        </p:txBody>
      </p:sp>
      <p:sp>
        <p:nvSpPr>
          <p:cNvPr id="10" name="AutoShape 4" descr="blob:https://web.whatsapp.com/b8a4219b-13ff-4f1a-b071-c4fa28fd680c"/>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CO"/>
          </a:p>
        </p:txBody>
      </p:sp>
      <p:pic>
        <p:nvPicPr>
          <p:cNvPr id="11" name="Imagen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3247" y="3206207"/>
            <a:ext cx="6843800" cy="3443287"/>
          </a:xfrm>
          <a:prstGeom prst="rect">
            <a:avLst/>
          </a:prstGeom>
        </p:spPr>
      </p:pic>
      <p:sp>
        <p:nvSpPr>
          <p:cNvPr id="12" name="CuadroTexto 11"/>
          <p:cNvSpPr txBox="1"/>
          <p:nvPr/>
        </p:nvSpPr>
        <p:spPr>
          <a:xfrm>
            <a:off x="4285614" y="1839541"/>
            <a:ext cx="4236256" cy="923330"/>
          </a:xfrm>
          <a:prstGeom prst="rect">
            <a:avLst/>
          </a:prstGeom>
          <a:noFill/>
        </p:spPr>
        <p:txBody>
          <a:bodyPr wrap="square" rtlCol="0">
            <a:spAutoFit/>
          </a:bodyPr>
          <a:lstStyle/>
          <a:p>
            <a:r>
              <a:rPr lang="es-CO" dirty="0"/>
              <a:t>La función de esta interfaz es la primera impresión que lleva al usuario al momento de entrar.</a:t>
            </a:r>
          </a:p>
        </p:txBody>
      </p:sp>
    </p:spTree>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ntr" presetSubtype="16"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circle(in)">
                                      <p:cBhvr>
                                        <p:cTn id="7" dur="2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0" y="0"/>
            <a:ext cx="9144000" cy="6858000"/>
            <a:chOff x="0" y="0"/>
            <a:chExt cx="9144000" cy="6858000"/>
          </a:xfrm>
        </p:grpSpPr>
        <p:pic>
          <p:nvPicPr>
            <p:cNvPr id="3" name="object 3"/>
            <p:cNvPicPr/>
            <p:nvPr/>
          </p:nvPicPr>
          <p:blipFill>
            <a:blip r:embed="rId2" cstate="print"/>
            <a:stretch>
              <a:fillRect/>
            </a:stretch>
          </p:blipFill>
          <p:spPr>
            <a:xfrm>
              <a:off x="0" y="0"/>
              <a:ext cx="9144000" cy="6858000"/>
            </a:xfrm>
            <a:prstGeom prst="rect">
              <a:avLst/>
            </a:prstGeom>
          </p:spPr>
        </p:pic>
        <p:sp>
          <p:nvSpPr>
            <p:cNvPr id="4" name="object 4"/>
            <p:cNvSpPr/>
            <p:nvPr/>
          </p:nvSpPr>
          <p:spPr>
            <a:xfrm>
              <a:off x="8458200" y="0"/>
              <a:ext cx="685800" cy="6858000"/>
            </a:xfrm>
            <a:custGeom>
              <a:avLst/>
              <a:gdLst/>
              <a:ahLst/>
              <a:cxnLst/>
              <a:rect l="l" t="t" r="r" b="b"/>
              <a:pathLst>
                <a:path w="685800" h="6858000">
                  <a:moveTo>
                    <a:pt x="685800" y="6172200"/>
                  </a:moveTo>
                  <a:lnTo>
                    <a:pt x="0" y="6172200"/>
                  </a:lnTo>
                  <a:lnTo>
                    <a:pt x="0" y="6858000"/>
                  </a:lnTo>
                  <a:lnTo>
                    <a:pt x="685800" y="6858000"/>
                  </a:lnTo>
                  <a:lnTo>
                    <a:pt x="685800" y="6172200"/>
                  </a:lnTo>
                  <a:close/>
                </a:path>
                <a:path w="685800" h="6858000">
                  <a:moveTo>
                    <a:pt x="685800" y="0"/>
                  </a:moveTo>
                  <a:lnTo>
                    <a:pt x="0" y="0"/>
                  </a:lnTo>
                  <a:lnTo>
                    <a:pt x="0" y="5486400"/>
                  </a:lnTo>
                  <a:lnTo>
                    <a:pt x="685800" y="5486400"/>
                  </a:lnTo>
                  <a:lnTo>
                    <a:pt x="685800" y="0"/>
                  </a:lnTo>
                  <a:close/>
                </a:path>
              </a:pathLst>
            </a:custGeom>
            <a:solidFill>
              <a:srgbClr val="675E46"/>
            </a:solidFill>
          </p:spPr>
          <p:txBody>
            <a:bodyPr wrap="square" lIns="0" tIns="0" rIns="0" bIns="0" rtlCol="0"/>
            <a:lstStyle/>
            <a:p>
              <a:endParaRPr/>
            </a:p>
          </p:txBody>
        </p:sp>
        <p:sp>
          <p:nvSpPr>
            <p:cNvPr id="5" name="object 5"/>
            <p:cNvSpPr/>
            <p:nvPr/>
          </p:nvSpPr>
          <p:spPr>
            <a:xfrm>
              <a:off x="8458200" y="5486399"/>
              <a:ext cx="685800" cy="685800"/>
            </a:xfrm>
            <a:custGeom>
              <a:avLst/>
              <a:gdLst/>
              <a:ahLst/>
              <a:cxnLst/>
              <a:rect l="l" t="t" r="r" b="b"/>
              <a:pathLst>
                <a:path w="685800" h="685800">
                  <a:moveTo>
                    <a:pt x="685800" y="0"/>
                  </a:moveTo>
                  <a:lnTo>
                    <a:pt x="0" y="0"/>
                  </a:lnTo>
                  <a:lnTo>
                    <a:pt x="0" y="685800"/>
                  </a:lnTo>
                  <a:lnTo>
                    <a:pt x="685800" y="685800"/>
                  </a:lnTo>
                  <a:lnTo>
                    <a:pt x="685800" y="0"/>
                  </a:lnTo>
                  <a:close/>
                </a:path>
              </a:pathLst>
            </a:custGeom>
            <a:solidFill>
              <a:srgbClr val="A9A47B"/>
            </a:solidFill>
          </p:spPr>
          <p:txBody>
            <a:bodyPr wrap="square" lIns="0" tIns="0" rIns="0" bIns="0" rtlCol="0"/>
            <a:lstStyle/>
            <a:p>
              <a:endParaRPr/>
            </a:p>
          </p:txBody>
        </p:sp>
      </p:grpSp>
      <p:sp>
        <p:nvSpPr>
          <p:cNvPr id="6" name="object 6"/>
          <p:cNvSpPr txBox="1">
            <a:spLocks noGrp="1"/>
          </p:cNvSpPr>
          <p:nvPr>
            <p:ph type="title"/>
          </p:nvPr>
        </p:nvSpPr>
        <p:spPr>
          <a:xfrm>
            <a:off x="1369949" y="445134"/>
            <a:ext cx="5808345" cy="756920"/>
          </a:xfrm>
          <a:prstGeom prst="rect">
            <a:avLst/>
          </a:prstGeom>
        </p:spPr>
        <p:txBody>
          <a:bodyPr vert="horz" wrap="square" lIns="0" tIns="12700" rIns="0" bIns="0" rtlCol="0">
            <a:spAutoFit/>
          </a:bodyPr>
          <a:lstStyle/>
          <a:p>
            <a:pPr marL="12700">
              <a:lnSpc>
                <a:spcPct val="100000"/>
              </a:lnSpc>
              <a:spcBef>
                <a:spcPts val="100"/>
              </a:spcBef>
            </a:pPr>
            <a:r>
              <a:rPr spc="-850" dirty="0"/>
              <a:t>M</a:t>
            </a:r>
            <a:r>
              <a:rPr spc="65" dirty="0"/>
              <a:t>A</a:t>
            </a:r>
            <a:r>
              <a:rPr spc="-690" dirty="0"/>
              <a:t>N</a:t>
            </a:r>
            <a:r>
              <a:rPr spc="-650" dirty="0"/>
              <a:t>U</a:t>
            </a:r>
            <a:r>
              <a:rPr spc="65" dirty="0"/>
              <a:t>A</a:t>
            </a:r>
            <a:r>
              <a:rPr spc="-305" dirty="0"/>
              <a:t>L</a:t>
            </a:r>
            <a:r>
              <a:rPr spc="-210" dirty="0"/>
              <a:t> </a:t>
            </a:r>
            <a:r>
              <a:rPr spc="-675" dirty="0"/>
              <a:t>D</a:t>
            </a:r>
            <a:r>
              <a:rPr spc="50" dirty="0"/>
              <a:t>E</a:t>
            </a:r>
            <a:r>
              <a:rPr spc="-204" dirty="0"/>
              <a:t> </a:t>
            </a:r>
            <a:r>
              <a:rPr spc="-650" dirty="0"/>
              <a:t>U</a:t>
            </a:r>
            <a:r>
              <a:rPr spc="-114" dirty="0"/>
              <a:t>S</a:t>
            </a:r>
            <a:r>
              <a:rPr spc="-650" dirty="0"/>
              <a:t>U</a:t>
            </a:r>
            <a:r>
              <a:rPr spc="65" dirty="0"/>
              <a:t>A</a:t>
            </a:r>
            <a:r>
              <a:rPr spc="-265" dirty="0"/>
              <a:t>R</a:t>
            </a:r>
            <a:r>
              <a:rPr spc="-245" dirty="0"/>
              <a:t>I</a:t>
            </a:r>
            <a:r>
              <a:rPr spc="-475" dirty="0"/>
              <a:t>O</a:t>
            </a:r>
          </a:p>
        </p:txBody>
      </p:sp>
      <p:sp>
        <p:nvSpPr>
          <p:cNvPr id="7" name="object 7"/>
          <p:cNvSpPr txBox="1"/>
          <p:nvPr/>
        </p:nvSpPr>
        <p:spPr>
          <a:xfrm>
            <a:off x="588644" y="1823021"/>
            <a:ext cx="3068956" cy="1174681"/>
          </a:xfrm>
          <a:prstGeom prst="rect">
            <a:avLst/>
          </a:prstGeom>
        </p:spPr>
        <p:txBody>
          <a:bodyPr vert="horz" wrap="square" lIns="0" tIns="121920" rIns="0" bIns="0" rtlCol="0">
            <a:spAutoFit/>
          </a:bodyPr>
          <a:lstStyle/>
          <a:p>
            <a:pPr marL="241300" indent="-229235" algn="just">
              <a:lnSpc>
                <a:spcPct val="100000"/>
              </a:lnSpc>
              <a:spcBef>
                <a:spcPts val="960"/>
              </a:spcBef>
              <a:buClr>
                <a:srgbClr val="A9A47B"/>
              </a:buClr>
              <a:buFont typeface="Arial MT"/>
              <a:buChar char="•"/>
              <a:tabLst>
                <a:tab pos="241935" algn="l"/>
              </a:tabLst>
            </a:pPr>
            <a:r>
              <a:rPr sz="3600" b="1" spc="-5" dirty="0">
                <a:solidFill>
                  <a:srgbClr val="2E2B1F"/>
                </a:solidFill>
                <a:latin typeface="Calibri"/>
                <a:cs typeface="Calibri"/>
              </a:rPr>
              <a:t>Guía</a:t>
            </a:r>
            <a:r>
              <a:rPr sz="3600" b="1" spc="-30" dirty="0">
                <a:solidFill>
                  <a:srgbClr val="2E2B1F"/>
                </a:solidFill>
                <a:latin typeface="Calibri"/>
                <a:cs typeface="Calibri"/>
              </a:rPr>
              <a:t> </a:t>
            </a:r>
            <a:r>
              <a:rPr sz="3600" b="1" spc="5" dirty="0">
                <a:solidFill>
                  <a:srgbClr val="2E2B1F"/>
                </a:solidFill>
                <a:latin typeface="Calibri"/>
                <a:cs typeface="Calibri"/>
              </a:rPr>
              <a:t>de</a:t>
            </a:r>
            <a:r>
              <a:rPr sz="3600" b="1" spc="-30" dirty="0">
                <a:solidFill>
                  <a:srgbClr val="2E2B1F"/>
                </a:solidFill>
                <a:latin typeface="Calibri"/>
                <a:cs typeface="Calibri"/>
              </a:rPr>
              <a:t> </a:t>
            </a:r>
            <a:r>
              <a:rPr lang="es-CO" sz="3600" b="1" dirty="0">
                <a:solidFill>
                  <a:srgbClr val="2E2B1F"/>
                </a:solidFill>
                <a:latin typeface="Calibri"/>
                <a:cs typeface="Calibri"/>
              </a:rPr>
              <a:t>uso</a:t>
            </a:r>
            <a:r>
              <a:rPr sz="3600" b="1" dirty="0">
                <a:solidFill>
                  <a:srgbClr val="2E2B1F"/>
                </a:solidFill>
                <a:latin typeface="Calibri"/>
                <a:cs typeface="Calibri"/>
              </a:rPr>
              <a:t>:</a:t>
            </a:r>
            <a:endParaRPr lang="es-CO" sz="3600" b="1" dirty="0">
              <a:solidFill>
                <a:srgbClr val="2E2B1F"/>
              </a:solidFill>
              <a:latin typeface="Calibri"/>
              <a:cs typeface="Calibri"/>
            </a:endParaRPr>
          </a:p>
          <a:p>
            <a:pPr marL="241300" indent="-229235" algn="just">
              <a:lnSpc>
                <a:spcPct val="100000"/>
              </a:lnSpc>
              <a:spcBef>
                <a:spcPts val="960"/>
              </a:spcBef>
              <a:buClr>
                <a:srgbClr val="A9A47B"/>
              </a:buClr>
              <a:buFont typeface="Arial MT"/>
              <a:buChar char="•"/>
              <a:tabLst>
                <a:tab pos="241935" algn="l"/>
              </a:tabLst>
            </a:pPr>
            <a:r>
              <a:rPr lang="es-CO" sz="2400" b="1" dirty="0">
                <a:solidFill>
                  <a:srgbClr val="2E2B1F"/>
                </a:solidFill>
                <a:latin typeface="Calibri"/>
                <a:cs typeface="Calibri"/>
              </a:rPr>
              <a:t>Login.</a:t>
            </a:r>
          </a:p>
        </p:txBody>
      </p:sp>
      <p:sp>
        <p:nvSpPr>
          <p:cNvPr id="8" name="AutoShape 2" descr="blob:https://web.whatsapp.com/b8a4219b-13ff-4f1a-b071-c4fa28fd680c"/>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CO"/>
          </a:p>
        </p:txBody>
      </p:sp>
      <p:sp>
        <p:nvSpPr>
          <p:cNvPr id="10" name="AutoShape 4" descr="blob:https://web.whatsapp.com/b8a4219b-13ff-4f1a-b071-c4fa28fd680c"/>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CO"/>
          </a:p>
        </p:txBody>
      </p:sp>
      <p:pic>
        <p:nvPicPr>
          <p:cNvPr id="9" name="Imagen 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65898" y="3182367"/>
            <a:ext cx="7146414" cy="3589956"/>
          </a:xfrm>
          <a:prstGeom prst="rect">
            <a:avLst/>
          </a:prstGeom>
        </p:spPr>
      </p:pic>
      <p:sp>
        <p:nvSpPr>
          <p:cNvPr id="12" name="CuadroTexto 11"/>
          <p:cNvSpPr txBox="1"/>
          <p:nvPr/>
        </p:nvSpPr>
        <p:spPr>
          <a:xfrm>
            <a:off x="3894256" y="1784863"/>
            <a:ext cx="4191000" cy="1200329"/>
          </a:xfrm>
          <a:prstGeom prst="rect">
            <a:avLst/>
          </a:prstGeom>
          <a:noFill/>
        </p:spPr>
        <p:txBody>
          <a:bodyPr wrap="square" rtlCol="0">
            <a:spAutoFit/>
          </a:bodyPr>
          <a:lstStyle/>
          <a:p>
            <a:r>
              <a:rPr lang="es-CO" dirty="0"/>
              <a:t>Esta interfaz sirve para controlar el acceso de los usuarios al sistema de reservas de parqueaderos, garantizando seguridad y personalización del servicio.</a:t>
            </a:r>
          </a:p>
        </p:txBody>
      </p:sp>
    </p:spTree>
    <p:extLst>
      <p:ext uri="{BB962C8B-B14F-4D97-AF65-F5344CB8AC3E}">
        <p14:creationId xmlns:p14="http://schemas.microsoft.com/office/powerpoint/2010/main" val="3893418948"/>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ntr" presetSubtype="16"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circle(in)">
                                      <p:cBhvr>
                                        <p:cTn id="7" dur="2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24924" y="0"/>
            <a:ext cx="9144000" cy="6858000"/>
            <a:chOff x="0" y="0"/>
            <a:chExt cx="9144000" cy="6858000"/>
          </a:xfrm>
        </p:grpSpPr>
        <p:pic>
          <p:nvPicPr>
            <p:cNvPr id="3" name="object 3"/>
            <p:cNvPicPr/>
            <p:nvPr/>
          </p:nvPicPr>
          <p:blipFill>
            <a:blip r:embed="rId2" cstate="print"/>
            <a:stretch>
              <a:fillRect/>
            </a:stretch>
          </p:blipFill>
          <p:spPr>
            <a:xfrm>
              <a:off x="0" y="0"/>
              <a:ext cx="9144000" cy="6858000"/>
            </a:xfrm>
            <a:prstGeom prst="rect">
              <a:avLst/>
            </a:prstGeom>
          </p:spPr>
        </p:pic>
        <p:sp>
          <p:nvSpPr>
            <p:cNvPr id="4" name="object 4"/>
            <p:cNvSpPr/>
            <p:nvPr/>
          </p:nvSpPr>
          <p:spPr>
            <a:xfrm>
              <a:off x="8458200" y="0"/>
              <a:ext cx="685800" cy="6858000"/>
            </a:xfrm>
            <a:custGeom>
              <a:avLst/>
              <a:gdLst/>
              <a:ahLst/>
              <a:cxnLst/>
              <a:rect l="l" t="t" r="r" b="b"/>
              <a:pathLst>
                <a:path w="685800" h="6858000">
                  <a:moveTo>
                    <a:pt x="685800" y="6172200"/>
                  </a:moveTo>
                  <a:lnTo>
                    <a:pt x="0" y="6172200"/>
                  </a:lnTo>
                  <a:lnTo>
                    <a:pt x="0" y="6858000"/>
                  </a:lnTo>
                  <a:lnTo>
                    <a:pt x="685800" y="6858000"/>
                  </a:lnTo>
                  <a:lnTo>
                    <a:pt x="685800" y="6172200"/>
                  </a:lnTo>
                  <a:close/>
                </a:path>
                <a:path w="685800" h="6858000">
                  <a:moveTo>
                    <a:pt x="685800" y="0"/>
                  </a:moveTo>
                  <a:lnTo>
                    <a:pt x="0" y="0"/>
                  </a:lnTo>
                  <a:lnTo>
                    <a:pt x="0" y="5486400"/>
                  </a:lnTo>
                  <a:lnTo>
                    <a:pt x="685800" y="5486400"/>
                  </a:lnTo>
                  <a:lnTo>
                    <a:pt x="685800" y="0"/>
                  </a:lnTo>
                  <a:close/>
                </a:path>
              </a:pathLst>
            </a:custGeom>
            <a:solidFill>
              <a:srgbClr val="675E46"/>
            </a:solidFill>
          </p:spPr>
          <p:txBody>
            <a:bodyPr wrap="square" lIns="0" tIns="0" rIns="0" bIns="0" rtlCol="0"/>
            <a:lstStyle/>
            <a:p>
              <a:endParaRPr/>
            </a:p>
          </p:txBody>
        </p:sp>
        <p:sp>
          <p:nvSpPr>
            <p:cNvPr id="5" name="object 5"/>
            <p:cNvSpPr/>
            <p:nvPr/>
          </p:nvSpPr>
          <p:spPr>
            <a:xfrm>
              <a:off x="8458200" y="5486399"/>
              <a:ext cx="685800" cy="685800"/>
            </a:xfrm>
            <a:custGeom>
              <a:avLst/>
              <a:gdLst/>
              <a:ahLst/>
              <a:cxnLst/>
              <a:rect l="l" t="t" r="r" b="b"/>
              <a:pathLst>
                <a:path w="685800" h="685800">
                  <a:moveTo>
                    <a:pt x="685800" y="0"/>
                  </a:moveTo>
                  <a:lnTo>
                    <a:pt x="0" y="0"/>
                  </a:lnTo>
                  <a:lnTo>
                    <a:pt x="0" y="685800"/>
                  </a:lnTo>
                  <a:lnTo>
                    <a:pt x="685800" y="685800"/>
                  </a:lnTo>
                  <a:lnTo>
                    <a:pt x="685800" y="0"/>
                  </a:lnTo>
                  <a:close/>
                </a:path>
              </a:pathLst>
            </a:custGeom>
            <a:solidFill>
              <a:srgbClr val="A9A47B"/>
            </a:solidFill>
          </p:spPr>
          <p:txBody>
            <a:bodyPr wrap="square" lIns="0" tIns="0" rIns="0" bIns="0" rtlCol="0"/>
            <a:lstStyle/>
            <a:p>
              <a:endParaRPr/>
            </a:p>
          </p:txBody>
        </p:sp>
      </p:grpSp>
      <p:sp>
        <p:nvSpPr>
          <p:cNvPr id="6" name="object 6"/>
          <p:cNvSpPr txBox="1">
            <a:spLocks noGrp="1"/>
          </p:cNvSpPr>
          <p:nvPr>
            <p:ph type="title"/>
          </p:nvPr>
        </p:nvSpPr>
        <p:spPr>
          <a:xfrm>
            <a:off x="1369949" y="445134"/>
            <a:ext cx="5808345" cy="756920"/>
          </a:xfrm>
          <a:prstGeom prst="rect">
            <a:avLst/>
          </a:prstGeom>
        </p:spPr>
        <p:txBody>
          <a:bodyPr vert="horz" wrap="square" lIns="0" tIns="12700" rIns="0" bIns="0" rtlCol="0">
            <a:spAutoFit/>
          </a:bodyPr>
          <a:lstStyle/>
          <a:p>
            <a:pPr marL="12700">
              <a:lnSpc>
                <a:spcPct val="100000"/>
              </a:lnSpc>
              <a:spcBef>
                <a:spcPts val="100"/>
              </a:spcBef>
            </a:pPr>
            <a:r>
              <a:rPr spc="-850" dirty="0"/>
              <a:t>M</a:t>
            </a:r>
            <a:r>
              <a:rPr spc="65" dirty="0"/>
              <a:t>A</a:t>
            </a:r>
            <a:r>
              <a:rPr spc="-690" dirty="0"/>
              <a:t>N</a:t>
            </a:r>
            <a:r>
              <a:rPr spc="-650" dirty="0"/>
              <a:t>U</a:t>
            </a:r>
            <a:r>
              <a:rPr spc="65" dirty="0"/>
              <a:t>A</a:t>
            </a:r>
            <a:r>
              <a:rPr spc="-305" dirty="0"/>
              <a:t>L</a:t>
            </a:r>
            <a:r>
              <a:rPr spc="-210" dirty="0"/>
              <a:t> </a:t>
            </a:r>
            <a:r>
              <a:rPr spc="-675" dirty="0"/>
              <a:t>D</a:t>
            </a:r>
            <a:r>
              <a:rPr spc="50" dirty="0"/>
              <a:t>E</a:t>
            </a:r>
            <a:r>
              <a:rPr spc="-204" dirty="0"/>
              <a:t> </a:t>
            </a:r>
            <a:r>
              <a:rPr spc="-650" dirty="0"/>
              <a:t>U</a:t>
            </a:r>
            <a:r>
              <a:rPr spc="-114" dirty="0"/>
              <a:t>S</a:t>
            </a:r>
            <a:r>
              <a:rPr spc="-650" dirty="0"/>
              <a:t>U</a:t>
            </a:r>
            <a:r>
              <a:rPr spc="65" dirty="0"/>
              <a:t>A</a:t>
            </a:r>
            <a:r>
              <a:rPr spc="-265" dirty="0"/>
              <a:t>R</a:t>
            </a:r>
            <a:r>
              <a:rPr spc="-245" dirty="0"/>
              <a:t>I</a:t>
            </a:r>
            <a:r>
              <a:rPr spc="-475" dirty="0"/>
              <a:t>O</a:t>
            </a:r>
          </a:p>
        </p:txBody>
      </p:sp>
      <p:sp>
        <p:nvSpPr>
          <p:cNvPr id="7" name="object 7"/>
          <p:cNvSpPr txBox="1"/>
          <p:nvPr/>
        </p:nvSpPr>
        <p:spPr>
          <a:xfrm>
            <a:off x="577151" y="1360165"/>
            <a:ext cx="7393940" cy="1174681"/>
          </a:xfrm>
          <a:prstGeom prst="rect">
            <a:avLst/>
          </a:prstGeom>
        </p:spPr>
        <p:txBody>
          <a:bodyPr vert="horz" wrap="square" lIns="0" tIns="121920" rIns="0" bIns="0" rtlCol="0">
            <a:spAutoFit/>
          </a:bodyPr>
          <a:lstStyle/>
          <a:p>
            <a:pPr marL="241300" indent="-229235" algn="just">
              <a:lnSpc>
                <a:spcPct val="100000"/>
              </a:lnSpc>
              <a:spcBef>
                <a:spcPts val="960"/>
              </a:spcBef>
              <a:buClr>
                <a:srgbClr val="A9A47B"/>
              </a:buClr>
              <a:buFont typeface="Arial MT"/>
              <a:buChar char="•"/>
              <a:tabLst>
                <a:tab pos="241935" algn="l"/>
              </a:tabLst>
            </a:pPr>
            <a:r>
              <a:rPr sz="3600" b="1" spc="-5" dirty="0">
                <a:solidFill>
                  <a:srgbClr val="2E2B1F"/>
                </a:solidFill>
                <a:latin typeface="Calibri"/>
                <a:cs typeface="Calibri"/>
              </a:rPr>
              <a:t>Guía</a:t>
            </a:r>
            <a:r>
              <a:rPr sz="3600" b="1" spc="-30" dirty="0">
                <a:solidFill>
                  <a:srgbClr val="2E2B1F"/>
                </a:solidFill>
                <a:latin typeface="Calibri"/>
                <a:cs typeface="Calibri"/>
              </a:rPr>
              <a:t> </a:t>
            </a:r>
            <a:r>
              <a:rPr sz="3600" b="1" spc="5" dirty="0">
                <a:solidFill>
                  <a:srgbClr val="2E2B1F"/>
                </a:solidFill>
                <a:latin typeface="Calibri"/>
                <a:cs typeface="Calibri"/>
              </a:rPr>
              <a:t>de</a:t>
            </a:r>
            <a:r>
              <a:rPr sz="3600" b="1" spc="-30" dirty="0">
                <a:solidFill>
                  <a:srgbClr val="2E2B1F"/>
                </a:solidFill>
                <a:latin typeface="Calibri"/>
                <a:cs typeface="Calibri"/>
              </a:rPr>
              <a:t> </a:t>
            </a:r>
            <a:r>
              <a:rPr lang="es-CO" sz="3600" b="1" dirty="0">
                <a:solidFill>
                  <a:srgbClr val="2E2B1F"/>
                </a:solidFill>
                <a:latin typeface="Calibri"/>
                <a:cs typeface="Calibri"/>
              </a:rPr>
              <a:t>uso</a:t>
            </a:r>
            <a:r>
              <a:rPr sz="3600" b="1" dirty="0">
                <a:solidFill>
                  <a:srgbClr val="2E2B1F"/>
                </a:solidFill>
                <a:latin typeface="Calibri"/>
                <a:cs typeface="Calibri"/>
              </a:rPr>
              <a:t>:</a:t>
            </a:r>
            <a:endParaRPr lang="es-CO" sz="3600" b="1" dirty="0">
              <a:solidFill>
                <a:srgbClr val="2E2B1F"/>
              </a:solidFill>
              <a:latin typeface="Calibri"/>
              <a:cs typeface="Calibri"/>
            </a:endParaRPr>
          </a:p>
          <a:p>
            <a:pPr marL="241300" indent="-229235" algn="just">
              <a:lnSpc>
                <a:spcPct val="100000"/>
              </a:lnSpc>
              <a:spcBef>
                <a:spcPts val="960"/>
              </a:spcBef>
              <a:buClr>
                <a:srgbClr val="A9A47B"/>
              </a:buClr>
              <a:buFont typeface="Arial MT"/>
              <a:buChar char="•"/>
              <a:tabLst>
                <a:tab pos="241935" algn="l"/>
              </a:tabLst>
            </a:pPr>
            <a:r>
              <a:rPr lang="es-CO" sz="2400" b="1" dirty="0">
                <a:solidFill>
                  <a:srgbClr val="2E2B1F"/>
                </a:solidFill>
                <a:latin typeface="Calibri"/>
                <a:cs typeface="Calibri"/>
              </a:rPr>
              <a:t>Interfaz - usuario.</a:t>
            </a:r>
          </a:p>
        </p:txBody>
      </p:sp>
      <p:sp>
        <p:nvSpPr>
          <p:cNvPr id="8" name="AutoShape 2" descr="blob:https://web.whatsapp.com/b8a4219b-13ff-4f1a-b071-c4fa28fd680c"/>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CO"/>
          </a:p>
        </p:txBody>
      </p:sp>
      <p:sp>
        <p:nvSpPr>
          <p:cNvPr id="10" name="AutoShape 4" descr="blob:https://web.whatsapp.com/b8a4219b-13ff-4f1a-b071-c4fa28fd680c"/>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CO"/>
          </a:p>
        </p:txBody>
      </p:sp>
      <p:pic>
        <p:nvPicPr>
          <p:cNvPr id="11" name="Imagen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8989" y="2863974"/>
            <a:ext cx="7664141" cy="3820096"/>
          </a:xfrm>
          <a:prstGeom prst="rect">
            <a:avLst/>
          </a:prstGeom>
        </p:spPr>
      </p:pic>
      <p:sp>
        <p:nvSpPr>
          <p:cNvPr id="12" name="CuadroTexto 11"/>
          <p:cNvSpPr txBox="1"/>
          <p:nvPr/>
        </p:nvSpPr>
        <p:spPr>
          <a:xfrm>
            <a:off x="3931003" y="1535002"/>
            <a:ext cx="4267200" cy="1200329"/>
          </a:xfrm>
          <a:prstGeom prst="rect">
            <a:avLst/>
          </a:prstGeom>
          <a:noFill/>
        </p:spPr>
        <p:txBody>
          <a:bodyPr wrap="square" rtlCol="0">
            <a:spAutoFit/>
          </a:bodyPr>
          <a:lstStyle/>
          <a:p>
            <a:r>
              <a:rPr lang="es-CO" dirty="0"/>
              <a:t>Esta interfaz funciona como el centro de control del usuario, desde donde administra su cuenta y reservas de parqueadero.</a:t>
            </a:r>
          </a:p>
        </p:txBody>
      </p:sp>
    </p:spTree>
    <p:extLst>
      <p:ext uri="{BB962C8B-B14F-4D97-AF65-F5344CB8AC3E}">
        <p14:creationId xmlns:p14="http://schemas.microsoft.com/office/powerpoint/2010/main" val="3321970719"/>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ntr" presetSubtype="16"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circle(in)">
                                      <p:cBhvr>
                                        <p:cTn id="7" dur="2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24924" y="0"/>
            <a:ext cx="9144000" cy="6858000"/>
            <a:chOff x="0" y="0"/>
            <a:chExt cx="9144000" cy="6858000"/>
          </a:xfrm>
        </p:grpSpPr>
        <p:pic>
          <p:nvPicPr>
            <p:cNvPr id="3" name="object 3"/>
            <p:cNvPicPr/>
            <p:nvPr/>
          </p:nvPicPr>
          <p:blipFill>
            <a:blip r:embed="rId2" cstate="print"/>
            <a:stretch>
              <a:fillRect/>
            </a:stretch>
          </p:blipFill>
          <p:spPr>
            <a:xfrm>
              <a:off x="0" y="0"/>
              <a:ext cx="9144000" cy="6858000"/>
            </a:xfrm>
            <a:prstGeom prst="rect">
              <a:avLst/>
            </a:prstGeom>
          </p:spPr>
        </p:pic>
        <p:sp>
          <p:nvSpPr>
            <p:cNvPr id="4" name="object 4"/>
            <p:cNvSpPr/>
            <p:nvPr/>
          </p:nvSpPr>
          <p:spPr>
            <a:xfrm>
              <a:off x="8458200" y="0"/>
              <a:ext cx="685800" cy="6858000"/>
            </a:xfrm>
            <a:custGeom>
              <a:avLst/>
              <a:gdLst/>
              <a:ahLst/>
              <a:cxnLst/>
              <a:rect l="l" t="t" r="r" b="b"/>
              <a:pathLst>
                <a:path w="685800" h="6858000">
                  <a:moveTo>
                    <a:pt x="685800" y="6172200"/>
                  </a:moveTo>
                  <a:lnTo>
                    <a:pt x="0" y="6172200"/>
                  </a:lnTo>
                  <a:lnTo>
                    <a:pt x="0" y="6858000"/>
                  </a:lnTo>
                  <a:lnTo>
                    <a:pt x="685800" y="6858000"/>
                  </a:lnTo>
                  <a:lnTo>
                    <a:pt x="685800" y="6172200"/>
                  </a:lnTo>
                  <a:close/>
                </a:path>
                <a:path w="685800" h="6858000">
                  <a:moveTo>
                    <a:pt x="685800" y="0"/>
                  </a:moveTo>
                  <a:lnTo>
                    <a:pt x="0" y="0"/>
                  </a:lnTo>
                  <a:lnTo>
                    <a:pt x="0" y="5486400"/>
                  </a:lnTo>
                  <a:lnTo>
                    <a:pt x="685800" y="5486400"/>
                  </a:lnTo>
                  <a:lnTo>
                    <a:pt x="685800" y="0"/>
                  </a:lnTo>
                  <a:close/>
                </a:path>
              </a:pathLst>
            </a:custGeom>
            <a:solidFill>
              <a:srgbClr val="675E46"/>
            </a:solidFill>
          </p:spPr>
          <p:txBody>
            <a:bodyPr wrap="square" lIns="0" tIns="0" rIns="0" bIns="0" rtlCol="0"/>
            <a:lstStyle/>
            <a:p>
              <a:endParaRPr/>
            </a:p>
          </p:txBody>
        </p:sp>
        <p:sp>
          <p:nvSpPr>
            <p:cNvPr id="5" name="object 5"/>
            <p:cNvSpPr/>
            <p:nvPr/>
          </p:nvSpPr>
          <p:spPr>
            <a:xfrm>
              <a:off x="8458200" y="5486399"/>
              <a:ext cx="685800" cy="685800"/>
            </a:xfrm>
            <a:custGeom>
              <a:avLst/>
              <a:gdLst/>
              <a:ahLst/>
              <a:cxnLst/>
              <a:rect l="l" t="t" r="r" b="b"/>
              <a:pathLst>
                <a:path w="685800" h="685800">
                  <a:moveTo>
                    <a:pt x="685800" y="0"/>
                  </a:moveTo>
                  <a:lnTo>
                    <a:pt x="0" y="0"/>
                  </a:lnTo>
                  <a:lnTo>
                    <a:pt x="0" y="685800"/>
                  </a:lnTo>
                  <a:lnTo>
                    <a:pt x="685800" y="685800"/>
                  </a:lnTo>
                  <a:lnTo>
                    <a:pt x="685800" y="0"/>
                  </a:lnTo>
                  <a:close/>
                </a:path>
              </a:pathLst>
            </a:custGeom>
            <a:solidFill>
              <a:srgbClr val="A9A47B"/>
            </a:solidFill>
          </p:spPr>
          <p:txBody>
            <a:bodyPr wrap="square" lIns="0" tIns="0" rIns="0" bIns="0" rtlCol="0"/>
            <a:lstStyle/>
            <a:p>
              <a:endParaRPr/>
            </a:p>
          </p:txBody>
        </p:sp>
      </p:grpSp>
      <p:sp>
        <p:nvSpPr>
          <p:cNvPr id="6" name="object 6"/>
          <p:cNvSpPr txBox="1">
            <a:spLocks noGrp="1"/>
          </p:cNvSpPr>
          <p:nvPr>
            <p:ph type="title"/>
          </p:nvPr>
        </p:nvSpPr>
        <p:spPr>
          <a:xfrm>
            <a:off x="1369949" y="445134"/>
            <a:ext cx="5808345" cy="756920"/>
          </a:xfrm>
          <a:prstGeom prst="rect">
            <a:avLst/>
          </a:prstGeom>
        </p:spPr>
        <p:txBody>
          <a:bodyPr vert="horz" wrap="square" lIns="0" tIns="12700" rIns="0" bIns="0" rtlCol="0">
            <a:spAutoFit/>
          </a:bodyPr>
          <a:lstStyle/>
          <a:p>
            <a:pPr marL="12700">
              <a:lnSpc>
                <a:spcPct val="100000"/>
              </a:lnSpc>
              <a:spcBef>
                <a:spcPts val="100"/>
              </a:spcBef>
            </a:pPr>
            <a:r>
              <a:rPr spc="-850" dirty="0"/>
              <a:t>M</a:t>
            </a:r>
            <a:r>
              <a:rPr spc="65" dirty="0"/>
              <a:t>A</a:t>
            </a:r>
            <a:r>
              <a:rPr spc="-690" dirty="0"/>
              <a:t>N</a:t>
            </a:r>
            <a:r>
              <a:rPr spc="-650" dirty="0"/>
              <a:t>U</a:t>
            </a:r>
            <a:r>
              <a:rPr spc="65" dirty="0"/>
              <a:t>A</a:t>
            </a:r>
            <a:r>
              <a:rPr spc="-305" dirty="0"/>
              <a:t>L</a:t>
            </a:r>
            <a:r>
              <a:rPr spc="-210" dirty="0"/>
              <a:t> </a:t>
            </a:r>
            <a:r>
              <a:rPr spc="-675" dirty="0"/>
              <a:t>D</a:t>
            </a:r>
            <a:r>
              <a:rPr spc="50" dirty="0"/>
              <a:t>E</a:t>
            </a:r>
            <a:r>
              <a:rPr spc="-204" dirty="0"/>
              <a:t> </a:t>
            </a:r>
            <a:r>
              <a:rPr spc="-650" dirty="0"/>
              <a:t>U</a:t>
            </a:r>
            <a:r>
              <a:rPr spc="-114" dirty="0"/>
              <a:t>S</a:t>
            </a:r>
            <a:r>
              <a:rPr spc="-650" dirty="0"/>
              <a:t>U</a:t>
            </a:r>
            <a:r>
              <a:rPr spc="65" dirty="0"/>
              <a:t>A</a:t>
            </a:r>
            <a:r>
              <a:rPr spc="-265" dirty="0"/>
              <a:t>R</a:t>
            </a:r>
            <a:r>
              <a:rPr spc="-245" dirty="0"/>
              <a:t>I</a:t>
            </a:r>
            <a:r>
              <a:rPr spc="-475" dirty="0"/>
              <a:t>O</a:t>
            </a:r>
          </a:p>
        </p:txBody>
      </p:sp>
      <p:sp>
        <p:nvSpPr>
          <p:cNvPr id="7" name="object 7"/>
          <p:cNvSpPr txBox="1"/>
          <p:nvPr/>
        </p:nvSpPr>
        <p:spPr>
          <a:xfrm>
            <a:off x="577151" y="1360165"/>
            <a:ext cx="7393940" cy="1174681"/>
          </a:xfrm>
          <a:prstGeom prst="rect">
            <a:avLst/>
          </a:prstGeom>
        </p:spPr>
        <p:txBody>
          <a:bodyPr vert="horz" wrap="square" lIns="0" tIns="121920" rIns="0" bIns="0" rtlCol="0">
            <a:spAutoFit/>
          </a:bodyPr>
          <a:lstStyle/>
          <a:p>
            <a:pPr marL="241300" indent="-229235" algn="just">
              <a:lnSpc>
                <a:spcPct val="100000"/>
              </a:lnSpc>
              <a:spcBef>
                <a:spcPts val="960"/>
              </a:spcBef>
              <a:buClr>
                <a:srgbClr val="A9A47B"/>
              </a:buClr>
              <a:buFont typeface="Arial MT"/>
              <a:buChar char="•"/>
              <a:tabLst>
                <a:tab pos="241935" algn="l"/>
              </a:tabLst>
            </a:pPr>
            <a:r>
              <a:rPr sz="3600" b="1" spc="-5" dirty="0">
                <a:solidFill>
                  <a:srgbClr val="2E2B1F"/>
                </a:solidFill>
                <a:latin typeface="Calibri"/>
                <a:cs typeface="Calibri"/>
              </a:rPr>
              <a:t>Guía</a:t>
            </a:r>
            <a:r>
              <a:rPr sz="3600" b="1" spc="-30" dirty="0">
                <a:solidFill>
                  <a:srgbClr val="2E2B1F"/>
                </a:solidFill>
                <a:latin typeface="Calibri"/>
                <a:cs typeface="Calibri"/>
              </a:rPr>
              <a:t> </a:t>
            </a:r>
            <a:r>
              <a:rPr sz="3600" b="1" spc="5" dirty="0">
                <a:solidFill>
                  <a:srgbClr val="2E2B1F"/>
                </a:solidFill>
                <a:latin typeface="Calibri"/>
                <a:cs typeface="Calibri"/>
              </a:rPr>
              <a:t>de</a:t>
            </a:r>
            <a:r>
              <a:rPr sz="3600" b="1" spc="-30" dirty="0">
                <a:solidFill>
                  <a:srgbClr val="2E2B1F"/>
                </a:solidFill>
                <a:latin typeface="Calibri"/>
                <a:cs typeface="Calibri"/>
              </a:rPr>
              <a:t> </a:t>
            </a:r>
            <a:r>
              <a:rPr lang="es-CO" sz="3600" b="1" dirty="0">
                <a:solidFill>
                  <a:srgbClr val="2E2B1F"/>
                </a:solidFill>
                <a:latin typeface="Calibri"/>
                <a:cs typeface="Calibri"/>
              </a:rPr>
              <a:t>uso</a:t>
            </a:r>
            <a:r>
              <a:rPr sz="3600" b="1" dirty="0">
                <a:solidFill>
                  <a:srgbClr val="2E2B1F"/>
                </a:solidFill>
                <a:latin typeface="Calibri"/>
                <a:cs typeface="Calibri"/>
              </a:rPr>
              <a:t>:</a:t>
            </a:r>
            <a:endParaRPr lang="es-CO" sz="3600" b="1" dirty="0">
              <a:solidFill>
                <a:srgbClr val="2E2B1F"/>
              </a:solidFill>
              <a:latin typeface="Calibri"/>
              <a:cs typeface="Calibri"/>
            </a:endParaRPr>
          </a:p>
          <a:p>
            <a:pPr marL="241300" indent="-229235" algn="just">
              <a:lnSpc>
                <a:spcPct val="100000"/>
              </a:lnSpc>
              <a:spcBef>
                <a:spcPts val="960"/>
              </a:spcBef>
              <a:buClr>
                <a:srgbClr val="A9A47B"/>
              </a:buClr>
              <a:buFont typeface="Arial MT"/>
              <a:buChar char="•"/>
              <a:tabLst>
                <a:tab pos="241935" algn="l"/>
              </a:tabLst>
            </a:pPr>
            <a:r>
              <a:rPr lang="es-CO" sz="2400" b="1" dirty="0">
                <a:solidFill>
                  <a:srgbClr val="2E2B1F"/>
                </a:solidFill>
                <a:latin typeface="Calibri"/>
                <a:cs typeface="Calibri"/>
              </a:rPr>
              <a:t>Interfaz - administrador.</a:t>
            </a:r>
          </a:p>
        </p:txBody>
      </p:sp>
      <p:sp>
        <p:nvSpPr>
          <p:cNvPr id="8" name="AutoShape 2" descr="blob:https://web.whatsapp.com/b8a4219b-13ff-4f1a-b071-c4fa28fd680c"/>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CO"/>
          </a:p>
        </p:txBody>
      </p:sp>
      <p:sp>
        <p:nvSpPr>
          <p:cNvPr id="10" name="AutoShape 4" descr="blob:https://web.whatsapp.com/b8a4219b-13ff-4f1a-b071-c4fa28fd680c"/>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CO"/>
          </a:p>
        </p:txBody>
      </p:sp>
      <p:pic>
        <p:nvPicPr>
          <p:cNvPr id="9" name="Imagen 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7151" y="2863974"/>
            <a:ext cx="7620000" cy="3792141"/>
          </a:xfrm>
          <a:prstGeom prst="rect">
            <a:avLst/>
          </a:prstGeom>
        </p:spPr>
      </p:pic>
      <p:sp>
        <p:nvSpPr>
          <p:cNvPr id="12" name="CuadroTexto 11"/>
          <p:cNvSpPr txBox="1"/>
          <p:nvPr/>
        </p:nvSpPr>
        <p:spPr>
          <a:xfrm>
            <a:off x="4225338" y="1386646"/>
            <a:ext cx="3863816" cy="1477328"/>
          </a:xfrm>
          <a:prstGeom prst="rect">
            <a:avLst/>
          </a:prstGeom>
          <a:noFill/>
        </p:spPr>
        <p:txBody>
          <a:bodyPr wrap="square" rtlCol="0">
            <a:spAutoFit/>
          </a:bodyPr>
          <a:lstStyle/>
          <a:p>
            <a:r>
              <a:rPr lang="es-CO" dirty="0"/>
              <a:t>Esta interfaz funciona como el centro de control administrativo, desde donde se supervisa y gestiona todo el sistema de parqueaderos, garantizando su correcto funcionamiento.</a:t>
            </a:r>
          </a:p>
        </p:txBody>
      </p:sp>
    </p:spTree>
    <p:extLst>
      <p:ext uri="{BB962C8B-B14F-4D97-AF65-F5344CB8AC3E}">
        <p14:creationId xmlns:p14="http://schemas.microsoft.com/office/powerpoint/2010/main" val="2152475789"/>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ntr" presetSubtype="16"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circle(in)">
                                      <p:cBhvr>
                                        <p:cTn id="7" dur="2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0" y="0"/>
            <a:ext cx="9144000" cy="6858000"/>
            <a:chOff x="0" y="0"/>
            <a:chExt cx="9144000" cy="6858000"/>
          </a:xfrm>
        </p:grpSpPr>
        <p:pic>
          <p:nvPicPr>
            <p:cNvPr id="3" name="object 3"/>
            <p:cNvPicPr/>
            <p:nvPr/>
          </p:nvPicPr>
          <p:blipFill>
            <a:blip r:embed="rId2" cstate="print"/>
            <a:stretch>
              <a:fillRect/>
            </a:stretch>
          </p:blipFill>
          <p:spPr>
            <a:xfrm>
              <a:off x="0" y="0"/>
              <a:ext cx="9144000" cy="6858000"/>
            </a:xfrm>
            <a:prstGeom prst="rect">
              <a:avLst/>
            </a:prstGeom>
          </p:spPr>
        </p:pic>
        <p:sp>
          <p:nvSpPr>
            <p:cNvPr id="4" name="object 4"/>
            <p:cNvSpPr/>
            <p:nvPr/>
          </p:nvSpPr>
          <p:spPr>
            <a:xfrm>
              <a:off x="8458200" y="0"/>
              <a:ext cx="685800" cy="6858000"/>
            </a:xfrm>
            <a:custGeom>
              <a:avLst/>
              <a:gdLst/>
              <a:ahLst/>
              <a:cxnLst/>
              <a:rect l="l" t="t" r="r" b="b"/>
              <a:pathLst>
                <a:path w="685800" h="6858000">
                  <a:moveTo>
                    <a:pt x="685800" y="6172200"/>
                  </a:moveTo>
                  <a:lnTo>
                    <a:pt x="0" y="6172200"/>
                  </a:lnTo>
                  <a:lnTo>
                    <a:pt x="0" y="6858000"/>
                  </a:lnTo>
                  <a:lnTo>
                    <a:pt x="685800" y="6858000"/>
                  </a:lnTo>
                  <a:lnTo>
                    <a:pt x="685800" y="6172200"/>
                  </a:lnTo>
                  <a:close/>
                </a:path>
                <a:path w="685800" h="6858000">
                  <a:moveTo>
                    <a:pt x="685800" y="0"/>
                  </a:moveTo>
                  <a:lnTo>
                    <a:pt x="0" y="0"/>
                  </a:lnTo>
                  <a:lnTo>
                    <a:pt x="0" y="5486400"/>
                  </a:lnTo>
                  <a:lnTo>
                    <a:pt x="685800" y="5486400"/>
                  </a:lnTo>
                  <a:lnTo>
                    <a:pt x="685800" y="0"/>
                  </a:lnTo>
                  <a:close/>
                </a:path>
              </a:pathLst>
            </a:custGeom>
            <a:solidFill>
              <a:srgbClr val="675E46"/>
            </a:solidFill>
          </p:spPr>
          <p:txBody>
            <a:bodyPr wrap="square" lIns="0" tIns="0" rIns="0" bIns="0" rtlCol="0"/>
            <a:lstStyle/>
            <a:p>
              <a:endParaRPr/>
            </a:p>
          </p:txBody>
        </p:sp>
        <p:sp>
          <p:nvSpPr>
            <p:cNvPr id="5" name="object 5"/>
            <p:cNvSpPr/>
            <p:nvPr/>
          </p:nvSpPr>
          <p:spPr>
            <a:xfrm>
              <a:off x="8458200" y="5486399"/>
              <a:ext cx="685800" cy="685800"/>
            </a:xfrm>
            <a:custGeom>
              <a:avLst/>
              <a:gdLst/>
              <a:ahLst/>
              <a:cxnLst/>
              <a:rect l="l" t="t" r="r" b="b"/>
              <a:pathLst>
                <a:path w="685800" h="685800">
                  <a:moveTo>
                    <a:pt x="685800" y="0"/>
                  </a:moveTo>
                  <a:lnTo>
                    <a:pt x="0" y="0"/>
                  </a:lnTo>
                  <a:lnTo>
                    <a:pt x="0" y="685800"/>
                  </a:lnTo>
                  <a:lnTo>
                    <a:pt x="685800" y="685800"/>
                  </a:lnTo>
                  <a:lnTo>
                    <a:pt x="685800" y="0"/>
                  </a:lnTo>
                  <a:close/>
                </a:path>
              </a:pathLst>
            </a:custGeom>
            <a:solidFill>
              <a:srgbClr val="A9A47B"/>
            </a:solidFill>
          </p:spPr>
          <p:txBody>
            <a:bodyPr wrap="square" lIns="0" tIns="0" rIns="0" bIns="0" rtlCol="0"/>
            <a:lstStyle/>
            <a:p>
              <a:endParaRPr/>
            </a:p>
          </p:txBody>
        </p:sp>
      </p:grpSp>
      <p:sp>
        <p:nvSpPr>
          <p:cNvPr id="6" name="object 6"/>
          <p:cNvSpPr txBox="1">
            <a:spLocks noGrp="1"/>
          </p:cNvSpPr>
          <p:nvPr>
            <p:ph type="title"/>
          </p:nvPr>
        </p:nvSpPr>
        <p:spPr>
          <a:xfrm>
            <a:off x="1618869" y="478154"/>
            <a:ext cx="5308600" cy="695960"/>
          </a:xfrm>
          <a:prstGeom prst="rect">
            <a:avLst/>
          </a:prstGeom>
        </p:spPr>
        <p:txBody>
          <a:bodyPr vert="horz" wrap="square" lIns="0" tIns="12700" rIns="0" bIns="0" rtlCol="0">
            <a:spAutoFit/>
          </a:bodyPr>
          <a:lstStyle/>
          <a:p>
            <a:pPr marL="12700">
              <a:lnSpc>
                <a:spcPct val="100000"/>
              </a:lnSpc>
              <a:spcBef>
                <a:spcPts val="100"/>
              </a:spcBef>
            </a:pPr>
            <a:r>
              <a:rPr sz="4400" spc="-795" dirty="0"/>
              <a:t>M</a:t>
            </a:r>
            <a:r>
              <a:rPr sz="4400" spc="55" dirty="0"/>
              <a:t>A</a:t>
            </a:r>
            <a:r>
              <a:rPr sz="4400" spc="-640" dirty="0"/>
              <a:t>N</a:t>
            </a:r>
            <a:r>
              <a:rPr sz="4400" spc="-600" dirty="0"/>
              <a:t>U</a:t>
            </a:r>
            <a:r>
              <a:rPr sz="4400" spc="55" dirty="0"/>
              <a:t>A</a:t>
            </a:r>
            <a:r>
              <a:rPr sz="4400" spc="-280" dirty="0"/>
              <a:t>L</a:t>
            </a:r>
            <a:r>
              <a:rPr sz="4400" spc="-250" dirty="0"/>
              <a:t> </a:t>
            </a:r>
            <a:r>
              <a:rPr sz="4400" spc="-620" dirty="0"/>
              <a:t>D</a:t>
            </a:r>
            <a:r>
              <a:rPr sz="4400" spc="45" dirty="0"/>
              <a:t>E</a:t>
            </a:r>
            <a:r>
              <a:rPr sz="4400" spc="-200" dirty="0"/>
              <a:t> </a:t>
            </a:r>
            <a:r>
              <a:rPr sz="4400" spc="-600" dirty="0"/>
              <a:t>U</a:t>
            </a:r>
            <a:r>
              <a:rPr sz="4400" spc="-110" dirty="0"/>
              <a:t>S</a:t>
            </a:r>
            <a:r>
              <a:rPr sz="4400" spc="-600" dirty="0"/>
              <a:t>U</a:t>
            </a:r>
            <a:r>
              <a:rPr sz="4400" spc="55" dirty="0"/>
              <a:t>A</a:t>
            </a:r>
            <a:r>
              <a:rPr sz="4400" spc="-235" dirty="0"/>
              <a:t>R</a:t>
            </a:r>
            <a:r>
              <a:rPr sz="4400" spc="-229" dirty="0"/>
              <a:t>I</a:t>
            </a:r>
            <a:r>
              <a:rPr sz="4400" spc="-434" dirty="0"/>
              <a:t>O</a:t>
            </a:r>
            <a:endParaRPr sz="4400"/>
          </a:p>
        </p:txBody>
      </p:sp>
      <p:sp>
        <p:nvSpPr>
          <p:cNvPr id="7" name="object 7"/>
          <p:cNvSpPr txBox="1"/>
          <p:nvPr/>
        </p:nvSpPr>
        <p:spPr>
          <a:xfrm>
            <a:off x="660717" y="1679459"/>
            <a:ext cx="7391400" cy="2892458"/>
          </a:xfrm>
          <a:prstGeom prst="rect">
            <a:avLst/>
          </a:prstGeom>
        </p:spPr>
        <p:txBody>
          <a:bodyPr vert="horz" wrap="square" lIns="0" tIns="121285" rIns="0" bIns="0" rtlCol="0">
            <a:spAutoFit/>
          </a:bodyPr>
          <a:lstStyle/>
          <a:p>
            <a:pPr marL="241300" indent="-228600" algn="just">
              <a:lnSpc>
                <a:spcPct val="100000"/>
              </a:lnSpc>
              <a:spcBef>
                <a:spcPts val="955"/>
              </a:spcBef>
              <a:buClr>
                <a:srgbClr val="A9A47B"/>
              </a:buClr>
              <a:buFont typeface="Arial MT"/>
              <a:buChar char="•"/>
              <a:tabLst>
                <a:tab pos="241300" algn="l"/>
              </a:tabLst>
            </a:pPr>
            <a:r>
              <a:rPr lang="es-CO" sz="3600" b="1" dirty="0">
                <a:solidFill>
                  <a:srgbClr val="2E2B1F"/>
                </a:solidFill>
                <a:latin typeface="Calibri"/>
                <a:cs typeface="Calibri"/>
              </a:rPr>
              <a:t>Resultados esperados.</a:t>
            </a:r>
            <a:endParaRPr lang="es-CO" sz="3600" b="1" spc="-10" dirty="0">
              <a:solidFill>
                <a:srgbClr val="2E2B1F"/>
              </a:solidFill>
              <a:latin typeface="Calibri"/>
              <a:cs typeface="Calibri"/>
            </a:endParaRPr>
          </a:p>
          <a:p>
            <a:pPr marL="457200" indent="-457200">
              <a:buFont typeface="+mj-lt"/>
              <a:buAutoNum type="arabicPeriod"/>
            </a:pPr>
            <a:r>
              <a:rPr lang="es-CO" sz="2400" dirty="0"/>
              <a:t>MVP funcional con reservas y mapas.</a:t>
            </a:r>
          </a:p>
          <a:p>
            <a:pPr marL="457200" indent="-457200">
              <a:buFont typeface="+mj-lt"/>
              <a:buAutoNum type="arabicPeriod"/>
            </a:pPr>
            <a:r>
              <a:rPr lang="es-CO" sz="2400" dirty="0"/>
              <a:t>Reducción del 15% en tiempo promedio de búsqueda de parqueo.</a:t>
            </a:r>
          </a:p>
          <a:p>
            <a:pPr marL="457200" indent="-457200">
              <a:buFont typeface="+mj-lt"/>
              <a:buAutoNum type="arabicPeriod"/>
            </a:pPr>
            <a:r>
              <a:rPr lang="es-CO" sz="2400" dirty="0"/>
              <a:t>Documentación técnica y manual de usuario.</a:t>
            </a:r>
          </a:p>
          <a:p>
            <a:pPr marL="457200" indent="-457200">
              <a:buFont typeface="+mj-lt"/>
              <a:buAutoNum type="arabicPeriod"/>
            </a:pPr>
            <a:r>
              <a:rPr lang="es-CO" sz="2400" dirty="0"/>
              <a:t>Escalabilidad para integración con transporte público (Metro de Medellín).</a:t>
            </a:r>
          </a:p>
        </p:txBody>
      </p:sp>
    </p:spTree>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223</TotalTime>
  <Words>524</Words>
  <Application>Microsoft Office PowerPoint</Application>
  <PresentationFormat>Presentación en pantalla (4:3)</PresentationFormat>
  <Paragraphs>64</Paragraphs>
  <Slides>14</Slides>
  <Notes>0</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14</vt:i4>
      </vt:variant>
    </vt:vector>
  </HeadingPairs>
  <TitlesOfParts>
    <vt:vector size="19" baseType="lpstr">
      <vt:lpstr>Arial</vt:lpstr>
      <vt:lpstr>Arial MT</vt:lpstr>
      <vt:lpstr>Calibri</vt:lpstr>
      <vt:lpstr>Times New Roman</vt:lpstr>
      <vt:lpstr>Office Theme</vt:lpstr>
      <vt:lpstr>Presentación de PowerPoint</vt:lpstr>
      <vt:lpstr>MANUAL DE USUARIO</vt:lpstr>
      <vt:lpstr>MANUAL DE USUARIO</vt:lpstr>
      <vt:lpstr>MANUAL DE USUARIO</vt:lpstr>
      <vt:lpstr>MANUAL DE USUARIO</vt:lpstr>
      <vt:lpstr>MANUAL DE USUARIO</vt:lpstr>
      <vt:lpstr>MANUAL DE USUARIO</vt:lpstr>
      <vt:lpstr>MANUAL DE USUARIO</vt:lpstr>
      <vt:lpstr>MANUAL DE USUARIO</vt:lpstr>
      <vt:lpstr>MANUAL DE USUARIO</vt:lpstr>
      <vt:lpstr>MANUAL DE USUARIO</vt:lpstr>
      <vt:lpstr>MANUAL DE USUARIO</vt:lpstr>
      <vt:lpstr>MANUAL DE USUARIO</vt:lpstr>
      <vt:lpstr>MANUAL DE USUARIO</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MANUALES DE USUARIO Y TECNICO</dc:title>
  <dc:creator>Keyser Soze</dc:creator>
  <cp:lastModifiedBy>Sr Alukard</cp:lastModifiedBy>
  <cp:revision>19</cp:revision>
  <dcterms:created xsi:type="dcterms:W3CDTF">2022-05-05T02:24:56Z</dcterms:created>
  <dcterms:modified xsi:type="dcterms:W3CDTF">2025-11-26T23:50:16Z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2017-08-27T00:00:00Z</vt:filetime>
  </property>
  <property fmtid="{D5CDD505-2E9C-101B-9397-08002B2CF9AE}" pid="3" name="Creator">
    <vt:lpwstr>Microsoft® PowerPoint® 2010</vt:lpwstr>
  </property>
  <property fmtid="{D5CDD505-2E9C-101B-9397-08002B2CF9AE}" pid="4" name="LastSaved">
    <vt:filetime>2022-05-05T00:00:00Z</vt:filetime>
  </property>
</Properties>
</file>