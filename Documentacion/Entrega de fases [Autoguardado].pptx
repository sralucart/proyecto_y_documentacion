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comments/comment7.xml" ContentType="application/vnd.openxmlformats-officedocument.presentationml.comments+xml"/>
  <Override PartName="/ppt/comments/comment8.xml" ContentType="application/vnd.openxmlformats-officedocument.presentationml.comments+xml"/>
  <Override PartName="/ppt/comments/comment9.xml" ContentType="application/vnd.openxmlformats-officedocument.presentationml.comments+xml"/>
  <Override PartName="/ppt/comments/comment10.xml" ContentType="application/vnd.openxmlformats-officedocument.presentationml.comments+xml"/>
  <Override PartName="/ppt/comments/comment11.xml" ContentType="application/vnd.openxmlformats-officedocument.presentationml.comments+xml"/>
  <Override PartName="/ppt/comments/comment12.xml" ContentType="application/vnd.openxmlformats-officedocument.presentationml.comments+xml"/>
  <Override PartName="/ppt/comments/comment13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540" r:id="rId2"/>
    <p:sldId id="535" r:id="rId3"/>
    <p:sldId id="541" r:id="rId4"/>
    <p:sldId id="544" r:id="rId5"/>
    <p:sldId id="545" r:id="rId6"/>
    <p:sldId id="537" r:id="rId7"/>
    <p:sldId id="546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532" r:id="rId18"/>
    <p:sldId id="536" r:id="rId19"/>
    <p:sldId id="548" r:id="rId20"/>
    <p:sldId id="547" r:id="rId2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502E98BE-F07D-476F-A526-87FCD63D7793}">
          <p14:sldIdLst>
            <p14:sldId id="540"/>
            <p14:sldId id="535"/>
            <p14:sldId id="541"/>
            <p14:sldId id="544"/>
            <p14:sldId id="545"/>
            <p14:sldId id="537"/>
          </p14:sldIdLst>
        </p14:section>
        <p14:section name="Digramas" id="{CCD5F165-DA11-468F-AAF0-B1391007B157}">
          <p14:sldIdLst>
            <p14:sldId id="546"/>
            <p14:sldId id="259"/>
            <p14:sldId id="260"/>
            <p14:sldId id="261"/>
            <p14:sldId id="262"/>
          </p14:sldIdLst>
        </p14:section>
        <p14:section name="Santiago" id="{B17270A8-F784-47CD-876E-5F2949BBDB4C}">
          <p14:sldIdLst>
            <p14:sldId id="263"/>
            <p14:sldId id="264"/>
            <p14:sldId id="265"/>
            <p14:sldId id="266"/>
            <p14:sldId id="267"/>
          </p14:sldIdLst>
        </p14:section>
        <p14:section name="rest" id="{6D987786-AE76-4982-9D89-E3B6953A492A}">
          <p14:sldIdLst>
            <p14:sldId id="532"/>
            <p14:sldId id="536"/>
            <p14:sldId id="548"/>
            <p14:sldId id="547"/>
          </p14:sldIdLst>
        </p14:section>
        <p14:section name="Resto" id="{D00C7F1C-7620-4010-AE7B-7FA3831EB75A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595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18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r Alukard" initials="SA" lastIdx="13" clrIdx="0">
    <p:extLst>
      <p:ext uri="{19B8F6BF-5375-455C-9EA6-DF929625EA0E}">
        <p15:presenceInfo xmlns:p15="http://schemas.microsoft.com/office/powerpoint/2012/main" userId="464352ee2ba7e56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C"/>
    <a:srgbClr val="343433"/>
    <a:srgbClr val="FF6C00"/>
    <a:srgbClr val="38AA00"/>
    <a:srgbClr val="766363"/>
    <a:srgbClr val="FFF5EA"/>
    <a:srgbClr val="0032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0" autoAdjust="0"/>
    <p:restoredTop sz="97242"/>
  </p:normalViewPr>
  <p:slideViewPr>
    <p:cSldViewPr snapToGrid="0">
      <p:cViewPr varScale="1">
        <p:scale>
          <a:sx n="108" d="100"/>
          <a:sy n="108" d="100"/>
        </p:scale>
        <p:origin x="144" y="354"/>
      </p:cViewPr>
      <p:guideLst>
        <p:guide orient="horz" pos="595"/>
        <p:guide pos="3840"/>
        <p:guide orient="horz" pos="18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5336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2:47.436" idx="11">
    <p:pos x="10" y="10"/>
    <p:text>EMANUEL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04:17.487" idx="4">
    <p:pos x="10" y="10"/>
    <p:text>EDNA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08:54.268" idx="5">
    <p:pos x="10" y="10"/>
    <p:text>EDNA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8:56:40.167" idx="1">
    <p:pos x="10" y="10"/>
    <p:text>WILBER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09:25.465" idx="6">
    <p:pos x="10" y="10"/>
    <p:text>EMANUEL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4:25.444" idx="12">
    <p:pos x="10" y="10"/>
    <p:text>MIGUE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7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0:22.762" idx="7">
    <p:pos x="10" y="10"/>
    <p:text>EDNA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8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8:57:00.342" idx="2">
    <p:pos x="10" y="10"/>
    <p:text>WILBER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9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5:54.172" idx="13">
    <p:pos x="10" y="10"/>
    <p:text>MIGUE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10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8:57:18.160" idx="3">
    <p:pos x="10" y="10"/>
    <p:text>WILBER MENOS ADMIN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1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2:07.293" idx="8">
    <p:pos x="10" y="10"/>
    <p:text>EMANUEL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1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2:14.659" idx="9">
    <p:pos x="10" y="10"/>
    <p:text>MIGUEL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1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9-29T19:12:21.722" idx="10">
    <p:pos x="10" y="10"/>
    <p:text>EMANUEL Y EDNA</p:text>
    <p:extLst>
      <p:ext uri="{C676402C-5697-4E1C-873F-D02D1690AC5C}">
        <p15:threadingInfo xmlns:p15="http://schemas.microsoft.com/office/powerpoint/2012/main" timeZoneBias="30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9999AFE6-721E-1D92-FFC0-72E02DBB97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A598C0A-ECF9-B897-80D5-1AE7ABA305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369B9F-131C-2846-AB8F-CEE154B4CAEB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88F308B-0102-A0B4-9A23-E807C735E85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E7CACDD-5D14-572A-2591-609B03F168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93070F-3F68-E043-9CC3-B53B4F22454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00459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60CB96-A603-FF42-AE46-F5F75F80A67B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6C58E-460D-4A4B-B0C2-1191B9D14FCB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130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95260C-E8AD-B240-9481-5B2FE14A60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8F4960B-AC04-294C-9B8A-B10830EF5F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F720DD-BA8F-C443-A59E-F0EEAF843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A1676A-B50F-4048-B9A0-67475225D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B408DD-191C-9940-B5DC-9B04378C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79450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817F6C-CDBB-234C-B00B-255C60E54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743F10-0075-0F47-A0C2-0071CB2B3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AB4C6E2-1F45-C54F-A384-6BA60BB5E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F44B0E8-9C87-6C41-96F5-6419B500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D08979-815A-D443-B424-FB031F975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203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4B3E04-413C-394A-94BD-6FD1D56E1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8DEAC-948A-0F4A-9098-1EA5A30BE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0E9B39-9659-7747-851C-17A0C73C8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90AE33-28EE-274E-8E15-02A147483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A1D99B-0619-1847-8509-03589920E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30376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0119BB-39AA-4B48-BB60-3EE344FF2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8E8365F-8201-9D4B-85A4-E53E8819A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674364B-4945-0A4D-A279-35519E3F4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68BFB1-0C38-A141-AB7B-22CD10FF3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F6516E-C104-3E4A-BC0F-DC137BD98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2C08597-16B2-3B42-B59A-8815DD747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42547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44272C-3F8B-AF4A-82BE-E5BE9107D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B8DA00-E62A-A54E-BC50-AEBAAF2516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E9F7D8-1A62-544F-A4E2-23A591854B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895FC1-5F27-B640-81B9-33366BECB5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00D0329-F1AE-FE44-A7B4-B16B429A0C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A80CE19-B065-6E4F-A207-999BBF94C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99C46BF-4920-E443-B109-668969C5E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C417FDA-D0D0-AD4C-9F49-6FFEC4BC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954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92FB5-1F0C-DE4B-8A05-DE0792814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AF7F14C-AA7D-3049-A400-4AC6EED53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746EF7E-3912-BF43-BEB6-49819D4EE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BD767C9-209C-E54C-90E7-5176E4464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51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7E92712-14E7-954C-8C23-33CD3DBD7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D7BCE5F-F417-1247-9F26-F4B713468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0B4FC7D-A6BA-0840-87AD-C71B1896B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1620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F2BE35-F0B5-DA4A-BE9E-AACFF26FF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E62C38B-5384-914E-829A-352266F70B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434B-6E01-8148-AB00-051DDD402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E3E8B8D-7A8A-794B-83A8-6920142BB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82F34C9-1A26-0B41-8AE3-21E599CC5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82100B2-B969-0340-BEE2-F5FE0535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714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DFDE3-8BDA-6F45-A442-3C2913AE5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08B3433-597C-7E43-A088-A50E443431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20DB791-C948-D149-A74A-0C0DFCA0B4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145138C-C370-6E42-902A-0DD2F4F61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61561C-CA9F-0943-8A3E-60233368C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7B72CA4-FB9F-FB4B-8159-119C3846C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69502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C07BF5-7EFA-9943-8CEE-7006AC89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EFF53FB-B16B-7444-99CF-B7533C11E2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133D3-834D-0942-99DE-29F15E8DC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5A02E1-CB07-7943-ACA2-6FF8387D3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2BC7A9-2B5F-1841-91C8-9460E3E5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1478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C11DF48-6A7C-3349-8650-2AA87E5D5E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5D61C96-3D9F-F745-A812-5EC81CEB4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3F61D3C-242D-F544-9883-3EEF515CE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AB2518-6961-A143-A5EE-C5606EBA4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6FEAD3-1533-7A45-8011-C0C84A1DC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81621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CE09D5-8681-04F4-0AD1-7206C3FF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EB62C8D-42BE-8DF8-DDA7-6DDCB238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9F9D5C3-AD35-C818-D069-AB2D8EBBE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06A169-E84D-2DE1-E7CC-7058F9C00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4565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6EFFBE1-33C9-1D48-A916-7535B68EC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78E02A-26CF-6C46-A280-67C4AA055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7CDF9-2DDE-C04D-A9B9-78F138A1C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986248-06F7-A441-A47A-264EBD310E11}" type="datetimeFigureOut">
              <a:rPr lang="es-CO" smtClean="0"/>
              <a:t>29/09/2025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7570B4-267C-034E-B58B-04C03C9E55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41693D-7DB1-1144-97E3-85753EC9A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E15DF6-230E-2E43-B847-68755106EC6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2609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triz%20de%20Trazabilidad.xlsx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5" Type="http://schemas.openxmlformats.org/officeDocument/2006/relationships/comments" Target="../comments/comment5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slide" Target="slide11.xml"/><Relationship Id="rId3" Type="http://schemas.openxmlformats.org/officeDocument/2006/relationships/image" Target="../media/image6.png"/><Relationship Id="rId7" Type="http://schemas.openxmlformats.org/officeDocument/2006/relationships/slide" Target="slide9.xml"/><Relationship Id="rId12" Type="http://schemas.openxmlformats.org/officeDocument/2006/relationships/image" Target="../media/image9.png"/><Relationship Id="rId2" Type="http://schemas.openxmlformats.org/officeDocument/2006/relationships/image" Target="../media/image5.jpg"/><Relationship Id="rId16" Type="http://schemas.openxmlformats.org/officeDocument/2006/relationships/image" Target="../media/image10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8.png"/><Relationship Id="rId5" Type="http://schemas.openxmlformats.org/officeDocument/2006/relationships/image" Target="../media/image80.png"/><Relationship Id="rId15" Type="http://schemas.openxmlformats.org/officeDocument/2006/relationships/slide" Target="slide12.xml"/><Relationship Id="rId10" Type="http://schemas.openxmlformats.org/officeDocument/2006/relationships/slide" Target="slide10.xml"/><Relationship Id="rId4" Type="http://schemas.openxmlformats.org/officeDocument/2006/relationships/slide" Target="slide8.xml"/><Relationship Id="rId9" Type="http://schemas.openxmlformats.org/officeDocument/2006/relationships/image" Target="../media/image8.png"/><Relationship Id="rId14" Type="http://schemas.openxmlformats.org/officeDocument/2006/relationships/image" Target="../media/image1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7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8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9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8.png"/><Relationship Id="rId3" Type="http://schemas.openxmlformats.org/officeDocument/2006/relationships/slide" Target="slide13.xml"/><Relationship Id="rId7" Type="http://schemas.openxmlformats.org/officeDocument/2006/relationships/image" Target="../media/image26.png"/><Relationship Id="rId12" Type="http://schemas.openxmlformats.org/officeDocument/2006/relationships/slide" Target="slide16.xml"/><Relationship Id="rId2" Type="http://schemas.openxmlformats.org/officeDocument/2006/relationships/image" Target="../media/image15.png"/><Relationship Id="rId16" Type="http://schemas.openxmlformats.org/officeDocument/2006/relationships/comments" Target="../comments/comment10.xml"/><Relationship Id="rId1" Type="http://schemas.openxmlformats.org/officeDocument/2006/relationships/slideLayout" Target="../slideLayouts/slideLayout12.xml"/><Relationship Id="rId6" Type="http://schemas.openxmlformats.org/officeDocument/2006/relationships/slide" Target="slide14.xml"/><Relationship Id="rId11" Type="http://schemas.openxmlformats.org/officeDocument/2006/relationships/image" Target="../media/image18.png"/><Relationship Id="rId5" Type="http://schemas.openxmlformats.org/officeDocument/2006/relationships/image" Target="../media/image16.png"/><Relationship Id="rId15" Type="http://schemas.openxmlformats.org/officeDocument/2006/relationships/image" Target="../media/image19.jpg"/><Relationship Id="rId10" Type="http://schemas.openxmlformats.org/officeDocument/2006/relationships/image" Target="../media/image27.png"/><Relationship Id="rId4" Type="http://schemas.openxmlformats.org/officeDocument/2006/relationships/image" Target="../media/image25.png"/><Relationship Id="rId9" Type="http://schemas.openxmlformats.org/officeDocument/2006/relationships/slide" Target="slide15.xml"/><Relationship Id="rId14" Type="http://schemas.openxmlformats.org/officeDocument/2006/relationships/slide" Target="slide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1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Relationship Id="rId4" Type="http://schemas.openxmlformats.org/officeDocument/2006/relationships/comments" Target="../comments/commen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Manual%20T&#233;cnico%20del%20Sistema%20_Refugio%20Rodante_.pdf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Relationship Id="rId6" Type="http://schemas.openxmlformats.org/officeDocument/2006/relationships/comments" Target="../comments/comment13.xml"/><Relationship Id="rId5" Type="http://schemas.openxmlformats.org/officeDocument/2006/relationships/hyperlink" Target="Manual%20de%20usuario.pptx" TargetMode="External"/><Relationship Id="rId4" Type="http://schemas.openxmlformats.org/officeDocument/2006/relationships/hyperlink" Target="Informe%20T&#233;cnico.docx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015D167A-EE62-EA02-E6F4-53710691F485}"/>
              </a:ext>
            </a:extLst>
          </p:cNvPr>
          <p:cNvSpPr txBox="1"/>
          <p:nvPr/>
        </p:nvSpPr>
        <p:spPr>
          <a:xfrm>
            <a:off x="1781486" y="2082724"/>
            <a:ext cx="645367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  <a:t>Refugio </a:t>
            </a:r>
            <a:b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</a:br>
            <a:r>
              <a:rPr lang="es-ES" sz="5400" b="1" dirty="0">
                <a:solidFill>
                  <a:prstClr val="black">
                    <a:lumMod val="75000"/>
                    <a:lumOff val="25000"/>
                  </a:prstClr>
                </a:solidFill>
                <a:latin typeface="Work Sans Bold Roman" pitchFamily="2" charset="77"/>
              </a:rPr>
              <a:t>	Rodante</a:t>
            </a:r>
            <a:endParaRPr kumimoji="0" lang="es-ES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Work Sans Bold Roman" pitchFamily="2" charset="77"/>
              <a:ea typeface="+mn-ea"/>
              <a:cs typeface="+mn-cs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ECB5751-7FA0-B52B-4F7A-01D26F3D629F}"/>
              </a:ext>
            </a:extLst>
          </p:cNvPr>
          <p:cNvSpPr/>
          <p:nvPr/>
        </p:nvSpPr>
        <p:spPr>
          <a:xfrm>
            <a:off x="7778187" y="4514127"/>
            <a:ext cx="3368233" cy="13195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6479BEA-185F-A6B3-F08A-0686679C14EC}"/>
              </a:ext>
            </a:extLst>
          </p:cNvPr>
          <p:cNvSpPr txBox="1"/>
          <p:nvPr/>
        </p:nvSpPr>
        <p:spPr>
          <a:xfrm>
            <a:off x="7778187" y="4581632"/>
            <a:ext cx="3368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Work Sans Medium Roman" pitchFamily="2" charset="77"/>
              </a:rPr>
              <a:t>Marca externa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BE3889-2B3E-47A9-8D58-04B96D1AA6ED}"/>
              </a:ext>
            </a:extLst>
          </p:cNvPr>
          <p:cNvSpPr txBox="1"/>
          <p:nvPr/>
        </p:nvSpPr>
        <p:spPr>
          <a:xfrm>
            <a:off x="1173295" y="4104578"/>
            <a:ext cx="336823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Participantes: </a:t>
            </a:r>
            <a: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Emanuel Buritica Guababe</a:t>
            </a:r>
          </a:p>
          <a:p>
            <a: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Wilber de Jesús Pineda Valois</a:t>
            </a:r>
            <a:b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Miguel Ángel Guzmán</a:t>
            </a:r>
          </a:p>
          <a:p>
            <a:r>
              <a:rPr lang="es-ES_tradnl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Edna Castañeda Zapata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4CFD3B3-F0F0-4A49-96E1-970E1FEE485C}"/>
              </a:ext>
            </a:extLst>
          </p:cNvPr>
          <p:cNvSpPr txBox="1"/>
          <p:nvPr/>
        </p:nvSpPr>
        <p:spPr>
          <a:xfrm>
            <a:off x="3309837" y="4775276"/>
            <a:ext cx="31128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01/04/2025</a:t>
            </a:r>
            <a:endParaRPr lang="es-ES_tradnl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770E21A-DD47-4788-A0A8-22B5C4AA2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5274" y="5018469"/>
            <a:ext cx="2734057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80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3975810" y="2037065"/>
            <a:ext cx="45150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 pitchFamily="2" charset="77"/>
              </a:rPr>
              <a:t>Justificación 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4473361" y="3052728"/>
            <a:ext cx="3381295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9388A4DF-720D-E501-986E-D50B788D2F61}"/>
              </a:ext>
            </a:extLst>
          </p:cNvPr>
          <p:cNvSpPr txBox="1"/>
          <p:nvPr/>
        </p:nvSpPr>
        <p:spPr>
          <a:xfrm>
            <a:off x="3461801" y="3306376"/>
            <a:ext cx="526839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Work Sans Light Roman" pitchFamily="2" charset="77"/>
                <a:ea typeface="+mn-ea"/>
                <a:cs typeface="+mn-cs"/>
              </a:rPr>
              <a:t>La ausencia de un sistema eficaz para localizar y gestionar estos espacios contribuye a varios problemas que afectan a los usuarios y a la ciudad en su conjunto</a:t>
            </a:r>
            <a:endParaRPr kumimoji="0" lang="es-CO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Work Sans Light Roman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142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D1149976-59ED-86DE-CAFB-F26E38C394F4}"/>
              </a:ext>
            </a:extLst>
          </p:cNvPr>
          <p:cNvSpPr/>
          <p:nvPr/>
        </p:nvSpPr>
        <p:spPr>
          <a:xfrm>
            <a:off x="8237856" y="3619563"/>
            <a:ext cx="293801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Competencia Directa: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Parking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 err="1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ParkiApp</a:t>
            </a: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 err="1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EcoPark</a:t>
            </a: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 err="1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ColiseoMedPlus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2529973" y="38386"/>
            <a:ext cx="70255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Análisis del Contexto 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 flipV="1">
            <a:off x="3268621" y="1077632"/>
            <a:ext cx="5174735" cy="441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C50F6504-6AA7-4789-971F-F0F808A2B692}"/>
              </a:ext>
            </a:extLst>
          </p:cNvPr>
          <p:cNvSpPr/>
          <p:nvPr/>
        </p:nvSpPr>
        <p:spPr>
          <a:xfrm>
            <a:off x="221248" y="3204065"/>
            <a:ext cx="3626357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Análisis del Sector de Estacionamiento y Transporte</a:t>
            </a: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La digitalización de estos servicios está en auge, con plataformas tecnológicas que facilitan la reserva, pago y administración de espacios en tiempo real.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EA5107D-8F15-4221-B698-599167B1D666}"/>
              </a:ext>
            </a:extLst>
          </p:cNvPr>
          <p:cNvSpPr/>
          <p:nvPr/>
        </p:nvSpPr>
        <p:spPr>
          <a:xfrm>
            <a:off x="4573725" y="1565270"/>
            <a:ext cx="2938011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Tendencias del Mercado: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Crecimiento de soluciones digitales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Uso de la geolocalización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Movilidad sostenible</a:t>
            </a:r>
          </a:p>
          <a:p>
            <a:pPr marL="342900" indent="-342900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Pagos electrónicos y automatización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291846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1FEF253-53C4-B5FA-07C7-0B039B14F52F}"/>
              </a:ext>
            </a:extLst>
          </p:cNvPr>
          <p:cNvSpPr txBox="1"/>
          <p:nvPr/>
        </p:nvSpPr>
        <p:spPr>
          <a:xfrm>
            <a:off x="2555941" y="290073"/>
            <a:ext cx="708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 pitchFamily="2" charset="77"/>
              </a:rPr>
              <a:t>Alcance del Proyecto 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rgbClr val="4D4D4C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AE0C963B-97B4-4F66-1B49-0B47BC7F0F1A}"/>
              </a:ext>
            </a:extLst>
          </p:cNvPr>
          <p:cNvCxnSpPr>
            <a:cxnSpLocks/>
          </p:cNvCxnSpPr>
          <p:nvPr/>
        </p:nvCxnSpPr>
        <p:spPr>
          <a:xfrm>
            <a:off x="3740529" y="1305736"/>
            <a:ext cx="4710940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ángulo 7">
            <a:extLst>
              <a:ext uri="{FF2B5EF4-FFF2-40B4-BE49-F238E27FC236}">
                <a16:creationId xmlns:a16="http://schemas.microsoft.com/office/drawing/2014/main" id="{CB4821B7-2A66-44F7-A42F-9B3108533931}"/>
              </a:ext>
            </a:extLst>
          </p:cNvPr>
          <p:cNvSpPr/>
          <p:nvPr/>
        </p:nvSpPr>
        <p:spPr>
          <a:xfrm>
            <a:off x="1056110" y="2130882"/>
            <a:ext cx="7395359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Objetivos Específicos del Proyecto: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Gestionar los requisitos funcionales y no funcionales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Diseñar prototipos y la arquitectura del software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Desarrollar y probar los módulos principales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Implementar una arquitectura cliente-servidor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Realizar pruebas del software</a:t>
            </a:r>
            <a:endParaRPr lang="es-ES_tradnl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5EDD259-8948-4C1A-8863-A49642C14586}"/>
              </a:ext>
            </a:extLst>
          </p:cNvPr>
          <p:cNvSpPr/>
          <p:nvPr/>
        </p:nvSpPr>
        <p:spPr>
          <a:xfrm>
            <a:off x="7872619" y="1853882"/>
            <a:ext cx="3526878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Funcionalidades Incluidas: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Registro y autenticación de usuarios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Búsqueda de parqueaderos por geolocalización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Reserva y pago en línea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Gestión de parqueaderos</a:t>
            </a:r>
          </a:p>
          <a:p>
            <a:pPr marL="342900" indent="-34290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latin typeface="Work Sans Medium Roman" pitchFamily="2" charset="77"/>
                <a:ea typeface="+mj-ea"/>
                <a:cs typeface="+mj-cs"/>
                <a:sym typeface="Calibri"/>
              </a:rPr>
              <a:t>Seguridad y autenticación</a:t>
            </a:r>
            <a:endParaRPr lang="es-ES_tradnl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424368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9FB1247C-2E67-488B-B4B2-DAC10230866C}"/>
              </a:ext>
            </a:extLst>
          </p:cNvPr>
          <p:cNvSpPr txBox="1"/>
          <p:nvPr/>
        </p:nvSpPr>
        <p:spPr>
          <a:xfrm>
            <a:off x="2555941" y="290073"/>
            <a:ext cx="708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Alcance del Proyecto 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3A8694FD-BDAC-448B-A844-9DA8DAC190CB}"/>
              </a:ext>
            </a:extLst>
          </p:cNvPr>
          <p:cNvCxnSpPr>
            <a:cxnSpLocks/>
          </p:cNvCxnSpPr>
          <p:nvPr/>
        </p:nvCxnSpPr>
        <p:spPr>
          <a:xfrm>
            <a:off x="3740529" y="1305736"/>
            <a:ext cx="4710940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DC1C01E-A877-47C6-B233-CA37E20355A6}"/>
              </a:ext>
            </a:extLst>
          </p:cNvPr>
          <p:cNvSpPr/>
          <p:nvPr/>
        </p:nvSpPr>
        <p:spPr>
          <a:xfrm>
            <a:off x="620386" y="1858948"/>
            <a:ext cx="1035746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Criterios de Éxito y Entregables</a:t>
            </a: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: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b="1" dirty="0">
              <a:solidFill>
                <a:schemeClr val="bg1"/>
              </a:solidFill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Criterios de éxito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b="1" dirty="0">
              <a:solidFill>
                <a:schemeClr val="bg1"/>
              </a:solidFill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La plataforma debe permitir el registro y autenticación de usuarios sin errores.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Los usuarios deben poder reservar y pagar un espacio de estacionamiento de manera exitosa.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El panel de administración debe permitir a los gestores actualizar la disponibilidad de parqueaderos.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Entregables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Documentación del proyecto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Prototipo 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Manual de usuario y administrador</a:t>
            </a:r>
          </a:p>
          <a:p>
            <a:pPr marL="285750" indent="-285750" algn="just">
              <a:lnSpc>
                <a:spcPct val="90000"/>
              </a:lnSpc>
              <a:spcBef>
                <a:spcPct val="0"/>
              </a:spcBef>
              <a:buFont typeface="Wingdings" panose="05000000000000000000" pitchFamily="2" charset="2"/>
              <a:buChar char="v"/>
              <a:defRPr sz="4000"/>
            </a:pPr>
            <a:r>
              <a:rPr lang="es-ES" sz="2000" dirty="0">
                <a:solidFill>
                  <a:schemeClr val="bg1"/>
                </a:solidFill>
                <a:latin typeface="Work Sans Medium Roman" pitchFamily="2" charset="77"/>
                <a:ea typeface="+mj-ea"/>
                <a:cs typeface="+mj-cs"/>
                <a:sym typeface="Calibri"/>
              </a:rPr>
              <a:t>Informe final del proyecto</a:t>
            </a:r>
            <a:endParaRPr lang="es-ES_tradnl" sz="2000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1835C1B-6B4B-47D6-A00B-84FCCDBAE8D3}"/>
              </a:ext>
            </a:extLst>
          </p:cNvPr>
          <p:cNvCxnSpPr>
            <a:cxnSpLocks/>
          </p:cNvCxnSpPr>
          <p:nvPr/>
        </p:nvCxnSpPr>
        <p:spPr>
          <a:xfrm flipV="1">
            <a:off x="3276734" y="1398266"/>
            <a:ext cx="5174735" cy="441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1344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951D1C-ACAB-30A9-933A-FC96DF28A2F0}"/>
              </a:ext>
            </a:extLst>
          </p:cNvPr>
          <p:cNvSpPr txBox="1">
            <a:spLocks/>
          </p:cNvSpPr>
          <p:nvPr/>
        </p:nvSpPr>
        <p:spPr>
          <a:xfrm>
            <a:off x="297809" y="173383"/>
            <a:ext cx="5025083" cy="6765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3600" b="1" dirty="0">
                <a:solidFill>
                  <a:srgbClr val="38AA00"/>
                </a:solidFill>
                <a:latin typeface="WORK SANS BOLD ROMAN" pitchFamily="2" charset="77"/>
              </a:rPr>
              <a:t>Matriz de Trazabilidad de Requerimientos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F6697F3-B1A3-FADB-1243-D89866428CB1}"/>
              </a:ext>
            </a:extLst>
          </p:cNvPr>
          <p:cNvSpPr txBox="1"/>
          <p:nvPr/>
        </p:nvSpPr>
        <p:spPr>
          <a:xfrm>
            <a:off x="1076919" y="4058138"/>
            <a:ext cx="533658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dirty="0">
                <a:latin typeface="Work Sans Light Roman" pitchFamily="2" charset="77"/>
              </a:rPr>
              <a:t>Para definir los requerimientos de "Refugio Rodante", se siguió esta metodología:</a:t>
            </a:r>
          </a:p>
          <a:p>
            <a:pPr algn="just"/>
            <a:endParaRPr lang="es-ES" sz="2000" dirty="0">
              <a:latin typeface="Work Sans Light Roman" pitchFamily="2" charset="77"/>
            </a:endParaRP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Identificación de </a:t>
            </a:r>
            <a:r>
              <a:rPr lang="es-ES" sz="2000" dirty="0" err="1">
                <a:latin typeface="Work Sans Light Roman" pitchFamily="2" charset="77"/>
              </a:rPr>
              <a:t>Stakeholders</a:t>
            </a:r>
            <a:endParaRPr lang="es-ES" sz="2000" dirty="0">
              <a:latin typeface="Work Sans Light Roman" pitchFamily="2" charset="77"/>
            </a:endParaRP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Definición del Problema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Selección de Técnicas de Elicitación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Documentación de Requerimientos</a:t>
            </a:r>
          </a:p>
          <a:p>
            <a:pPr marL="285750" indent="-28575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Validación de Requerimientos</a:t>
            </a:r>
            <a:endParaRPr lang="es-CO" sz="2000" dirty="0">
              <a:latin typeface="Work Sans Light Roman" pitchFamily="2" charset="77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669DD18A-AB54-34AC-A662-0BDC60B050FF}"/>
              </a:ext>
            </a:extLst>
          </p:cNvPr>
          <p:cNvCxnSpPr>
            <a:cxnSpLocks/>
          </p:cNvCxnSpPr>
          <p:nvPr/>
        </p:nvCxnSpPr>
        <p:spPr>
          <a:xfrm>
            <a:off x="1041445" y="1339594"/>
            <a:ext cx="3751143" cy="0"/>
          </a:xfrm>
          <a:prstGeom prst="line">
            <a:avLst/>
          </a:prstGeom>
          <a:ln w="12700">
            <a:solidFill>
              <a:srgbClr val="4D4D4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19F96C05-B06C-4EC1-8021-8B907F0DC243}"/>
              </a:ext>
            </a:extLst>
          </p:cNvPr>
          <p:cNvSpPr txBox="1"/>
          <p:nvPr/>
        </p:nvSpPr>
        <p:spPr>
          <a:xfrm>
            <a:off x="736655" y="1575482"/>
            <a:ext cx="56768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000" dirty="0">
                <a:latin typeface="Work Sans Light Roman" pitchFamily="2" charset="77"/>
              </a:rPr>
              <a:t> Instrumentos Utilizados para la Elicitación:</a:t>
            </a:r>
          </a:p>
          <a:p>
            <a:pPr algn="just"/>
            <a:endParaRPr lang="es-ES" sz="2000" dirty="0">
              <a:latin typeface="Work Sans Light Roman" pitchFamily="2" charset="77"/>
            </a:endParaRP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Entrevistas con usuarios potenciales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Análisis de sistemas similares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Talleres y reuniones con el equipo de desarrollo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Cuestionarios</a:t>
            </a:r>
          </a:p>
          <a:p>
            <a:pPr marL="342900" indent="-342900" algn="just">
              <a:buFont typeface="Wingdings" panose="05000000000000000000" pitchFamily="2" charset="2"/>
              <a:buChar char="v"/>
            </a:pPr>
            <a:r>
              <a:rPr lang="es-ES" sz="2000" dirty="0">
                <a:latin typeface="Work Sans Light Roman" pitchFamily="2" charset="77"/>
              </a:rPr>
              <a:t>Historias de usuario.</a:t>
            </a:r>
            <a:endParaRPr lang="es-CO" sz="2000" dirty="0">
              <a:latin typeface="Work Sans Light Roman" pitchFamily="2" charset="77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377B2F3-71B2-4BA4-A0CD-16F79CC85A80}"/>
              </a:ext>
            </a:extLst>
          </p:cNvPr>
          <p:cNvSpPr txBox="1"/>
          <p:nvPr/>
        </p:nvSpPr>
        <p:spPr>
          <a:xfrm>
            <a:off x="7347879" y="3488499"/>
            <a:ext cx="3767202" cy="840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800" b="1" dirty="0">
                <a:latin typeface="WORK SANS BOLD ROMAN" pitchFamily="2" charset="77"/>
                <a:ea typeface="+mj-ea"/>
                <a:cs typeface="+mj-cs"/>
                <a:sym typeface="Calibri"/>
              </a:rPr>
              <a:t>Avances en matriz de trazabilidad: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18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800" b="1" dirty="0">
                <a:latin typeface="WORK SANS BOLD ROMAN" pitchFamily="2" charset="77"/>
                <a:ea typeface="+mj-ea"/>
                <a:cs typeface="+mj-cs"/>
                <a:sym typeface="Calibri"/>
                <a:hlinkClick r:id="rId3" action="ppaction://hlinkfile"/>
              </a:rPr>
              <a:t>Matriz de Trazabilidad </a:t>
            </a:r>
            <a:endParaRPr lang="es-ES" sz="18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2E100170-4683-492C-AA6F-F3689E1613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879" y="2379734"/>
            <a:ext cx="3311770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8000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9FB1247C-2E67-488B-B4B2-DAC10230866C}"/>
              </a:ext>
            </a:extLst>
          </p:cNvPr>
          <p:cNvSpPr txBox="1"/>
          <p:nvPr/>
        </p:nvSpPr>
        <p:spPr>
          <a:xfrm>
            <a:off x="2555941" y="290073"/>
            <a:ext cx="708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Diagramas UML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3A8694FD-BDAC-448B-A844-9DA8DAC190CB}"/>
              </a:ext>
            </a:extLst>
          </p:cNvPr>
          <p:cNvCxnSpPr>
            <a:cxnSpLocks/>
          </p:cNvCxnSpPr>
          <p:nvPr/>
        </p:nvCxnSpPr>
        <p:spPr>
          <a:xfrm>
            <a:off x="3740529" y="1305736"/>
            <a:ext cx="4710940" cy="0"/>
          </a:xfrm>
          <a:prstGeom prst="line">
            <a:avLst/>
          </a:prstGeom>
          <a:ln w="12700">
            <a:solidFill>
              <a:srgbClr val="38AA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DC1C01E-A877-47C6-B233-CA37E20355A6}"/>
              </a:ext>
            </a:extLst>
          </p:cNvPr>
          <p:cNvSpPr/>
          <p:nvPr/>
        </p:nvSpPr>
        <p:spPr>
          <a:xfrm>
            <a:off x="2857758" y="2024605"/>
            <a:ext cx="3266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Diagrama Entidad-</a:t>
            </a:r>
            <a:r>
              <a:rPr lang="es-ES" sz="2000" b="1" dirty="0" err="1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Relacion</a:t>
            </a: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B1835C1B-6B4B-47D6-A00B-84FCCDBAE8D3}"/>
              </a:ext>
            </a:extLst>
          </p:cNvPr>
          <p:cNvCxnSpPr>
            <a:cxnSpLocks/>
          </p:cNvCxnSpPr>
          <p:nvPr/>
        </p:nvCxnSpPr>
        <p:spPr>
          <a:xfrm flipV="1">
            <a:off x="3276734" y="1398266"/>
            <a:ext cx="5174735" cy="441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Vista general de diapositiva 6">
                <a:extLst>
                  <a:ext uri="{FF2B5EF4-FFF2-40B4-BE49-F238E27FC236}">
                    <a16:creationId xmlns:a16="http://schemas.microsoft.com/office/drawing/2014/main" id="{A65DB9D1-9C5C-4F10-ABE8-17AF5DD6ABD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47515473"/>
                  </p:ext>
                </p:extLst>
              </p:nvPr>
            </p:nvGraphicFramePr>
            <p:xfrm>
              <a:off x="177200" y="2084527"/>
              <a:ext cx="2560001" cy="1440000"/>
            </p:xfrm>
            <a:graphic>
              <a:graphicData uri="http://schemas.microsoft.com/office/powerpoint/2016/slidezoom">
                <pslz:sldZm>
                  <pslz:sldZmObj sldId="259" cId="2682339933">
                    <pslz:zmPr id="{DED85D81-3C3D-4726-A918-2A540D21FEC0}" transitionDur="1000" showBg="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1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  <a:softEdge rad="0"/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Vista general de diapositiva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65DB9D1-9C5C-4F10-ABE8-17AF5DD6ABD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7200" y="2084527"/>
                <a:ext cx="2560001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  <a:softEdge rad="0"/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" name="Vista general de diapositiva 7">
                <a:extLst>
                  <a:ext uri="{FF2B5EF4-FFF2-40B4-BE49-F238E27FC236}">
                    <a16:creationId xmlns:a16="http://schemas.microsoft.com/office/drawing/2014/main" id="{1AE407D8-A5F4-46E0-9DF0-AD8D2A8A5DA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62514623"/>
                  </p:ext>
                </p:extLst>
              </p:nvPr>
            </p:nvGraphicFramePr>
            <p:xfrm>
              <a:off x="154697" y="4303318"/>
              <a:ext cx="2560000" cy="1440000"/>
            </p:xfrm>
            <a:graphic>
              <a:graphicData uri="http://schemas.microsoft.com/office/powerpoint/2016/slidezoom">
                <pslz:sldZm>
                  <pslz:sldZmObj sldId="260" cId="1921409400">
                    <pslz:zmPr id="{8B45269A-780B-4CD6-9505-25BC5DE037D3}" transitionDur="1000" showBg="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" name="Vista general de diapositiva 7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1AE407D8-A5F4-46E0-9DF0-AD8D2A8A5D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4697" y="4303318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Vista general de diapositiva 8">
                <a:extLst>
                  <a:ext uri="{FF2B5EF4-FFF2-40B4-BE49-F238E27FC236}">
                    <a16:creationId xmlns:a16="http://schemas.microsoft.com/office/drawing/2014/main" id="{859913F3-0C13-47FB-9E98-23C20345B5F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13679595"/>
                  </p:ext>
                </p:extLst>
              </p:nvPr>
            </p:nvGraphicFramePr>
            <p:xfrm>
              <a:off x="6244393" y="1989000"/>
              <a:ext cx="2560000" cy="1440000"/>
            </p:xfrm>
            <a:graphic>
              <a:graphicData uri="http://schemas.microsoft.com/office/powerpoint/2016/slidezoom">
                <pslz:sldZm>
                  <pslz:sldZmObj sldId="261" cId="3581860285">
                    <pslz:zmPr id="{3CE6A3B1-79EA-4F1C-B7C0-300FFA0CE749}" transitionDur="1000" showBg="0">
                      <p166:blipFill xmlns:p166="http://schemas.microsoft.com/office/powerpoint/2016/6/main">
                        <a:blip r:embed="rId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Vista general de diapositiva 8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859913F3-0C13-47FB-9E98-23C20345B5F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244393" y="1989000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Vista general de diapositiva 9">
                <a:extLst>
                  <a:ext uri="{FF2B5EF4-FFF2-40B4-BE49-F238E27FC236}">
                    <a16:creationId xmlns:a16="http://schemas.microsoft.com/office/drawing/2014/main" id="{BC960DE4-13A1-4F98-8EDA-B2474DB7B66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45299915"/>
                  </p:ext>
                </p:extLst>
              </p:nvPr>
            </p:nvGraphicFramePr>
            <p:xfrm>
              <a:off x="6266897" y="4303074"/>
              <a:ext cx="2560000" cy="1440000"/>
            </p:xfrm>
            <a:graphic>
              <a:graphicData uri="http://schemas.microsoft.com/office/powerpoint/2016/slidezoom">
                <pslz:sldZm>
                  <pslz:sldZmObj sldId="262" cId="3834640672">
                    <pslz:zmPr id="{C2FBA8CA-0AC5-4FA2-A7B8-27C80DB740CF}" transitionDur="1000" showBg="0">
                      <p166:blipFill xmlns:p166="http://schemas.microsoft.com/office/powerpoint/2016/6/main">
                        <a:blip r:embed="rId1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Vista general de diapositiva 9">
                <a:hlinkClick r:id="rId13" action="ppaction://hlinksldjump"/>
                <a:extLst>
                  <a:ext uri="{FF2B5EF4-FFF2-40B4-BE49-F238E27FC236}">
                    <a16:creationId xmlns:a16="http://schemas.microsoft.com/office/drawing/2014/main" id="{BC960DE4-13A1-4F98-8EDA-B2474DB7B66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6266897" y="4303074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p:sp>
        <p:nvSpPr>
          <p:cNvPr id="28" name="Rectángulo 27">
            <a:extLst>
              <a:ext uri="{FF2B5EF4-FFF2-40B4-BE49-F238E27FC236}">
                <a16:creationId xmlns:a16="http://schemas.microsoft.com/office/drawing/2014/main" id="{4C23A966-5C96-4EC3-9395-EA4BDCC61662}"/>
              </a:ext>
            </a:extLst>
          </p:cNvPr>
          <p:cNvSpPr/>
          <p:nvPr/>
        </p:nvSpPr>
        <p:spPr>
          <a:xfrm>
            <a:off x="2857758" y="4357365"/>
            <a:ext cx="3266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Modelo de Datos</a:t>
            </a: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AA4851C-82C3-4152-998B-B28C763D7BF6}"/>
              </a:ext>
            </a:extLst>
          </p:cNvPr>
          <p:cNvSpPr/>
          <p:nvPr/>
        </p:nvSpPr>
        <p:spPr>
          <a:xfrm>
            <a:off x="8969958" y="4292833"/>
            <a:ext cx="3222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Diagrama de Clases</a:t>
            </a: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657FF37-301F-4E05-84A0-B81994F3765C}"/>
              </a:ext>
            </a:extLst>
          </p:cNvPr>
          <p:cNvSpPr/>
          <p:nvPr/>
        </p:nvSpPr>
        <p:spPr>
          <a:xfrm>
            <a:off x="8925922" y="1989000"/>
            <a:ext cx="3266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solidFill>
                  <a:schemeClr val="bg1"/>
                </a:solidFill>
                <a:latin typeface="WORK SANS BOLD ROMAN" pitchFamily="2" charset="77"/>
                <a:ea typeface="+mj-ea"/>
                <a:cs typeface="+mj-cs"/>
                <a:sym typeface="Calibri"/>
              </a:rPr>
              <a:t>Diagrama de Casos de Uso</a:t>
            </a:r>
            <a:endParaRPr lang="es-ES" sz="2000" b="1" dirty="0">
              <a:solidFill>
                <a:schemeClr val="bg1"/>
              </a:solidFill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pic>
        <p:nvPicPr>
          <p:cNvPr id="32" name="Imagen 31">
            <a:hlinkClick r:id="rId15" action="ppaction://hlinksldjump"/>
            <a:extLst>
              <a:ext uri="{FF2B5EF4-FFF2-40B4-BE49-F238E27FC236}">
                <a16:creationId xmlns:a16="http://schemas.microsoft.com/office/drawing/2014/main" id="{0AD9DA25-EC40-410A-8D41-8EDBFD1426AC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11285776" y="5743074"/>
            <a:ext cx="432000" cy="43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882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723CE282-5BCC-1378-364B-B8B8E6CD58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b="1770"/>
          <a:stretch/>
        </p:blipFill>
        <p:spPr bwMode="auto">
          <a:xfrm>
            <a:off x="0" y="0"/>
            <a:ext cx="12192000" cy="6883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23D8FA85-BAA6-94E9-AA53-FD7CA87024AF}"/>
              </a:ext>
            </a:extLst>
          </p:cNvPr>
          <p:cNvSpPr txBox="1"/>
          <p:nvPr/>
        </p:nvSpPr>
        <p:spPr>
          <a:xfrm>
            <a:off x="6235700" y="4352330"/>
            <a:ext cx="5194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1"/>
              </a:solidFill>
              <a:latin typeface="+mj-lt"/>
              <a:ea typeface="Cambria" panose="020405030504060302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339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E55C26DA-F8F9-E355-B09A-F778C8127E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-5777" t="-6996" r="-5777" b="-6996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ffectLst>
            <a:softEdge rad="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1409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C8245F94-034A-C53D-93ED-AF7C6D3555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-38" r="231"/>
          <a:stretch/>
        </p:blipFill>
        <p:spPr bwMode="auto">
          <a:xfrm>
            <a:off x="0" y="0"/>
            <a:ext cx="1220936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186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89DC297-3191-7BFC-787B-013B6D7034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/>
          <a:srcRect l="12" t="-13633" r="-1" b="-13633"/>
          <a:stretch/>
        </p:blipFill>
        <p:spPr bwMode="auto">
          <a:xfrm>
            <a:off x="0" y="1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4640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3" name="Vista general de diapositiva 12">
                <a:extLst>
                  <a:ext uri="{FF2B5EF4-FFF2-40B4-BE49-F238E27FC236}">
                    <a16:creationId xmlns:a16="http://schemas.microsoft.com/office/drawing/2014/main" id="{C0EC4D3E-4B32-BFF6-1911-1F14A289E81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97265264"/>
                  </p:ext>
                </p:extLst>
              </p:nvPr>
            </p:nvGraphicFramePr>
            <p:xfrm>
              <a:off x="414481" y="2085555"/>
              <a:ext cx="2560000" cy="1440000"/>
            </p:xfrm>
            <a:graphic>
              <a:graphicData uri="http://schemas.microsoft.com/office/powerpoint/2016/slidezoom">
                <pslz:sldZm>
                  <pslz:sldZmObj sldId="264" cId="3444794848">
                    <pslz:zmPr id="{F8D1FA0C-11F0-4391-BE18-1BAC3BDE127A}" transitionDur="1000" showBg="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3" name="Vista general de diapositiva 1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C0EC4D3E-4B32-BFF6-1911-1F14A289E81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4481" y="2085555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5" name="Vista general de diapositiva 14">
                <a:extLst>
                  <a:ext uri="{FF2B5EF4-FFF2-40B4-BE49-F238E27FC236}">
                    <a16:creationId xmlns:a16="http://schemas.microsoft.com/office/drawing/2014/main" id="{5324D59C-97AD-C31F-53AA-BAD13D3A592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25747446"/>
                  </p:ext>
                </p:extLst>
              </p:nvPr>
            </p:nvGraphicFramePr>
            <p:xfrm>
              <a:off x="6372637" y="2091600"/>
              <a:ext cx="2560000" cy="1440000"/>
            </p:xfrm>
            <a:graphic>
              <a:graphicData uri="http://schemas.microsoft.com/office/powerpoint/2016/slidezoom">
                <pslz:sldZm>
                  <pslz:sldZmObj sldId="265" cId="3903401656">
                    <pslz:zmPr id="{7EE5E6F8-7078-4E1D-B911-15EAE7F2873E}" transitionDur="1000" showBg="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5" name="Vista general de diapositiva 14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5324D59C-97AD-C31F-53AA-BAD13D3A592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72637" y="2091600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Vista general de diapositiva 17">
                <a:extLst>
                  <a:ext uri="{FF2B5EF4-FFF2-40B4-BE49-F238E27FC236}">
                    <a16:creationId xmlns:a16="http://schemas.microsoft.com/office/drawing/2014/main" id="{2290B5C6-D99D-3894-0155-AA93C0724FC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27081886"/>
                  </p:ext>
                </p:extLst>
              </p:nvPr>
            </p:nvGraphicFramePr>
            <p:xfrm>
              <a:off x="414481" y="4832278"/>
              <a:ext cx="2560000" cy="1440000"/>
            </p:xfrm>
            <a:graphic>
              <a:graphicData uri="http://schemas.microsoft.com/office/powerpoint/2016/slidezoom">
                <pslz:sldZm>
                  <pslz:sldZmObj sldId="266" cId="3545693208">
                    <pslz:zmPr id="{F3F0B9F2-7EA4-485C-B8A4-783423E75244}" transitionDur="1000" showBg="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Vista general de diapositiva 1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2290B5C6-D99D-3894-0155-AA93C0724FC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14481" y="4832278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9" name="Vista general de diapositiva 28">
                <a:extLst>
                  <a:ext uri="{FF2B5EF4-FFF2-40B4-BE49-F238E27FC236}">
                    <a16:creationId xmlns:a16="http://schemas.microsoft.com/office/drawing/2014/main" id="{47C18F25-1C0F-5907-3AF4-3D411847BCD5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110664121"/>
                  </p:ext>
                </p:extLst>
              </p:nvPr>
            </p:nvGraphicFramePr>
            <p:xfrm>
              <a:off x="6372637" y="4832278"/>
              <a:ext cx="2560000" cy="1440000"/>
            </p:xfrm>
            <a:graphic>
              <a:graphicData uri="http://schemas.microsoft.com/office/powerpoint/2016/slidezoom">
                <pslz:sldZm>
                  <pslz:sldZmObj sldId="267" cId="1370133299">
                    <pslz:zmPr id="{483438D1-27DD-46B9-ADC9-4073161B4C5C}" transitionDur="1000" showBg="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560000" cy="1440000"/>
                        </a:xfrm>
                        <a:prstGeom prst="rect">
                          <a:avLst/>
                        </a:prstGeom>
                        <a:effectLst>
                          <a:glow rad="63500">
                            <a:schemeClr val="bg1">
                              <a:alpha val="40000"/>
                            </a:schemeClr>
                          </a:glow>
                        </a:effectLst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9" name="Vista general de diapositiva 28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47C18F25-1C0F-5907-3AF4-3D411847BCD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72637" y="4832278"/>
                <a:ext cx="2560000" cy="1440000"/>
              </a:xfrm>
              <a:prstGeom prst="rect">
                <a:avLst/>
              </a:prstGeom>
              <a:effectLst>
                <a:glow rad="63500">
                  <a:schemeClr val="bg1">
                    <a:alpha val="40000"/>
                  </a:schemeClr>
                </a:glow>
              </a:effectLst>
            </p:spPr>
          </p:pic>
        </mc:Fallback>
      </mc:AlternateContent>
      <p:pic>
        <p:nvPicPr>
          <p:cNvPr id="10" name="Imagen 9">
            <a:hlinkClick r:id="rId14" action="ppaction://hlinksldjump"/>
            <a:extLst>
              <a:ext uri="{FF2B5EF4-FFF2-40B4-BE49-F238E27FC236}">
                <a16:creationId xmlns:a16="http://schemas.microsoft.com/office/drawing/2014/main" id="{D4711CDF-E8DB-1E66-4E8B-B38528773FFF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24966" r="24966"/>
          <a:stretch/>
        </p:blipFill>
        <p:spPr>
          <a:xfrm>
            <a:off x="10994644" y="5812545"/>
            <a:ext cx="552313" cy="552313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39A6DD5B-6D45-4EA4-990C-652D0DCC83BA}"/>
              </a:ext>
            </a:extLst>
          </p:cNvPr>
          <p:cNvSpPr txBox="1"/>
          <p:nvPr/>
        </p:nvSpPr>
        <p:spPr>
          <a:xfrm>
            <a:off x="171146" y="271000"/>
            <a:ext cx="70801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Interfaz (Mockups)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BFA41DF-57DE-4698-B93D-F07A37DB4F82}"/>
              </a:ext>
            </a:extLst>
          </p:cNvPr>
          <p:cNvSpPr/>
          <p:nvPr/>
        </p:nvSpPr>
        <p:spPr>
          <a:xfrm>
            <a:off x="3002558" y="5363896"/>
            <a:ext cx="33981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Interfaz usuario (No </a:t>
            </a:r>
            <a:r>
              <a:rPr lang="es-ES_tradnl" sz="2000" b="1" dirty="0" err="1">
                <a:latin typeface="WORK SANS BOLD ROMAN" pitchFamily="2" charset="77"/>
                <a:ea typeface="+mj-ea"/>
                <a:cs typeface="+mj-cs"/>
                <a:sym typeface="Calibri"/>
              </a:rPr>
              <a:t>Admin</a:t>
            </a: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)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EB6EBEC-C7EB-4CBE-8F69-0EDBB16FADD8}"/>
              </a:ext>
            </a:extLst>
          </p:cNvPr>
          <p:cNvSpPr/>
          <p:nvPr/>
        </p:nvSpPr>
        <p:spPr>
          <a:xfrm>
            <a:off x="3257549" y="2751831"/>
            <a:ext cx="33981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Inicio Pagina principal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3EC986B-21F6-41D6-A977-D7A2C9BC94F8}"/>
              </a:ext>
            </a:extLst>
          </p:cNvPr>
          <p:cNvSpPr/>
          <p:nvPr/>
        </p:nvSpPr>
        <p:spPr>
          <a:xfrm>
            <a:off x="9016766" y="2805555"/>
            <a:ext cx="33981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Registro y Inicio Sesión 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ED60921-5284-4CAD-97B0-18DDF2706D46}"/>
              </a:ext>
            </a:extLst>
          </p:cNvPr>
          <p:cNvSpPr/>
          <p:nvPr/>
        </p:nvSpPr>
        <p:spPr>
          <a:xfrm>
            <a:off x="9016766" y="5165372"/>
            <a:ext cx="298367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Interfaz Parqueadero (</a:t>
            </a:r>
            <a:r>
              <a:rPr lang="es-ES_tradnl" sz="2000" b="1" dirty="0" err="1">
                <a:latin typeface="WORK SANS BOLD ROMAN" pitchFamily="2" charset="77"/>
                <a:ea typeface="+mj-ea"/>
                <a:cs typeface="+mj-cs"/>
                <a:sym typeface="Calibri"/>
              </a:rPr>
              <a:t>Admin</a:t>
            </a:r>
            <a:r>
              <a:rPr lang="es-ES_tradnl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)</a:t>
            </a:r>
          </a:p>
          <a:p>
            <a:pPr algn="just"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5271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58CD959F-0B02-44FE-B4E1-386F96D9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794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627A817-8084-4975-9237-643B2B0C90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4016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8793AF1-0097-491B-9DB0-071208A42C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56932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428FEF8-945E-47CE-ACF6-4CCB7D4DA8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392165"/>
            <a:ext cx="12192000" cy="646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133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BB6F714C-A6B0-54AE-507A-D0700714D94B}"/>
              </a:ext>
            </a:extLst>
          </p:cNvPr>
          <p:cNvSpPr txBox="1">
            <a:spLocks/>
          </p:cNvSpPr>
          <p:nvPr/>
        </p:nvSpPr>
        <p:spPr>
          <a:xfrm>
            <a:off x="456236" y="416690"/>
            <a:ext cx="9815809" cy="5278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3600" b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WORK SANS BOLD ROMAN" pitchFamily="2" charset="77"/>
              </a:rPr>
              <a:t>Funcionalidades Activas y Completas</a:t>
            </a:r>
            <a:endParaRPr kumimoji="0" lang="es-CO" sz="3600" b="1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0DC39C5-6C4F-4BA7-A5BD-DA03AF68F0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284" b="-6973"/>
          <a:stretch/>
        </p:blipFill>
        <p:spPr>
          <a:xfrm>
            <a:off x="-1" y="1116597"/>
            <a:ext cx="12192001" cy="6110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2924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CE75F1-F343-8856-BC69-4BB6B82BF3E4}"/>
              </a:ext>
            </a:extLst>
          </p:cNvPr>
          <p:cNvSpPr txBox="1">
            <a:spLocks/>
          </p:cNvSpPr>
          <p:nvPr/>
        </p:nvSpPr>
        <p:spPr>
          <a:xfrm>
            <a:off x="456236" y="416689"/>
            <a:ext cx="9815809" cy="741563"/>
          </a:xfrm>
          <a:prstGeom prst="rect">
            <a:avLst/>
          </a:prstGeom>
          <a:ln>
            <a:noFill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3600" b="1" u="none" strike="noStrike" kern="1200" cap="none" spc="0" normalizeH="0" baseline="0" noProof="0" dirty="0">
                <a:ln>
                  <a:noFill/>
                </a:ln>
                <a:solidFill>
                  <a:srgbClr val="4D4D4C"/>
                </a:solidFill>
                <a:effectLst/>
                <a:uLnTx/>
                <a:uFillTx/>
                <a:latin typeface="WORK SANS BOLD ROMAN" pitchFamily="2" charset="77"/>
              </a:rPr>
              <a:t>Documentación del Proyecto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C305F96-3AB3-40FF-8EF7-79ABA4BC5330}"/>
              </a:ext>
            </a:extLst>
          </p:cNvPr>
          <p:cNvSpPr/>
          <p:nvPr/>
        </p:nvSpPr>
        <p:spPr>
          <a:xfrm>
            <a:off x="763798" y="1813173"/>
            <a:ext cx="493554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Avances en los manuales de implementación: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latin typeface="WORK SANS BOLD ROMAN" pitchFamily="2" charset="77"/>
                <a:ea typeface="+mj-ea"/>
                <a:cs typeface="+mj-cs"/>
                <a:sym typeface="Calibri"/>
                <a:hlinkClick r:id="rId3" action="ppaction://hlinkfile"/>
              </a:rPr>
              <a:t>Manual de Implementación</a:t>
            </a:r>
            <a:endParaRPr lang="es-ES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9A884ED-11D5-4E1B-9FD4-C6D31496019C}"/>
              </a:ext>
            </a:extLst>
          </p:cNvPr>
          <p:cNvSpPr/>
          <p:nvPr/>
        </p:nvSpPr>
        <p:spPr>
          <a:xfrm>
            <a:off x="5699342" y="1951672"/>
            <a:ext cx="493554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latin typeface="WORK SANS BOLD ROMAN" pitchFamily="2" charset="77"/>
                <a:ea typeface="+mj-ea"/>
                <a:cs typeface="+mj-cs"/>
                <a:sym typeface="Calibri"/>
              </a:rPr>
              <a:t>Avances en la documentación técnica: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2000" b="1" dirty="0">
                <a:latin typeface="WORK SANS BOLD ROMAN" pitchFamily="2" charset="77"/>
                <a:ea typeface="+mj-ea"/>
                <a:cs typeface="+mj-cs"/>
                <a:sym typeface="Calibri"/>
                <a:hlinkClick r:id="rId4" action="ppaction://hlinkfile"/>
              </a:rPr>
              <a:t>Informe Técnico</a:t>
            </a:r>
            <a:endParaRPr lang="es-ES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dirty="0">
              <a:latin typeface="Work Sans Medium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_tradnl" sz="20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8538C96-77CB-4FBA-80FC-1C8AC1BD8B31}"/>
              </a:ext>
            </a:extLst>
          </p:cNvPr>
          <p:cNvSpPr txBox="1"/>
          <p:nvPr/>
        </p:nvSpPr>
        <p:spPr>
          <a:xfrm>
            <a:off x="3480539" y="4494121"/>
            <a:ext cx="3767202" cy="840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800" b="1" dirty="0">
                <a:latin typeface="WORK SANS BOLD ROMAN" pitchFamily="2" charset="77"/>
                <a:ea typeface="+mj-ea"/>
                <a:cs typeface="+mj-cs"/>
                <a:sym typeface="Calibri"/>
              </a:rPr>
              <a:t>Avances en Manual de Usuario:</a:t>
            </a: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endParaRPr lang="es-ES" sz="18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  <a:p>
            <a:pPr>
              <a:lnSpc>
                <a:spcPct val="90000"/>
              </a:lnSpc>
              <a:spcBef>
                <a:spcPct val="0"/>
              </a:spcBef>
              <a:defRPr sz="4000"/>
            </a:pPr>
            <a:r>
              <a:rPr lang="es-ES" sz="1800" b="1" dirty="0">
                <a:latin typeface="WORK SANS BOLD ROMAN" pitchFamily="2" charset="77"/>
                <a:ea typeface="+mj-ea"/>
                <a:cs typeface="+mj-cs"/>
                <a:sym typeface="Calibri"/>
                <a:hlinkClick r:id="rId5" action="ppaction://hlinkpres?slideindex=1&amp;slidetitle="/>
              </a:rPr>
              <a:t>Manuel de Usuario </a:t>
            </a:r>
            <a:endParaRPr lang="es-ES" sz="1800" b="1" dirty="0">
              <a:latin typeface="WORK SANS BOLD ROMAN" pitchFamily="2" charset="77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58058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5BFFB67-C3D4-337D-C327-AB25D270EADA}"/>
              </a:ext>
            </a:extLst>
          </p:cNvPr>
          <p:cNvSpPr txBox="1"/>
          <p:nvPr/>
        </p:nvSpPr>
        <p:spPr>
          <a:xfrm>
            <a:off x="2264373" y="2717790"/>
            <a:ext cx="76632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6000" b="1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WORK SANS BOLD ROMAN" pitchFamily="2" charset="77"/>
              </a:rPr>
              <a:t>Preguntas y Respuestas</a:t>
            </a:r>
            <a:endParaRPr kumimoji="0" lang="es-CO" sz="7200" b="1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WORK SANS BOLD ROMAN" pitchFamily="2" charset="77"/>
            </a:endParaRP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38CE8666-1D2A-4D01-34E5-54FD74A39FC0}"/>
              </a:ext>
            </a:extLst>
          </p:cNvPr>
          <p:cNvCxnSpPr>
            <a:cxnSpLocks/>
          </p:cNvCxnSpPr>
          <p:nvPr/>
        </p:nvCxnSpPr>
        <p:spPr>
          <a:xfrm flipV="1">
            <a:off x="3508631" y="3863362"/>
            <a:ext cx="5174735" cy="441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3318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34176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4062</TotalTime>
  <Words>391</Words>
  <Application>Microsoft Office PowerPoint</Application>
  <PresentationFormat>Panorámica</PresentationFormat>
  <Paragraphs>94</Paragraphs>
  <Slides>20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9" baseType="lpstr">
      <vt:lpstr>Arial</vt:lpstr>
      <vt:lpstr>Calibri</vt:lpstr>
      <vt:lpstr>Calibri Light</vt:lpstr>
      <vt:lpstr>Wingdings</vt:lpstr>
      <vt:lpstr>Work Sans Bold Roman</vt:lpstr>
      <vt:lpstr>Work Sans Bold Roman</vt:lpstr>
      <vt:lpstr>Work Sans Light Roman</vt:lpstr>
      <vt:lpstr>Work Sans Medium Roman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Jorge Enrique Pedraza Sanchez</dc:creator>
  <cp:lastModifiedBy>Sr Alukard</cp:lastModifiedBy>
  <cp:revision>86</cp:revision>
  <dcterms:created xsi:type="dcterms:W3CDTF">2020-10-01T23:51:28Z</dcterms:created>
  <dcterms:modified xsi:type="dcterms:W3CDTF">2025-09-30T00:18:36Z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2025-04-01T19:15:07Z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f63a0900-6702-4dae-97a1-f49a4e033181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