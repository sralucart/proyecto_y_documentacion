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73" r:id="rId5"/>
    <p:sldId id="282" r:id="rId6"/>
    <p:sldId id="281" r:id="rId7"/>
    <p:sldId id="272" r:id="rId8"/>
    <p:sldId id="260" r:id="rId9"/>
    <p:sldId id="274" r:id="rId10"/>
    <p:sldId id="261" r:id="rId11"/>
    <p:sldId id="278" r:id="rId12"/>
    <p:sldId id="279" r:id="rId13"/>
    <p:sldId id="280" r:id="rId14"/>
    <p:sldId id="262" r:id="rId15"/>
  </p:sldIdLst>
  <p:sldSz cx="9144000" cy="6858000" type="screen4x3"/>
  <p:notesSz cx="9144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675E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E2B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675E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675E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60550" y="445134"/>
            <a:ext cx="542290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675E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0517" y="1618501"/>
            <a:ext cx="7722234" cy="1687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2E2B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uadroTexto 12"/>
          <p:cNvSpPr txBox="1"/>
          <p:nvPr/>
        </p:nvSpPr>
        <p:spPr>
          <a:xfrm>
            <a:off x="1371600" y="990600"/>
            <a:ext cx="6096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0" dirty="0" smtClean="0"/>
              <a:t>MANUAL DE USUARIOS.</a:t>
            </a:r>
            <a:endParaRPr lang="es-CO" sz="80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xmlns="" id="{4770E21A-DD47-4788-A0A8-22B5C4AA2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944237"/>
            <a:ext cx="3791237" cy="8850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9949" y="445134"/>
            <a:ext cx="5808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0" dirty="0"/>
              <a:t>M</a:t>
            </a:r>
            <a:r>
              <a:rPr spc="65" dirty="0"/>
              <a:t>A</a:t>
            </a:r>
            <a:r>
              <a:rPr spc="-690" dirty="0"/>
              <a:t>N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305" dirty="0"/>
              <a:t>L</a:t>
            </a:r>
            <a:r>
              <a:rPr spc="-210" dirty="0"/>
              <a:t> </a:t>
            </a:r>
            <a:r>
              <a:rPr spc="-675" dirty="0"/>
              <a:t>D</a:t>
            </a:r>
            <a:r>
              <a:rPr spc="50" dirty="0"/>
              <a:t>E</a:t>
            </a:r>
            <a:r>
              <a:rPr spc="-204" dirty="0"/>
              <a:t> </a:t>
            </a:r>
            <a:r>
              <a:rPr spc="-650" dirty="0"/>
              <a:t>U</a:t>
            </a:r>
            <a:r>
              <a:rPr spc="-114" dirty="0"/>
              <a:t>S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265" dirty="0"/>
              <a:t>R</a:t>
            </a:r>
            <a:r>
              <a:rPr spc="-245" dirty="0"/>
              <a:t>I</a:t>
            </a:r>
            <a:r>
              <a:rPr spc="-475" dirty="0"/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2634" y="1655076"/>
            <a:ext cx="6986905" cy="335476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960"/>
              </a:spcBef>
            </a:pPr>
            <a:r>
              <a:rPr sz="3600" b="1" spc="-5" dirty="0">
                <a:solidFill>
                  <a:srgbClr val="2E2B1F"/>
                </a:solidFill>
                <a:latin typeface="Calibri"/>
                <a:cs typeface="Calibri"/>
              </a:rPr>
              <a:t>Debe</a:t>
            </a:r>
            <a:r>
              <a:rPr sz="3600" b="1" spc="-15" dirty="0">
                <a:solidFill>
                  <a:srgbClr val="2E2B1F"/>
                </a:solidFill>
                <a:latin typeface="Calibri"/>
                <a:cs typeface="Calibri"/>
              </a:rPr>
              <a:t> contener:</a:t>
            </a:r>
            <a:endParaRPr sz="3600" dirty="0">
              <a:latin typeface="Calibri"/>
              <a:cs typeface="Calibri"/>
            </a:endParaRPr>
          </a:p>
          <a:p>
            <a:pPr marL="584200" indent="-571500">
              <a:lnSpc>
                <a:spcPct val="100000"/>
              </a:lnSpc>
              <a:spcBef>
                <a:spcPts val="860"/>
              </a:spcBef>
              <a:buClr>
                <a:srgbClr val="A9A47B"/>
              </a:buClr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sz="3600" spc="-10" dirty="0">
                <a:solidFill>
                  <a:srgbClr val="2E2B1F"/>
                </a:solidFill>
                <a:latin typeface="Calibri"/>
                <a:cs typeface="Calibri"/>
              </a:rPr>
              <a:t>Introducción</a:t>
            </a:r>
            <a:r>
              <a:rPr sz="3600" spc="-10" dirty="0" smtClean="0">
                <a:solidFill>
                  <a:srgbClr val="2E2B1F"/>
                </a:solidFill>
                <a:latin typeface="Calibri"/>
                <a:cs typeface="Calibri"/>
              </a:rPr>
              <a:t>.</a:t>
            </a:r>
            <a:r>
              <a:rPr sz="3600" dirty="0" smtClean="0">
                <a:latin typeface="Calibri"/>
                <a:cs typeface="Calibri"/>
              </a:rPr>
              <a:t> </a:t>
            </a:r>
            <a:endParaRPr lang="es-CO" sz="3600" dirty="0" smtClean="0">
              <a:latin typeface="Calibri"/>
              <a:cs typeface="Calibri"/>
            </a:endParaRPr>
          </a:p>
          <a:p>
            <a:pPr marL="584200" indent="-571500">
              <a:lnSpc>
                <a:spcPct val="100000"/>
              </a:lnSpc>
              <a:spcBef>
                <a:spcPts val="860"/>
              </a:spcBef>
              <a:buClr>
                <a:srgbClr val="A9A47B"/>
              </a:buClr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lang="es-CO" sz="3600" dirty="0" smtClean="0"/>
              <a:t>Objetivos</a:t>
            </a:r>
            <a:r>
              <a:rPr sz="3600" spc="-5" dirty="0" smtClean="0">
                <a:solidFill>
                  <a:srgbClr val="2E2B1F"/>
                </a:solidFill>
                <a:latin typeface="Calibri"/>
                <a:cs typeface="Calibri"/>
              </a:rPr>
              <a:t>.</a:t>
            </a:r>
            <a:endParaRPr sz="3600" dirty="0" smtClean="0">
              <a:latin typeface="Calibri"/>
              <a:cs typeface="Calibri"/>
            </a:endParaRPr>
          </a:p>
          <a:p>
            <a:pPr marL="584200" indent="-571500">
              <a:lnSpc>
                <a:spcPct val="100000"/>
              </a:lnSpc>
              <a:spcBef>
                <a:spcPts val="860"/>
              </a:spcBef>
              <a:buClr>
                <a:srgbClr val="A9A47B"/>
              </a:buClr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lang="es-CO" sz="3600" spc="-5" dirty="0" smtClean="0">
                <a:solidFill>
                  <a:srgbClr val="2E2B1F"/>
                </a:solidFill>
                <a:latin typeface="Calibri"/>
                <a:cs typeface="Calibri"/>
              </a:rPr>
              <a:t>Guía se uso</a:t>
            </a:r>
            <a:r>
              <a:rPr sz="3600" spc="-10" dirty="0" smtClean="0">
                <a:solidFill>
                  <a:srgbClr val="2E2B1F"/>
                </a:solidFill>
                <a:latin typeface="Calibri"/>
                <a:cs typeface="Calibri"/>
              </a:rPr>
              <a:t>.</a:t>
            </a:r>
            <a:endParaRPr sz="3600" dirty="0">
              <a:latin typeface="Calibri"/>
              <a:cs typeface="Calibri"/>
            </a:endParaRPr>
          </a:p>
          <a:p>
            <a:pPr marL="584200" marR="946150" indent="-571500">
              <a:spcBef>
                <a:spcPts val="885"/>
              </a:spcBef>
              <a:buClr>
                <a:srgbClr val="A9A47B"/>
              </a:buClr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lang="es-CO" sz="3600" dirty="0"/>
              <a:t>Resultados </a:t>
            </a:r>
            <a:r>
              <a:rPr lang="es-CO" sz="3600" dirty="0" smtClean="0"/>
              <a:t>Esperados</a:t>
            </a:r>
            <a:r>
              <a:rPr sz="3600" spc="-15" dirty="0" smtClean="0">
                <a:solidFill>
                  <a:srgbClr val="2E2B1F"/>
                </a:solidFill>
                <a:latin typeface="Calibri"/>
                <a:cs typeface="Calibri"/>
              </a:rPr>
              <a:t>.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6257" y="445134"/>
            <a:ext cx="5808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0" dirty="0"/>
              <a:t>M</a:t>
            </a:r>
            <a:r>
              <a:rPr spc="65" dirty="0"/>
              <a:t>A</a:t>
            </a:r>
            <a:r>
              <a:rPr spc="-690" dirty="0"/>
              <a:t>N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305" dirty="0"/>
              <a:t>L</a:t>
            </a:r>
            <a:r>
              <a:rPr spc="-210" dirty="0"/>
              <a:t> </a:t>
            </a:r>
            <a:r>
              <a:rPr spc="-675" dirty="0"/>
              <a:t>D</a:t>
            </a:r>
            <a:r>
              <a:rPr spc="50" dirty="0"/>
              <a:t>E</a:t>
            </a:r>
            <a:r>
              <a:rPr spc="-204" dirty="0"/>
              <a:t> </a:t>
            </a:r>
            <a:r>
              <a:rPr spc="-650" dirty="0"/>
              <a:t>U</a:t>
            </a:r>
            <a:r>
              <a:rPr spc="-114" dirty="0"/>
              <a:t>S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265" dirty="0"/>
              <a:t>R</a:t>
            </a:r>
            <a:r>
              <a:rPr spc="-245" dirty="0"/>
              <a:t>I</a:t>
            </a:r>
            <a:r>
              <a:rPr spc="-475" dirty="0"/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2790" y="1679459"/>
            <a:ext cx="7393305" cy="2523127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sz="3600" b="1" spc="-10" dirty="0">
                <a:solidFill>
                  <a:srgbClr val="2E2B1F"/>
                </a:solidFill>
                <a:latin typeface="Calibri"/>
                <a:cs typeface="Calibri"/>
              </a:rPr>
              <a:t>Introducción:</a:t>
            </a:r>
            <a:endParaRPr sz="3600" dirty="0">
              <a:latin typeface="Calibri"/>
              <a:cs typeface="Calibri"/>
            </a:endParaRPr>
          </a:p>
          <a:p>
            <a:r>
              <a:rPr lang="es-CO" sz="2400" b="1" dirty="0"/>
              <a:t>Refugio Rodante</a:t>
            </a:r>
            <a:r>
              <a:rPr lang="es-CO" sz="2400" dirty="0"/>
              <a:t> es una plataforma web que organiza y optimiza el uso de parqueaderos en Medellín mediante reservas digitales, mapas interactivos y pagos en línea, mejorando la movilidad y reduciendo la congestión en zonas críticas de la ciudad.</a:t>
            </a:r>
            <a:endParaRPr lang="es-CO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6257" y="445134"/>
            <a:ext cx="5808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0" dirty="0"/>
              <a:t>M</a:t>
            </a:r>
            <a:r>
              <a:rPr spc="65" dirty="0"/>
              <a:t>A</a:t>
            </a:r>
            <a:r>
              <a:rPr spc="-690" dirty="0"/>
              <a:t>N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305" dirty="0"/>
              <a:t>L</a:t>
            </a:r>
            <a:r>
              <a:rPr spc="-210" dirty="0"/>
              <a:t> </a:t>
            </a:r>
            <a:r>
              <a:rPr spc="-675" dirty="0"/>
              <a:t>D</a:t>
            </a:r>
            <a:r>
              <a:rPr spc="50" dirty="0"/>
              <a:t>E</a:t>
            </a:r>
            <a:r>
              <a:rPr spc="-204" dirty="0"/>
              <a:t> </a:t>
            </a:r>
            <a:r>
              <a:rPr spc="-650" dirty="0"/>
              <a:t>U</a:t>
            </a:r>
            <a:r>
              <a:rPr spc="-114" dirty="0"/>
              <a:t>S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265" dirty="0"/>
              <a:t>R</a:t>
            </a:r>
            <a:r>
              <a:rPr spc="-245" dirty="0"/>
              <a:t>I</a:t>
            </a:r>
            <a:r>
              <a:rPr spc="-475" dirty="0"/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2790" y="1679459"/>
            <a:ext cx="7393305" cy="4923784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sz="3600" b="1" spc="-10" dirty="0" err="1">
                <a:solidFill>
                  <a:srgbClr val="2E2B1F"/>
                </a:solidFill>
                <a:latin typeface="Calibri"/>
                <a:cs typeface="Calibri"/>
              </a:rPr>
              <a:t>Introducción</a:t>
            </a:r>
            <a:r>
              <a:rPr sz="3600" b="1" spc="-10" dirty="0" smtClean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lang="es-CO" sz="3600" dirty="0"/>
          </a:p>
          <a:p>
            <a:r>
              <a:rPr lang="es-CO" sz="2400" dirty="0"/>
              <a:t>¿Cómo funciona</a:t>
            </a:r>
            <a:r>
              <a:rPr lang="es-CO" sz="2400" dirty="0" smtClean="0"/>
              <a:t>?</a:t>
            </a:r>
          </a:p>
          <a:p>
            <a:r>
              <a:rPr lang="es-CO" sz="2400" b="1" dirty="0"/>
              <a:t>Búsqueda de parqueaderos</a:t>
            </a:r>
            <a:endParaRPr lang="es-CO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O" sz="2400" dirty="0"/>
              <a:t>El usuario accede a la plataforma web y visualiza los parqueaderos disponibles en un mapa interactivo.</a:t>
            </a:r>
          </a:p>
          <a:p>
            <a:r>
              <a:rPr lang="es-CO" sz="2400" b="1" dirty="0"/>
              <a:t>Reserva digital</a:t>
            </a: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Selecciona el parqueadero que más le convenga y realiza una reserva en línea para asegurar el espacio.</a:t>
            </a:r>
          </a:p>
          <a:p>
            <a:r>
              <a:rPr lang="es-CO" sz="2400" b="1" dirty="0"/>
              <a:t>Pago en línea</a:t>
            </a: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El sistema permite efectuar el pago digital, evitando filas y agilizando el proceso.</a:t>
            </a:r>
          </a:p>
          <a:p>
            <a:endParaRPr lang="es-CO" sz="3600" dirty="0"/>
          </a:p>
        </p:txBody>
      </p:sp>
    </p:spTree>
    <p:extLst>
      <p:ext uri="{BB962C8B-B14F-4D97-AF65-F5344CB8AC3E}">
        <p14:creationId xmlns:p14="http://schemas.microsoft.com/office/powerpoint/2010/main" val="970148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6257" y="445134"/>
            <a:ext cx="5808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0" dirty="0"/>
              <a:t>M</a:t>
            </a:r>
            <a:r>
              <a:rPr spc="65" dirty="0"/>
              <a:t>A</a:t>
            </a:r>
            <a:r>
              <a:rPr spc="-690" dirty="0"/>
              <a:t>N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305" dirty="0"/>
              <a:t>L</a:t>
            </a:r>
            <a:r>
              <a:rPr spc="-210" dirty="0"/>
              <a:t> </a:t>
            </a:r>
            <a:r>
              <a:rPr spc="-675" dirty="0"/>
              <a:t>D</a:t>
            </a:r>
            <a:r>
              <a:rPr spc="50" dirty="0"/>
              <a:t>E</a:t>
            </a:r>
            <a:r>
              <a:rPr spc="-204" dirty="0"/>
              <a:t> </a:t>
            </a:r>
            <a:r>
              <a:rPr spc="-650" dirty="0"/>
              <a:t>U</a:t>
            </a:r>
            <a:r>
              <a:rPr spc="-114" dirty="0"/>
              <a:t>S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265" dirty="0"/>
              <a:t>R</a:t>
            </a:r>
            <a:r>
              <a:rPr spc="-245" dirty="0"/>
              <a:t>I</a:t>
            </a:r>
            <a:r>
              <a:rPr spc="-475" dirty="0"/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2790" y="1679459"/>
            <a:ext cx="7393305" cy="418512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sz="3600" b="1" spc="-10" dirty="0" err="1">
                <a:solidFill>
                  <a:srgbClr val="2E2B1F"/>
                </a:solidFill>
                <a:latin typeface="Calibri"/>
                <a:cs typeface="Calibri"/>
              </a:rPr>
              <a:t>Introducción</a:t>
            </a:r>
            <a:r>
              <a:rPr sz="3600" b="1" spc="-10" dirty="0" smtClean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lang="es-CO" sz="3600" dirty="0"/>
          </a:p>
          <a:p>
            <a:r>
              <a:rPr lang="es-CO" sz="2400" dirty="0"/>
              <a:t>¿Cómo funciona</a:t>
            </a:r>
            <a:r>
              <a:rPr lang="es-CO" sz="2400" dirty="0" smtClean="0"/>
              <a:t>?</a:t>
            </a:r>
          </a:p>
          <a:p>
            <a:r>
              <a:rPr lang="es-CO" sz="2400" b="1" dirty="0"/>
              <a:t>Uso del parqueadero</a:t>
            </a: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El conductor llega al lugar reservado y utiliza el espacio de manera rápida y organizada.</a:t>
            </a:r>
          </a:p>
          <a:p>
            <a:r>
              <a:rPr lang="es-CO" sz="2400" b="1" dirty="0"/>
              <a:t>Impacto en la ciudad</a:t>
            </a: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Con este proceso se reduce el tiempo de búsqueda de parqueaderos y se contribuye a la descongestión del tráfico en zonas críticas de Medellín.</a:t>
            </a:r>
          </a:p>
          <a:p>
            <a:endParaRPr lang="es-CO" sz="3600" dirty="0"/>
          </a:p>
        </p:txBody>
      </p:sp>
    </p:spTree>
    <p:extLst>
      <p:ext uri="{BB962C8B-B14F-4D97-AF65-F5344CB8AC3E}">
        <p14:creationId xmlns:p14="http://schemas.microsoft.com/office/powerpoint/2010/main" val="2330758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6257" y="445134"/>
            <a:ext cx="5808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0" dirty="0"/>
              <a:t>M</a:t>
            </a:r>
            <a:r>
              <a:rPr spc="65" dirty="0"/>
              <a:t>A</a:t>
            </a:r>
            <a:r>
              <a:rPr spc="-690" dirty="0"/>
              <a:t>N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305" dirty="0"/>
              <a:t>L</a:t>
            </a:r>
            <a:r>
              <a:rPr spc="-210" dirty="0"/>
              <a:t> </a:t>
            </a:r>
            <a:r>
              <a:rPr spc="-675" dirty="0"/>
              <a:t>D</a:t>
            </a:r>
            <a:r>
              <a:rPr spc="50" dirty="0"/>
              <a:t>E</a:t>
            </a:r>
            <a:r>
              <a:rPr spc="-204" dirty="0"/>
              <a:t> </a:t>
            </a:r>
            <a:r>
              <a:rPr spc="-650" dirty="0"/>
              <a:t>U</a:t>
            </a:r>
            <a:r>
              <a:rPr spc="-114" dirty="0"/>
              <a:t>S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265" dirty="0"/>
              <a:t>R</a:t>
            </a:r>
            <a:r>
              <a:rPr spc="-245" dirty="0"/>
              <a:t>I</a:t>
            </a:r>
            <a:r>
              <a:rPr spc="-475" dirty="0"/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2790" y="1679459"/>
            <a:ext cx="7393305" cy="300787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sz="3600" b="1" spc="-10" dirty="0" err="1">
                <a:solidFill>
                  <a:srgbClr val="2E2B1F"/>
                </a:solidFill>
                <a:latin typeface="Calibri"/>
                <a:cs typeface="Calibri"/>
              </a:rPr>
              <a:t>Introducción</a:t>
            </a:r>
            <a:r>
              <a:rPr sz="3600" b="1" spc="-10" dirty="0" smtClean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lang="es-CO" sz="3600" dirty="0"/>
          </a:p>
          <a:p>
            <a:r>
              <a:rPr lang="es-CO" sz="2400" dirty="0" smtClean="0"/>
              <a:t>¿Para qué es?</a:t>
            </a:r>
          </a:p>
          <a:p>
            <a:pPr marL="12700">
              <a:spcBef>
                <a:spcPts val="865"/>
              </a:spcBef>
            </a:pPr>
            <a:r>
              <a:rPr lang="es-CO" sz="2400" dirty="0"/>
              <a:t>Facilitar la gestión de parqueaderos en Medellín mediante reservas digitales, mapas interactivos y pagos en línea, con el fin de mejorar la experiencia de los conductores, optimizar el uso de los espacios y contribuir a la descongestión del tráfico en zonas críticas de la ciudad.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3517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28600" y="-19334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6257" y="445134"/>
            <a:ext cx="5808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0" dirty="0"/>
              <a:t>M</a:t>
            </a:r>
            <a:r>
              <a:rPr spc="65" dirty="0"/>
              <a:t>A</a:t>
            </a:r>
            <a:r>
              <a:rPr spc="-690" dirty="0"/>
              <a:t>N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305" dirty="0"/>
              <a:t>L</a:t>
            </a:r>
            <a:r>
              <a:rPr spc="-210" dirty="0"/>
              <a:t> </a:t>
            </a:r>
            <a:r>
              <a:rPr spc="-675" dirty="0"/>
              <a:t>D</a:t>
            </a:r>
            <a:r>
              <a:rPr spc="50" dirty="0"/>
              <a:t>E</a:t>
            </a:r>
            <a:r>
              <a:rPr spc="-204" dirty="0"/>
              <a:t> </a:t>
            </a:r>
            <a:r>
              <a:rPr spc="-650" dirty="0"/>
              <a:t>U</a:t>
            </a:r>
            <a:r>
              <a:rPr spc="-114" dirty="0"/>
              <a:t>S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265" dirty="0"/>
              <a:t>R</a:t>
            </a:r>
            <a:r>
              <a:rPr spc="-245" dirty="0"/>
              <a:t>I</a:t>
            </a:r>
            <a:r>
              <a:rPr spc="-475" dirty="0"/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3982" y="1467475"/>
            <a:ext cx="7393305" cy="215379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sz="3600" b="1" spc="-10" dirty="0" err="1" smtClean="0">
                <a:solidFill>
                  <a:srgbClr val="2E2B1F"/>
                </a:solidFill>
                <a:latin typeface="Calibri"/>
                <a:cs typeface="Calibri"/>
              </a:rPr>
              <a:t>Introducción</a:t>
            </a:r>
            <a:r>
              <a:rPr sz="3600" b="1" spc="-10" dirty="0" smtClean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lang="es-CO" sz="3600" dirty="0" smtClean="0"/>
          </a:p>
          <a:p>
            <a:r>
              <a:rPr lang="es-CO" sz="2400" dirty="0" smtClean="0"/>
              <a:t>¿</a:t>
            </a:r>
            <a:r>
              <a:rPr lang="es-CO" sz="2400" dirty="0"/>
              <a:t>Quién lo puede utilizar</a:t>
            </a:r>
            <a:r>
              <a:rPr lang="es-CO" sz="2400" dirty="0" smtClean="0"/>
              <a:t>?</a:t>
            </a:r>
          </a:p>
          <a:p>
            <a:r>
              <a:rPr lang="es-CO" sz="2400" dirty="0"/>
              <a:t>Refugio Rodante está diseñado para cualquier conductor en Medellín que necesite parquear de forma fácil, rápida y organizada.</a:t>
            </a:r>
          </a:p>
        </p:txBody>
      </p:sp>
    </p:spTree>
    <p:extLst>
      <p:ext uri="{BB962C8B-B14F-4D97-AF65-F5344CB8AC3E}">
        <p14:creationId xmlns:p14="http://schemas.microsoft.com/office/powerpoint/2010/main" val="3838556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6632" y="394334"/>
            <a:ext cx="655700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969" dirty="0"/>
              <a:t>M</a:t>
            </a:r>
            <a:r>
              <a:rPr sz="5400" spc="75" dirty="0"/>
              <a:t>A</a:t>
            </a:r>
            <a:r>
              <a:rPr sz="5400" spc="-770" dirty="0"/>
              <a:t>N</a:t>
            </a:r>
            <a:r>
              <a:rPr sz="5400" spc="-720" dirty="0"/>
              <a:t>U</a:t>
            </a:r>
            <a:r>
              <a:rPr sz="5400" spc="75" dirty="0"/>
              <a:t>A</a:t>
            </a:r>
            <a:r>
              <a:rPr sz="5400" spc="-345" dirty="0"/>
              <a:t>L</a:t>
            </a:r>
            <a:r>
              <a:rPr sz="5400" spc="-190" dirty="0"/>
              <a:t> </a:t>
            </a:r>
            <a:r>
              <a:rPr sz="5400" spc="-745" dirty="0"/>
              <a:t>D</a:t>
            </a:r>
            <a:r>
              <a:rPr sz="5400" spc="55" dirty="0"/>
              <a:t>E</a:t>
            </a:r>
            <a:r>
              <a:rPr sz="5400" spc="-190" dirty="0"/>
              <a:t> </a:t>
            </a:r>
            <a:r>
              <a:rPr sz="5400" spc="-720" dirty="0"/>
              <a:t>U</a:t>
            </a:r>
            <a:r>
              <a:rPr sz="5400" spc="-110" dirty="0"/>
              <a:t>S</a:t>
            </a:r>
            <a:r>
              <a:rPr sz="5400" spc="-720" dirty="0"/>
              <a:t>U</a:t>
            </a:r>
            <a:r>
              <a:rPr sz="5400" spc="75" dirty="0"/>
              <a:t>A</a:t>
            </a:r>
            <a:r>
              <a:rPr sz="5400" spc="-265" dirty="0"/>
              <a:t>R</a:t>
            </a:r>
            <a:r>
              <a:rPr sz="5400" spc="-240" dirty="0"/>
              <a:t>I</a:t>
            </a:r>
            <a:r>
              <a:rPr sz="5400" spc="-530" dirty="0"/>
              <a:t>O</a:t>
            </a:r>
            <a:endParaRPr sz="5400"/>
          </a:p>
        </p:txBody>
      </p:sp>
      <p:sp>
        <p:nvSpPr>
          <p:cNvPr id="7" name="object 7"/>
          <p:cNvSpPr txBox="1"/>
          <p:nvPr/>
        </p:nvSpPr>
        <p:spPr>
          <a:xfrm>
            <a:off x="588644" y="1751012"/>
            <a:ext cx="7393940" cy="2523768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96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3600" b="1" spc="-10" dirty="0">
                <a:solidFill>
                  <a:srgbClr val="2E2B1F"/>
                </a:solidFill>
                <a:latin typeface="Calibri"/>
                <a:cs typeface="Calibri"/>
              </a:rPr>
              <a:t>Objetivos</a:t>
            </a:r>
            <a:r>
              <a:rPr sz="3600" b="1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2E2B1F"/>
                </a:solidFill>
                <a:latin typeface="Calibri"/>
                <a:cs typeface="Calibri"/>
              </a:rPr>
              <a:t>del</a:t>
            </a:r>
            <a:r>
              <a:rPr sz="3600" b="1" spc="-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rgbClr val="2E2B1F"/>
                </a:solidFill>
                <a:latin typeface="Calibri"/>
                <a:cs typeface="Calibri"/>
              </a:rPr>
              <a:t>Sistema:</a:t>
            </a:r>
            <a:endParaRPr sz="3600" dirty="0">
              <a:latin typeface="Calibri"/>
              <a:cs typeface="Calibri"/>
            </a:endParaRPr>
          </a:p>
          <a:p>
            <a:r>
              <a:rPr lang="es-CO" sz="2400" dirty="0"/>
              <a:t>Objetivo </a:t>
            </a:r>
            <a:r>
              <a:rPr lang="es-CO" sz="2400" dirty="0" smtClean="0"/>
              <a:t>general:</a:t>
            </a:r>
          </a:p>
          <a:p>
            <a:r>
              <a:rPr lang="es-CO" sz="2400" dirty="0"/>
              <a:t>Desarrollar una plataforma digital para la reserva inteligente de parqueaderos en Medellín, integrando geolocalización, pagos digitales y recordatorios automáticos.</a:t>
            </a:r>
            <a:endParaRPr lang="es-CO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6632" y="394334"/>
            <a:ext cx="655700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969" dirty="0"/>
              <a:t>M</a:t>
            </a:r>
            <a:r>
              <a:rPr sz="5400" spc="75" dirty="0"/>
              <a:t>A</a:t>
            </a:r>
            <a:r>
              <a:rPr sz="5400" spc="-770" dirty="0"/>
              <a:t>N</a:t>
            </a:r>
            <a:r>
              <a:rPr sz="5400" spc="-720" dirty="0"/>
              <a:t>U</a:t>
            </a:r>
            <a:r>
              <a:rPr sz="5400" spc="75" dirty="0"/>
              <a:t>A</a:t>
            </a:r>
            <a:r>
              <a:rPr sz="5400" spc="-345" dirty="0"/>
              <a:t>L</a:t>
            </a:r>
            <a:r>
              <a:rPr sz="5400" spc="-190" dirty="0"/>
              <a:t> </a:t>
            </a:r>
            <a:r>
              <a:rPr sz="5400" spc="-745" dirty="0"/>
              <a:t>D</a:t>
            </a:r>
            <a:r>
              <a:rPr sz="5400" spc="55" dirty="0"/>
              <a:t>E</a:t>
            </a:r>
            <a:r>
              <a:rPr sz="5400" spc="-190" dirty="0"/>
              <a:t> </a:t>
            </a:r>
            <a:r>
              <a:rPr sz="5400" spc="-720" dirty="0"/>
              <a:t>U</a:t>
            </a:r>
            <a:r>
              <a:rPr sz="5400" spc="-110" dirty="0"/>
              <a:t>S</a:t>
            </a:r>
            <a:r>
              <a:rPr sz="5400" spc="-720" dirty="0"/>
              <a:t>U</a:t>
            </a:r>
            <a:r>
              <a:rPr sz="5400" spc="75" dirty="0"/>
              <a:t>A</a:t>
            </a:r>
            <a:r>
              <a:rPr sz="5400" spc="-265" dirty="0"/>
              <a:t>R</a:t>
            </a:r>
            <a:r>
              <a:rPr sz="5400" spc="-240" dirty="0"/>
              <a:t>I</a:t>
            </a:r>
            <a:r>
              <a:rPr sz="5400" spc="-530" dirty="0"/>
              <a:t>O</a:t>
            </a:r>
            <a:endParaRPr sz="5400"/>
          </a:p>
        </p:txBody>
      </p:sp>
      <p:sp>
        <p:nvSpPr>
          <p:cNvPr id="7" name="object 7"/>
          <p:cNvSpPr txBox="1"/>
          <p:nvPr/>
        </p:nvSpPr>
        <p:spPr>
          <a:xfrm>
            <a:off x="588644" y="1751012"/>
            <a:ext cx="7393940" cy="3816429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96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3600" b="1" spc="-10" dirty="0">
                <a:solidFill>
                  <a:srgbClr val="2E2B1F"/>
                </a:solidFill>
                <a:latin typeface="Calibri"/>
                <a:cs typeface="Calibri"/>
              </a:rPr>
              <a:t>Objetivos</a:t>
            </a:r>
            <a:r>
              <a:rPr sz="3600" b="1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2E2B1F"/>
                </a:solidFill>
                <a:latin typeface="Calibri"/>
                <a:cs typeface="Calibri"/>
              </a:rPr>
              <a:t>del</a:t>
            </a:r>
            <a:r>
              <a:rPr sz="3600" b="1" spc="-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rgbClr val="2E2B1F"/>
                </a:solidFill>
                <a:latin typeface="Calibri"/>
                <a:cs typeface="Calibri"/>
              </a:rPr>
              <a:t>Sistema</a:t>
            </a:r>
            <a:r>
              <a:rPr sz="3600" b="1" spc="-15" dirty="0" smtClean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sz="3600" dirty="0" smtClean="0">
              <a:latin typeface="Calibri"/>
              <a:cs typeface="Calibri"/>
            </a:endParaRPr>
          </a:p>
          <a:p>
            <a:r>
              <a:rPr lang="es-CO" sz="2400" b="1" dirty="0"/>
              <a:t>Objetivos </a:t>
            </a:r>
            <a:r>
              <a:rPr lang="es-CO" sz="2400" b="1" dirty="0" smtClean="0"/>
              <a:t>Específicos</a:t>
            </a:r>
            <a:r>
              <a:rPr lang="es-CO" sz="2400" dirty="0" smtClean="0"/>
              <a:t/>
            </a:r>
            <a:br>
              <a:rPr lang="es-CO" sz="2400" dirty="0" smtClean="0"/>
            </a:br>
            <a:r>
              <a:rPr lang="es-CO" sz="2400" dirty="0" smtClean="0"/>
              <a:t>1. Levantar requerimientos con usuarios y administradores de parqueaderos.</a:t>
            </a:r>
          </a:p>
          <a:p>
            <a:r>
              <a:rPr lang="es-CO" sz="2400" dirty="0" smtClean="0"/>
              <a:t>2. Diseñar </a:t>
            </a:r>
            <a:r>
              <a:rPr lang="es-CO" sz="2400" dirty="0"/>
              <a:t>base de datos y prototipos de la interfaz.</a:t>
            </a:r>
          </a:p>
          <a:p>
            <a:r>
              <a:rPr lang="es-CO" sz="2400" dirty="0" smtClean="0"/>
              <a:t>3. Implementar </a:t>
            </a:r>
            <a:r>
              <a:rPr lang="es-CO" sz="2400" dirty="0"/>
              <a:t>módulos de reserva, pago y visualización.</a:t>
            </a:r>
          </a:p>
          <a:p>
            <a:r>
              <a:rPr lang="es-CO" sz="2400" dirty="0" smtClean="0"/>
              <a:t>4. Probar </a:t>
            </a:r>
            <a:r>
              <a:rPr lang="es-CO" sz="2400" dirty="0"/>
              <a:t>el sistema con usuarios reales y documentar el proceso.</a:t>
            </a:r>
          </a:p>
          <a:p>
            <a:endParaRPr lang="es-CO" sz="3600" dirty="0" smtClean="0"/>
          </a:p>
        </p:txBody>
      </p:sp>
    </p:spTree>
    <p:extLst>
      <p:ext uri="{BB962C8B-B14F-4D97-AF65-F5344CB8AC3E}">
        <p14:creationId xmlns:p14="http://schemas.microsoft.com/office/powerpoint/2010/main" val="54564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0944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9949" y="445134"/>
            <a:ext cx="5808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0" dirty="0"/>
              <a:t>M</a:t>
            </a:r>
            <a:r>
              <a:rPr spc="65" dirty="0"/>
              <a:t>A</a:t>
            </a:r>
            <a:r>
              <a:rPr spc="-690" dirty="0"/>
              <a:t>N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305" dirty="0"/>
              <a:t>L</a:t>
            </a:r>
            <a:r>
              <a:rPr spc="-210" dirty="0"/>
              <a:t> </a:t>
            </a:r>
            <a:r>
              <a:rPr spc="-675" dirty="0"/>
              <a:t>D</a:t>
            </a:r>
            <a:r>
              <a:rPr spc="50" dirty="0"/>
              <a:t>E</a:t>
            </a:r>
            <a:r>
              <a:rPr spc="-204" dirty="0"/>
              <a:t> </a:t>
            </a:r>
            <a:r>
              <a:rPr spc="-650" dirty="0"/>
              <a:t>U</a:t>
            </a:r>
            <a:r>
              <a:rPr spc="-114" dirty="0"/>
              <a:t>S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265" dirty="0"/>
              <a:t>R</a:t>
            </a:r>
            <a:r>
              <a:rPr spc="-245" dirty="0"/>
              <a:t>I</a:t>
            </a:r>
            <a:r>
              <a:rPr spc="-475" dirty="0"/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8644" y="1823021"/>
            <a:ext cx="7393940" cy="1174681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96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3600" b="1" spc="-5" dirty="0">
                <a:solidFill>
                  <a:srgbClr val="2E2B1F"/>
                </a:solidFill>
                <a:latin typeface="Calibri"/>
                <a:cs typeface="Calibri"/>
              </a:rPr>
              <a:t>Guía</a:t>
            </a:r>
            <a:r>
              <a:rPr sz="36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3600" b="1" spc="5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36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lang="es-CO" sz="3600" b="1" dirty="0" smtClean="0">
                <a:solidFill>
                  <a:srgbClr val="2E2B1F"/>
                </a:solidFill>
                <a:latin typeface="Calibri"/>
                <a:cs typeface="Calibri"/>
              </a:rPr>
              <a:t>uso</a:t>
            </a:r>
            <a:r>
              <a:rPr sz="3600" b="1" dirty="0" smtClean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lang="es-CO" sz="3600" b="1" dirty="0" smtClean="0">
              <a:solidFill>
                <a:srgbClr val="2E2B1F"/>
              </a:solidFill>
              <a:latin typeface="Calibri"/>
              <a:cs typeface="Calibri"/>
            </a:endParaRPr>
          </a:p>
          <a:p>
            <a:pPr marL="241300" indent="-229235" algn="just">
              <a:lnSpc>
                <a:spcPct val="100000"/>
              </a:lnSpc>
              <a:spcBef>
                <a:spcPts val="96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lang="es-CO" sz="2400" b="1" dirty="0" smtClean="0">
                <a:solidFill>
                  <a:srgbClr val="2E2B1F"/>
                </a:solidFill>
                <a:latin typeface="Calibri"/>
                <a:cs typeface="Calibri"/>
              </a:rPr>
              <a:t>Inicio.</a:t>
            </a:r>
          </a:p>
        </p:txBody>
      </p:sp>
      <p:sp>
        <p:nvSpPr>
          <p:cNvPr id="8" name="AutoShape 2" descr="blob:https://web.whatsapp.com/b8a4219b-13ff-4f1a-b071-c4fa28fd680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" name="AutoShape 4" descr="blob:https://web.whatsapp.com/b8a4219b-13ff-4f1a-b071-c4fa28fd680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47" y="3206207"/>
            <a:ext cx="6843800" cy="3443287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4285614" y="1839541"/>
            <a:ext cx="4236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/>
              <a:t>La </a:t>
            </a:r>
            <a:r>
              <a:rPr lang="es-CO" dirty="0"/>
              <a:t>función de esta interfaz </a:t>
            </a:r>
            <a:r>
              <a:rPr lang="es-CO" dirty="0" smtClean="0"/>
              <a:t>es la primera impresión que lleva al usuario al momento de entrar.</a:t>
            </a: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9949" y="445134"/>
            <a:ext cx="5808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0" dirty="0"/>
              <a:t>M</a:t>
            </a:r>
            <a:r>
              <a:rPr spc="65" dirty="0"/>
              <a:t>A</a:t>
            </a:r>
            <a:r>
              <a:rPr spc="-690" dirty="0"/>
              <a:t>N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305" dirty="0"/>
              <a:t>L</a:t>
            </a:r>
            <a:r>
              <a:rPr spc="-210" dirty="0"/>
              <a:t> </a:t>
            </a:r>
            <a:r>
              <a:rPr spc="-675" dirty="0"/>
              <a:t>D</a:t>
            </a:r>
            <a:r>
              <a:rPr spc="50" dirty="0"/>
              <a:t>E</a:t>
            </a:r>
            <a:r>
              <a:rPr spc="-204" dirty="0"/>
              <a:t> </a:t>
            </a:r>
            <a:r>
              <a:rPr spc="-650" dirty="0"/>
              <a:t>U</a:t>
            </a:r>
            <a:r>
              <a:rPr spc="-114" dirty="0"/>
              <a:t>S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265" dirty="0"/>
              <a:t>R</a:t>
            </a:r>
            <a:r>
              <a:rPr spc="-245" dirty="0"/>
              <a:t>I</a:t>
            </a:r>
            <a:r>
              <a:rPr spc="-475" dirty="0"/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8644" y="1823021"/>
            <a:ext cx="3068956" cy="1174681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96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3600" b="1" spc="-5" dirty="0">
                <a:solidFill>
                  <a:srgbClr val="2E2B1F"/>
                </a:solidFill>
                <a:latin typeface="Calibri"/>
                <a:cs typeface="Calibri"/>
              </a:rPr>
              <a:t>Guía</a:t>
            </a:r>
            <a:r>
              <a:rPr sz="36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3600" b="1" spc="5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36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lang="es-CO" sz="3600" b="1" dirty="0" smtClean="0">
                <a:solidFill>
                  <a:srgbClr val="2E2B1F"/>
                </a:solidFill>
                <a:latin typeface="Calibri"/>
                <a:cs typeface="Calibri"/>
              </a:rPr>
              <a:t>uso</a:t>
            </a:r>
            <a:r>
              <a:rPr sz="3600" b="1" dirty="0" smtClean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lang="es-CO" sz="3600" b="1" dirty="0" smtClean="0">
              <a:solidFill>
                <a:srgbClr val="2E2B1F"/>
              </a:solidFill>
              <a:latin typeface="Calibri"/>
              <a:cs typeface="Calibri"/>
            </a:endParaRPr>
          </a:p>
          <a:p>
            <a:pPr marL="241300" indent="-229235" algn="just">
              <a:lnSpc>
                <a:spcPct val="100000"/>
              </a:lnSpc>
              <a:spcBef>
                <a:spcPts val="96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lang="es-CO" sz="2400" b="1" dirty="0" smtClean="0">
                <a:solidFill>
                  <a:srgbClr val="2E2B1F"/>
                </a:solidFill>
                <a:latin typeface="Calibri"/>
                <a:cs typeface="Calibri"/>
              </a:rPr>
              <a:t>Login.</a:t>
            </a:r>
          </a:p>
        </p:txBody>
      </p:sp>
      <p:sp>
        <p:nvSpPr>
          <p:cNvPr id="8" name="AutoShape 2" descr="blob:https://web.whatsapp.com/b8a4219b-13ff-4f1a-b071-c4fa28fd680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" name="AutoShape 4" descr="blob:https://web.whatsapp.com/b8a4219b-13ff-4f1a-b071-c4fa28fd680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98" y="3182367"/>
            <a:ext cx="7146414" cy="3589956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3894256" y="1784863"/>
            <a:ext cx="419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Esta interfaz sirve para controlar el acceso de los usuarios al sistema de reservas de parqueaderos, garantizando seguridad y personalización del servicio.</a:t>
            </a:r>
          </a:p>
        </p:txBody>
      </p:sp>
    </p:spTree>
    <p:extLst>
      <p:ext uri="{BB962C8B-B14F-4D97-AF65-F5344CB8AC3E}">
        <p14:creationId xmlns:p14="http://schemas.microsoft.com/office/powerpoint/2010/main" val="3893418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4924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9949" y="445134"/>
            <a:ext cx="5808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0" dirty="0"/>
              <a:t>M</a:t>
            </a:r>
            <a:r>
              <a:rPr spc="65" dirty="0"/>
              <a:t>A</a:t>
            </a:r>
            <a:r>
              <a:rPr spc="-690" dirty="0"/>
              <a:t>N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305" dirty="0"/>
              <a:t>L</a:t>
            </a:r>
            <a:r>
              <a:rPr spc="-210" dirty="0"/>
              <a:t> </a:t>
            </a:r>
            <a:r>
              <a:rPr spc="-675" dirty="0"/>
              <a:t>D</a:t>
            </a:r>
            <a:r>
              <a:rPr spc="50" dirty="0"/>
              <a:t>E</a:t>
            </a:r>
            <a:r>
              <a:rPr spc="-204" dirty="0"/>
              <a:t> </a:t>
            </a:r>
            <a:r>
              <a:rPr spc="-650" dirty="0"/>
              <a:t>U</a:t>
            </a:r>
            <a:r>
              <a:rPr spc="-114" dirty="0"/>
              <a:t>S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265" dirty="0"/>
              <a:t>R</a:t>
            </a:r>
            <a:r>
              <a:rPr spc="-245" dirty="0"/>
              <a:t>I</a:t>
            </a:r>
            <a:r>
              <a:rPr spc="-475" dirty="0"/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7151" y="1360165"/>
            <a:ext cx="7393940" cy="1174681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96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3600" b="1" spc="-5" dirty="0">
                <a:solidFill>
                  <a:srgbClr val="2E2B1F"/>
                </a:solidFill>
                <a:latin typeface="Calibri"/>
                <a:cs typeface="Calibri"/>
              </a:rPr>
              <a:t>Guía</a:t>
            </a:r>
            <a:r>
              <a:rPr sz="36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3600" b="1" spc="5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36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lang="es-CO" sz="3600" b="1" dirty="0" smtClean="0">
                <a:solidFill>
                  <a:srgbClr val="2E2B1F"/>
                </a:solidFill>
                <a:latin typeface="Calibri"/>
                <a:cs typeface="Calibri"/>
              </a:rPr>
              <a:t>uso</a:t>
            </a:r>
            <a:r>
              <a:rPr sz="3600" b="1" dirty="0" smtClean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lang="es-CO" sz="3600" b="1" dirty="0" smtClean="0">
              <a:solidFill>
                <a:srgbClr val="2E2B1F"/>
              </a:solidFill>
              <a:latin typeface="Calibri"/>
              <a:cs typeface="Calibri"/>
            </a:endParaRPr>
          </a:p>
          <a:p>
            <a:pPr marL="241300" indent="-229235" algn="just">
              <a:lnSpc>
                <a:spcPct val="100000"/>
              </a:lnSpc>
              <a:spcBef>
                <a:spcPts val="96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lang="es-CO" sz="2400" b="1" dirty="0" smtClean="0">
                <a:solidFill>
                  <a:srgbClr val="2E2B1F"/>
                </a:solidFill>
                <a:latin typeface="Calibri"/>
                <a:cs typeface="Calibri"/>
              </a:rPr>
              <a:t>Interfaz - usuario.</a:t>
            </a:r>
          </a:p>
        </p:txBody>
      </p:sp>
      <p:sp>
        <p:nvSpPr>
          <p:cNvPr id="8" name="AutoShape 2" descr="blob:https://web.whatsapp.com/b8a4219b-13ff-4f1a-b071-c4fa28fd680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" name="AutoShape 4" descr="blob:https://web.whatsapp.com/b8a4219b-13ff-4f1a-b071-c4fa28fd680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89" y="2863974"/>
            <a:ext cx="7664141" cy="3820096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3931003" y="1535002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Esta interfaz funciona como el centro de control del usuario, desde donde administra su cuenta y reservas de parqueadero.</a:t>
            </a:r>
          </a:p>
        </p:txBody>
      </p:sp>
    </p:spTree>
    <p:extLst>
      <p:ext uri="{BB962C8B-B14F-4D97-AF65-F5344CB8AC3E}">
        <p14:creationId xmlns:p14="http://schemas.microsoft.com/office/powerpoint/2010/main" val="3321970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4924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9949" y="445134"/>
            <a:ext cx="5808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0" dirty="0"/>
              <a:t>M</a:t>
            </a:r>
            <a:r>
              <a:rPr spc="65" dirty="0"/>
              <a:t>A</a:t>
            </a:r>
            <a:r>
              <a:rPr spc="-690" dirty="0"/>
              <a:t>N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305" dirty="0"/>
              <a:t>L</a:t>
            </a:r>
            <a:r>
              <a:rPr spc="-210" dirty="0"/>
              <a:t> </a:t>
            </a:r>
            <a:r>
              <a:rPr spc="-675" dirty="0"/>
              <a:t>D</a:t>
            </a:r>
            <a:r>
              <a:rPr spc="50" dirty="0"/>
              <a:t>E</a:t>
            </a:r>
            <a:r>
              <a:rPr spc="-204" dirty="0"/>
              <a:t> </a:t>
            </a:r>
            <a:r>
              <a:rPr spc="-650" dirty="0"/>
              <a:t>U</a:t>
            </a:r>
            <a:r>
              <a:rPr spc="-114" dirty="0"/>
              <a:t>S</a:t>
            </a:r>
            <a:r>
              <a:rPr spc="-650" dirty="0"/>
              <a:t>U</a:t>
            </a:r>
            <a:r>
              <a:rPr spc="65" dirty="0"/>
              <a:t>A</a:t>
            </a:r>
            <a:r>
              <a:rPr spc="-265" dirty="0"/>
              <a:t>R</a:t>
            </a:r>
            <a:r>
              <a:rPr spc="-245" dirty="0"/>
              <a:t>I</a:t>
            </a:r>
            <a:r>
              <a:rPr spc="-475" dirty="0"/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7151" y="1360165"/>
            <a:ext cx="7393940" cy="1174681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96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3600" b="1" spc="-5" dirty="0">
                <a:solidFill>
                  <a:srgbClr val="2E2B1F"/>
                </a:solidFill>
                <a:latin typeface="Calibri"/>
                <a:cs typeface="Calibri"/>
              </a:rPr>
              <a:t>Guía</a:t>
            </a:r>
            <a:r>
              <a:rPr sz="36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3600" b="1" spc="5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36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lang="es-CO" sz="3600" b="1" dirty="0" smtClean="0">
                <a:solidFill>
                  <a:srgbClr val="2E2B1F"/>
                </a:solidFill>
                <a:latin typeface="Calibri"/>
                <a:cs typeface="Calibri"/>
              </a:rPr>
              <a:t>uso</a:t>
            </a:r>
            <a:r>
              <a:rPr sz="3600" b="1" dirty="0" smtClean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lang="es-CO" sz="3600" b="1" dirty="0" smtClean="0">
              <a:solidFill>
                <a:srgbClr val="2E2B1F"/>
              </a:solidFill>
              <a:latin typeface="Calibri"/>
              <a:cs typeface="Calibri"/>
            </a:endParaRPr>
          </a:p>
          <a:p>
            <a:pPr marL="241300" indent="-229235" algn="just">
              <a:lnSpc>
                <a:spcPct val="100000"/>
              </a:lnSpc>
              <a:spcBef>
                <a:spcPts val="96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lang="es-CO" sz="2400" b="1" dirty="0" smtClean="0">
                <a:solidFill>
                  <a:srgbClr val="2E2B1F"/>
                </a:solidFill>
                <a:latin typeface="Calibri"/>
                <a:cs typeface="Calibri"/>
              </a:rPr>
              <a:t>Interfaz - administrador.</a:t>
            </a:r>
          </a:p>
        </p:txBody>
      </p:sp>
      <p:sp>
        <p:nvSpPr>
          <p:cNvPr id="8" name="AutoShape 2" descr="blob:https://web.whatsapp.com/b8a4219b-13ff-4f1a-b071-c4fa28fd680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" name="AutoShape 4" descr="blob:https://web.whatsapp.com/b8a4219b-13ff-4f1a-b071-c4fa28fd680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1" y="2863974"/>
            <a:ext cx="7620000" cy="3792141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4225338" y="1386646"/>
            <a:ext cx="38638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Esta interfaz funciona como el centro de control administrativo, desde donde se supervisa y gestiona todo el sistema de parqueaderos, garantizando su correcto funcionamiento.</a:t>
            </a:r>
          </a:p>
        </p:txBody>
      </p:sp>
    </p:spTree>
    <p:extLst>
      <p:ext uri="{BB962C8B-B14F-4D97-AF65-F5344CB8AC3E}">
        <p14:creationId xmlns:p14="http://schemas.microsoft.com/office/powerpoint/2010/main" val="2152475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58200" y="0"/>
              <a:ext cx="685800" cy="6858000"/>
            </a:xfrm>
            <a:custGeom>
              <a:avLst/>
              <a:gdLst/>
              <a:ahLst/>
              <a:cxnLst/>
              <a:rect l="l" t="t" r="r" b="b"/>
              <a:pathLst>
                <a:path w="685800" h="6858000">
                  <a:moveTo>
                    <a:pt x="685800" y="6172200"/>
                  </a:moveTo>
                  <a:lnTo>
                    <a:pt x="0" y="6172200"/>
                  </a:lnTo>
                  <a:lnTo>
                    <a:pt x="0" y="6858000"/>
                  </a:lnTo>
                  <a:lnTo>
                    <a:pt x="685800" y="6858000"/>
                  </a:lnTo>
                  <a:lnTo>
                    <a:pt x="685800" y="6172200"/>
                  </a:lnTo>
                  <a:close/>
                </a:path>
                <a:path w="685800" h="6858000">
                  <a:moveTo>
                    <a:pt x="6858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85800" y="5486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675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200" y="548639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18869" y="478154"/>
            <a:ext cx="5308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795" dirty="0"/>
              <a:t>M</a:t>
            </a:r>
            <a:r>
              <a:rPr sz="4400" spc="55" dirty="0"/>
              <a:t>A</a:t>
            </a:r>
            <a:r>
              <a:rPr sz="4400" spc="-640" dirty="0"/>
              <a:t>N</a:t>
            </a:r>
            <a:r>
              <a:rPr sz="4400" spc="-600" dirty="0"/>
              <a:t>U</a:t>
            </a:r>
            <a:r>
              <a:rPr sz="4400" spc="55" dirty="0"/>
              <a:t>A</a:t>
            </a:r>
            <a:r>
              <a:rPr sz="4400" spc="-280" dirty="0"/>
              <a:t>L</a:t>
            </a:r>
            <a:r>
              <a:rPr sz="4400" spc="-250" dirty="0"/>
              <a:t> </a:t>
            </a:r>
            <a:r>
              <a:rPr sz="4400" spc="-620" dirty="0"/>
              <a:t>D</a:t>
            </a:r>
            <a:r>
              <a:rPr sz="4400" spc="45" dirty="0"/>
              <a:t>E</a:t>
            </a:r>
            <a:r>
              <a:rPr sz="4400" spc="-200" dirty="0"/>
              <a:t> </a:t>
            </a:r>
            <a:r>
              <a:rPr sz="4400" spc="-600" dirty="0"/>
              <a:t>U</a:t>
            </a:r>
            <a:r>
              <a:rPr sz="4400" spc="-110" dirty="0"/>
              <a:t>S</a:t>
            </a:r>
            <a:r>
              <a:rPr sz="4400" spc="-600" dirty="0"/>
              <a:t>U</a:t>
            </a:r>
            <a:r>
              <a:rPr sz="4400" spc="55" dirty="0"/>
              <a:t>A</a:t>
            </a:r>
            <a:r>
              <a:rPr sz="4400" spc="-235" dirty="0"/>
              <a:t>R</a:t>
            </a:r>
            <a:r>
              <a:rPr sz="4400" spc="-229" dirty="0"/>
              <a:t>I</a:t>
            </a:r>
            <a:r>
              <a:rPr sz="4400" spc="-434" dirty="0"/>
              <a:t>O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660717" y="1679459"/>
            <a:ext cx="7391400" cy="2892458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95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lang="es-CO" sz="3600" b="1" dirty="0" smtClean="0">
                <a:solidFill>
                  <a:srgbClr val="2E2B1F"/>
                </a:solidFill>
                <a:latin typeface="Calibri"/>
                <a:cs typeface="Calibri"/>
              </a:rPr>
              <a:t>Resultados esperados.</a:t>
            </a:r>
            <a:endParaRPr lang="es-CO" sz="3600" b="1" spc="-10" dirty="0">
              <a:solidFill>
                <a:srgbClr val="2E2B1F"/>
              </a:solidFill>
              <a:latin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es-CO" sz="2400" dirty="0"/>
              <a:t>MVP funcional con reservas, mapas y pagos.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400" dirty="0"/>
              <a:t>Reducción del 15% en tiempo promedio de búsqueda de parqueo.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400" dirty="0"/>
              <a:t>Documentación técnica y manual de usuario.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400" dirty="0"/>
              <a:t>Escalabilidad para integración con transporte público (Metro de Medellín).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497</Words>
  <Application>Microsoft Office PowerPoint</Application>
  <PresentationFormat>Presentación en pantalla (4:3)</PresentationFormat>
  <Paragraphs>66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Arial MT</vt:lpstr>
      <vt:lpstr>Calibri</vt:lpstr>
      <vt:lpstr>Times New Roman</vt:lpstr>
      <vt:lpstr>Office Theme</vt:lpstr>
      <vt:lpstr>Presentación de PowerPoint</vt:lpstr>
      <vt:lpstr>MANUAL DE USUARIO</vt:lpstr>
      <vt:lpstr>MANUAL DE USUARIO</vt:lpstr>
      <vt:lpstr>MANUAL DE USUARIO</vt:lpstr>
      <vt:lpstr>MANUAL DE USUARIO</vt:lpstr>
      <vt:lpstr>MANUAL DE USUARIO</vt:lpstr>
      <vt:lpstr>MANUAL DE USUARIO</vt:lpstr>
      <vt:lpstr>MANUAL DE USUARIO</vt:lpstr>
      <vt:lpstr>MANUAL DE USUARIO</vt:lpstr>
      <vt:lpstr>MANUAL DE USUARIO</vt:lpstr>
      <vt:lpstr>MANUAL DE USUARIO</vt:lpstr>
      <vt:lpstr>MANUAL DE USUARIO</vt:lpstr>
      <vt:lpstr>MANUAL DE USUARIO</vt:lpstr>
      <vt:lpstr>MANUAL DE USUARIO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MANUALES DE USUARIO Y TECNICO</dc:title>
  <dc:creator>Keyser Soze</dc:creator>
  <cp:lastModifiedBy>PORTATIL</cp:lastModifiedBy>
  <cp:revision>18</cp:revision>
  <dcterms:created xsi:type="dcterms:W3CDTF">2022-05-05T02:24:56Z</dcterms:created>
  <dcterms:modified xsi:type="dcterms:W3CDTF">2025-09-29T02:43:49Z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2017-08-27T00:00:00Z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2022-05-05T00:00:00Z</vt:filetime>
  </property>
</Properties>
</file>